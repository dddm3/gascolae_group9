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62" y="-6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933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78"/>
          </a:solidFill>
          <a:ln w="12700">
            <a:solidFill>
              <a:srgbClr val="1F4E78"/>
            </a:solidFill>
            <a:prstDash val="solid"/>
          </a:ln>
        </p:spPr>
        <p:txBody>
          <a:bodyPr/>
          <a:lstStyle/>
          <a:p>
            <a:endParaRPr lang="en-US"/>
          </a:p>
        </p:txBody>
      </p:sp>
      <p:sp>
        <p:nvSpPr>
          <p:cNvPr id="3" name="Text 1"/>
          <p:cNvSpPr/>
          <p:nvPr/>
        </p:nvSpPr>
        <p:spPr>
          <a:xfrm>
            <a:off x="502920" y="164592"/>
            <a:ext cx="6400800" cy="228600"/>
          </a:xfrm>
          <a:prstGeom prst="rect">
            <a:avLst/>
          </a:prstGeom>
          <a:noFill/>
          <a:ln/>
        </p:spPr>
        <p:txBody>
          <a:bodyPr wrap="square" rtlCol="0" anchor="ctr"/>
          <a:lstStyle/>
          <a:p>
            <a:pPr marL="0" indent="0">
              <a:buNone/>
            </a:pPr>
            <a:r>
              <a:rPr lang="en-US" sz="800" b="1" dirty="0">
                <a:solidFill>
                  <a:srgbClr val="637083"/>
                </a:solidFill>
                <a:latin typeface="Arial" pitchFamily="34" charset="0"/>
                <a:ea typeface="Arial" pitchFamily="34" charset="-122"/>
                <a:cs typeface="Arial" pitchFamily="34" charset="-120"/>
              </a:rPr>
              <a:t>GASCOLAE PLATFORM  |  GROUP 2 — BUSINESS ASSETS</a:t>
            </a:r>
            <a:endParaRPr lang="en-US" sz="800" dirty="0"/>
          </a:p>
        </p:txBody>
      </p:sp>
      <p:sp>
        <p:nvSpPr>
          <p:cNvPr id="4" name="Text 2"/>
          <p:cNvSpPr/>
          <p:nvPr/>
        </p:nvSpPr>
        <p:spPr>
          <a:xfrm>
            <a:off x="9326880" y="164592"/>
            <a:ext cx="2331720" cy="228600"/>
          </a:xfrm>
          <a:prstGeom prst="rect">
            <a:avLst/>
          </a:prstGeom>
          <a:noFill/>
          <a:ln/>
        </p:spPr>
        <p:txBody>
          <a:bodyPr wrap="square" rtlCol="0" anchor="ctr"/>
          <a:lstStyle/>
          <a:p>
            <a:pPr marL="0" indent="0" algn="r">
              <a:buNone/>
            </a:pPr>
            <a:r>
              <a:rPr lang="en-US" sz="800" dirty="0">
                <a:solidFill>
                  <a:srgbClr val="637083"/>
                </a:solidFill>
                <a:latin typeface="Arial" pitchFamily="34" charset="0"/>
                <a:ea typeface="Arial" pitchFamily="34" charset="-122"/>
                <a:cs typeface="Arial" pitchFamily="34" charset="-120"/>
              </a:rPr>
              <a:t>06 — SERVICE SALES KIT</a:t>
            </a:r>
            <a:endParaRPr lang="en-US" sz="800" dirty="0"/>
          </a:p>
        </p:txBody>
      </p:sp>
      <p:sp>
        <p:nvSpPr>
          <p:cNvPr id="5" name="Shape 3"/>
          <p:cNvSpPr/>
          <p:nvPr/>
        </p:nvSpPr>
        <p:spPr>
          <a:xfrm>
            <a:off x="502920" y="6537960"/>
            <a:ext cx="11155680" cy="0"/>
          </a:xfrm>
          <a:prstGeom prst="line">
            <a:avLst/>
          </a:prstGeom>
          <a:noFill/>
          <a:ln w="12700">
            <a:solidFill>
              <a:srgbClr val="D8E0EA"/>
            </a:solidFill>
            <a:prstDash val="solid"/>
          </a:ln>
        </p:spPr>
        <p:txBody>
          <a:bodyPr/>
          <a:lstStyle/>
          <a:p>
            <a:endParaRPr lang="en-US"/>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17365D"/>
          </a:solidFill>
          <a:ln w="12700">
            <a:solidFill>
              <a:srgbClr val="17365D"/>
            </a:solidFill>
            <a:prstDash val="solid"/>
          </a:ln>
        </p:spPr>
        <p:txBody>
          <a:bodyPr/>
          <a:lstStyle/>
          <a:p>
            <a:endParaRPr lang="en-US"/>
          </a:p>
        </p:txBody>
      </p:sp>
      <p:sp>
        <p:nvSpPr>
          <p:cNvPr id="3" name="Text 1"/>
          <p:cNvSpPr/>
          <p:nvPr/>
        </p:nvSpPr>
        <p:spPr>
          <a:xfrm>
            <a:off x="594360" y="1005840"/>
            <a:ext cx="2286000" cy="914400"/>
          </a:xfrm>
          <a:prstGeom prst="rect">
            <a:avLst/>
          </a:prstGeom>
          <a:noFill/>
          <a:ln/>
        </p:spPr>
        <p:txBody>
          <a:bodyPr wrap="square" lIns="0" tIns="0" rIns="0" bIns="0" rtlCol="0" anchor="ctr"/>
          <a:lstStyle/>
          <a:p>
            <a:pPr marL="0" indent="0">
              <a:buNone/>
            </a:pPr>
            <a:r>
              <a:rPr lang="en-US" sz="5800" b="1" dirty="0">
                <a:solidFill>
                  <a:srgbClr val="FFFFFF"/>
                </a:solidFill>
              </a:rPr>
              <a:t>06</a:t>
            </a:r>
            <a:endParaRPr lang="en-US" sz="5800" dirty="0"/>
          </a:p>
        </p:txBody>
      </p:sp>
      <p:sp>
        <p:nvSpPr>
          <p:cNvPr id="4" name="Text 2"/>
          <p:cNvSpPr/>
          <p:nvPr/>
        </p:nvSpPr>
        <p:spPr>
          <a:xfrm>
            <a:off x="612648" y="1965960"/>
            <a:ext cx="2560320" cy="1097280"/>
          </a:xfrm>
          <a:prstGeom prst="rect">
            <a:avLst/>
          </a:prstGeom>
          <a:noFill/>
          <a:ln/>
        </p:spPr>
        <p:txBody>
          <a:bodyPr wrap="square" lIns="0" tIns="0" rIns="0" bIns="0" rtlCol="0" anchor="ctr"/>
          <a:lstStyle/>
          <a:p>
            <a:pPr marL="0" indent="0">
              <a:buNone/>
            </a:pPr>
            <a:r>
              <a:rPr lang="en-US" sz="2500" b="1" dirty="0">
                <a:solidFill>
                  <a:srgbClr val="FFFFFF"/>
                </a:solidFill>
              </a:rPr>
              <a:t>SERVICE</a:t>
            </a:r>
            <a:endParaRPr lang="en-US" sz="2500" dirty="0"/>
          </a:p>
          <a:p>
            <a:pPr marL="0" indent="0">
              <a:buNone/>
            </a:pPr>
            <a:r>
              <a:rPr lang="en-US" sz="2500" b="1" dirty="0">
                <a:solidFill>
                  <a:srgbClr val="FFFFFF"/>
                </a:solidFill>
              </a:rPr>
              <a:t>SALES KIT</a:t>
            </a:r>
            <a:endParaRPr lang="en-US" sz="2500" dirty="0"/>
          </a:p>
        </p:txBody>
      </p:sp>
      <p:sp>
        <p:nvSpPr>
          <p:cNvPr id="5" name="Text 3"/>
          <p:cNvSpPr/>
          <p:nvPr/>
        </p:nvSpPr>
        <p:spPr>
          <a:xfrm>
            <a:off x="640080" y="3291840"/>
            <a:ext cx="2651760" cy="365760"/>
          </a:xfrm>
          <a:prstGeom prst="rect">
            <a:avLst/>
          </a:prstGeom>
          <a:noFill/>
          <a:ln/>
        </p:spPr>
        <p:txBody>
          <a:bodyPr wrap="square" lIns="0" tIns="0" rIns="0" bIns="0" rtlCol="0" anchor="ctr"/>
          <a:lstStyle/>
          <a:p>
            <a:pPr marL="0" indent="0">
              <a:buNone/>
            </a:pPr>
            <a:r>
              <a:rPr lang="en-US" sz="1000" b="1" dirty="0">
                <a:solidFill>
                  <a:srgbClr val="C7D9EA"/>
                </a:solidFill>
              </a:rPr>
              <a:t>GROUP 2 — BUSINESS ASSETS</a:t>
            </a:r>
            <a:endParaRPr lang="en-US" sz="1000" dirty="0"/>
          </a:p>
        </p:txBody>
      </p:sp>
      <p:sp>
        <p:nvSpPr>
          <p:cNvPr id="6" name="Text 4"/>
          <p:cNvSpPr/>
          <p:nvPr/>
        </p:nvSpPr>
        <p:spPr>
          <a:xfrm>
            <a:off x="4343400" y="1280160"/>
            <a:ext cx="6858000" cy="548640"/>
          </a:xfrm>
          <a:prstGeom prst="rect">
            <a:avLst/>
          </a:prstGeom>
          <a:noFill/>
          <a:ln/>
        </p:spPr>
        <p:txBody>
          <a:bodyPr wrap="square" lIns="0" tIns="0" rIns="0" bIns="0" rtlCol="0" anchor="ctr">
            <a:normAutofit/>
          </a:bodyPr>
          <a:lstStyle/>
          <a:p>
            <a:r>
              <a:t>EXAMPLE — SOLAR PV UAV INSPECTION</a:t>
            </a:r>
          </a:p>
        </p:txBody>
      </p:sp>
      <p:sp>
        <p:nvSpPr>
          <p:cNvPr id="7" name="Text 5"/>
          <p:cNvSpPr/>
          <p:nvPr/>
        </p:nvSpPr>
        <p:spPr>
          <a:xfrm>
            <a:off x="4370832" y="2011680"/>
            <a:ext cx="6675120" cy="822960"/>
          </a:xfrm>
          <a:prstGeom prst="rect">
            <a:avLst/>
          </a:prstGeom>
          <a:noFill/>
          <a:ln/>
        </p:spPr>
        <p:txBody>
          <a:bodyPr wrap="square" lIns="0" tIns="0" rIns="0" bIns="0" rtlCol="0" anchor="ctr">
            <a:normAutofit/>
          </a:bodyPr>
          <a:lstStyle/>
          <a:p>
            <a:r>
              <a:rPr lang="en-US"/>
              <a:t>ĐÁNH GIÁ VÀ LẬP BẢN ĐỒ HẤP THỤ CARBON TRONG SINH KHỐI RỪNG</a:t>
            </a:r>
            <a:r>
              <a:t>| Service ID: </a:t>
            </a:r>
            <a:r>
              <a:rPr lang="en-US"/>
              <a:t>S0285-S0287</a:t>
            </a:r>
            <a:endParaRPr/>
          </a:p>
        </p:txBody>
      </p:sp>
      <p:sp>
        <p:nvSpPr>
          <p:cNvPr id="8" name="Text 6"/>
          <p:cNvSpPr/>
          <p:nvPr/>
        </p:nvSpPr>
        <p:spPr>
          <a:xfrm>
            <a:off x="4389120" y="3154680"/>
            <a:ext cx="6720840" cy="960120"/>
          </a:xfrm>
          <a:prstGeom prst="rect">
            <a:avLst/>
          </a:prstGeom>
          <a:noFill/>
          <a:ln/>
        </p:spPr>
        <p:txBody>
          <a:bodyPr wrap="square" lIns="0" tIns="0" rIns="0" bIns="0" rtlCol="0" anchor="ctr">
            <a:normAutofit/>
          </a:bodyPr>
          <a:lstStyle/>
          <a:p>
            <a:r>
              <a:t>Sales Kit trả lời: “Bán cho ai? Khách hàng có VẤN ĐỀ gì? Vì sao nên chọn GIẢI PHÁP này? Ai QUYẾT ĐỊNH và bước tiếp theo là gì?”</a:t>
            </a:r>
          </a:p>
        </p:txBody>
      </p:sp>
      <p:sp>
        <p:nvSpPr>
          <p:cNvPr id="9" name="Text 7"/>
          <p:cNvSpPr/>
          <p:nvPr/>
        </p:nvSpPr>
        <p:spPr>
          <a:xfrm>
            <a:off x="4389120" y="4434840"/>
            <a:ext cx="6720840" cy="822960"/>
          </a:xfrm>
          <a:prstGeom prst="rect">
            <a:avLst/>
          </a:prstGeom>
          <a:noFill/>
          <a:ln/>
        </p:spPr>
        <p:txBody>
          <a:bodyPr wrap="square" lIns="0" tIns="0" rIns="0" bIns="0" rtlCol="0" anchor="ctr">
            <a:normAutofit/>
          </a:bodyPr>
          <a:lstStyle/>
          <a:p>
            <a:endParaRPr lang="en-US" sz="1400" dirty="0"/>
          </a:p>
        </p:txBody>
      </p:sp>
      <p:sp>
        <p:nvSpPr>
          <p:cNvPr id="10" name="Text 8"/>
          <p:cNvSpPr/>
          <p:nvPr/>
        </p:nvSpPr>
        <p:spPr>
          <a:xfrm>
            <a:off x="4389120" y="5577840"/>
            <a:ext cx="1828800" cy="274320"/>
          </a:xfrm>
          <a:prstGeom prst="rect">
            <a:avLst/>
          </a:prstGeom>
          <a:noFill/>
          <a:ln/>
        </p:spPr>
        <p:txBody>
          <a:bodyPr wrap="square" lIns="0" tIns="0" rIns="0" bIns="0" rtlCol="0" anchor="ctr"/>
          <a:lstStyle/>
          <a:p>
            <a:pPr marL="0" indent="0">
              <a:buNone/>
            </a:pPr>
            <a:r>
              <a:rPr lang="en-US" sz="900" dirty="0">
                <a:solidFill>
                  <a:srgbClr val="637083"/>
                </a:solidFill>
              </a:rPr>
              <a:t>Version 1.0</a:t>
            </a:r>
            <a:endParaRPr lang="en-US" sz="90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01. TARGET MARKET &amp; CUSTOMER</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Ai là khách hàng phù hợp nhất với service này?</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WHO TO SELL</a:t>
            </a:r>
            <a:endParaRPr lang="en-US" sz="850" dirty="0"/>
          </a:p>
        </p:txBody>
      </p:sp>
      <p:sp>
        <p:nvSpPr>
          <p:cNvPr id="5" name="Shape 3"/>
          <p:cNvSpPr/>
          <p:nvPr/>
        </p:nvSpPr>
        <p:spPr>
          <a:xfrm>
            <a:off x="640080" y="1828800"/>
            <a:ext cx="525780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40080" y="1828800"/>
            <a:ext cx="64008" cy="1417320"/>
          </a:xfrm>
          <a:prstGeom prst="rect">
            <a:avLst/>
          </a:prstGeom>
          <a:solidFill>
            <a:srgbClr val="1F4E78"/>
          </a:solidFill>
          <a:ln w="12700">
            <a:solidFill>
              <a:srgbClr val="1F4E78"/>
            </a:solidFill>
            <a:prstDash val="solid"/>
          </a:ln>
        </p:spPr>
        <p:txBody>
          <a:bodyPr/>
          <a:lstStyle/>
          <a:p>
            <a:endParaRPr lang="en-US"/>
          </a:p>
        </p:txBody>
      </p:sp>
      <p:sp>
        <p:nvSpPr>
          <p:cNvPr id="7" name="Text 5"/>
          <p:cNvSpPr/>
          <p:nvPr/>
        </p:nvSpPr>
        <p:spPr>
          <a:xfrm>
            <a:off x="841248" y="1993392"/>
            <a:ext cx="303580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Phân khúc mục tiêu</a:t>
            </a:r>
            <a:endParaRPr lang="en-US" sz="1200" dirty="0"/>
          </a:p>
        </p:txBody>
      </p:sp>
      <p:sp>
        <p:nvSpPr>
          <p:cNvPr id="8" name="Text 6"/>
          <p:cNvSpPr/>
          <p:nvPr/>
        </p:nvSpPr>
        <p:spPr>
          <a:xfrm>
            <a:off x="841248" y="2359152"/>
            <a:ext cx="4774692" cy="758952"/>
          </a:xfrm>
          <a:prstGeom prst="rect">
            <a:avLst/>
          </a:prstGeom>
          <a:noFill/>
          <a:ln/>
        </p:spPr>
        <p:txBody>
          <a:bodyPr wrap="square" lIns="254" tIns="254" rIns="254" bIns="254" rtlCol="0" anchor="ctr">
            <a:noAutofit/>
          </a:bodyPr>
          <a:lstStyle/>
          <a:p>
            <a:r>
              <a:rPr lang="vi-VN" sz="1200"/>
              <a:t>Ban quản lý rừng; công ty lâm nghiệp và chủ rừng; doanh nghiệp trồng rừng nguyên liệu</a:t>
            </a:r>
            <a:r>
              <a:rPr lang="en-US" sz="1200"/>
              <a:t> thương mại</a:t>
            </a:r>
            <a:r>
              <a:rPr lang="vi-VN" sz="1200"/>
              <a:t>; đơn vị phát triển dự án các-bon; Quỹ Bảo vệ và Phát triển rừng; doanh nghiệp cần số liệu bể hấp thụ.</a:t>
            </a:r>
          </a:p>
        </p:txBody>
      </p:sp>
      <p:sp>
        <p:nvSpPr>
          <p:cNvPr id="9" name="Shape 7"/>
          <p:cNvSpPr/>
          <p:nvPr/>
        </p:nvSpPr>
        <p:spPr>
          <a:xfrm>
            <a:off x="6419088" y="1897380"/>
            <a:ext cx="4431792"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6419088" y="1897380"/>
            <a:ext cx="64008" cy="1417320"/>
          </a:xfrm>
          <a:prstGeom prst="rect">
            <a:avLst/>
          </a:prstGeom>
          <a:solidFill>
            <a:srgbClr val="1F4E78"/>
          </a:solidFill>
          <a:ln w="12700">
            <a:solidFill>
              <a:srgbClr val="1F4E78"/>
            </a:solidFill>
            <a:prstDash val="solid"/>
          </a:ln>
        </p:spPr>
        <p:txBody>
          <a:bodyPr/>
          <a:lstStyle/>
          <a:p>
            <a:endParaRPr lang="en-US"/>
          </a:p>
        </p:txBody>
      </p:sp>
      <p:sp>
        <p:nvSpPr>
          <p:cNvPr id="11" name="Text 9"/>
          <p:cNvSpPr/>
          <p:nvPr/>
        </p:nvSpPr>
        <p:spPr>
          <a:xfrm>
            <a:off x="6620256" y="2061972"/>
            <a:ext cx="303580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Vai trò sử dụng</a:t>
            </a:r>
            <a:endParaRPr lang="en-US" sz="1200" dirty="0"/>
          </a:p>
        </p:txBody>
      </p:sp>
      <p:sp>
        <p:nvSpPr>
          <p:cNvPr id="12" name="Text 10"/>
          <p:cNvSpPr/>
          <p:nvPr/>
        </p:nvSpPr>
        <p:spPr>
          <a:xfrm>
            <a:off x="6620256" y="2427732"/>
            <a:ext cx="4093464" cy="758952"/>
          </a:xfrm>
          <a:prstGeom prst="rect">
            <a:avLst/>
          </a:prstGeom>
          <a:noFill/>
          <a:ln/>
        </p:spPr>
        <p:txBody>
          <a:bodyPr wrap="square" lIns="254" tIns="254" rIns="254" bIns="254" rtlCol="0" anchor="ctr">
            <a:normAutofit/>
          </a:bodyPr>
          <a:lstStyle/>
          <a:p>
            <a:r>
              <a:rPr lang="en-US" sz="1300"/>
              <a:t>Trưởng phòng / Chuyên viên Phòng Kỹ thuật – Lâm sinh, c</a:t>
            </a:r>
            <a:r>
              <a:rPr lang="vi-VN" sz="1300"/>
              <a:t>án bộ GIS của chủ rừng, đơn vị tư vấn lập dự án. </a:t>
            </a:r>
            <a:endParaRPr sz="1300"/>
          </a:p>
        </p:txBody>
      </p:sp>
      <p:sp>
        <p:nvSpPr>
          <p:cNvPr id="13" name="Shape 11"/>
          <p:cNvSpPr/>
          <p:nvPr/>
        </p:nvSpPr>
        <p:spPr>
          <a:xfrm>
            <a:off x="6419088" y="3611880"/>
            <a:ext cx="4431792"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6419088" y="3611880"/>
            <a:ext cx="64008" cy="1417320"/>
          </a:xfrm>
          <a:prstGeom prst="rect">
            <a:avLst/>
          </a:prstGeom>
          <a:solidFill>
            <a:srgbClr val="1F4E78"/>
          </a:solidFill>
          <a:ln w="12700">
            <a:solidFill>
              <a:srgbClr val="1F4E78"/>
            </a:solidFill>
            <a:prstDash val="solid"/>
          </a:ln>
        </p:spPr>
        <p:txBody>
          <a:bodyPr/>
          <a:lstStyle/>
          <a:p>
            <a:endParaRPr lang="en-US"/>
          </a:p>
        </p:txBody>
      </p:sp>
      <p:sp>
        <p:nvSpPr>
          <p:cNvPr id="15" name="Text 13"/>
          <p:cNvSpPr/>
          <p:nvPr/>
        </p:nvSpPr>
        <p:spPr>
          <a:xfrm>
            <a:off x="6620256" y="3776472"/>
            <a:ext cx="303580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Beachhead Market</a:t>
            </a:r>
            <a:endParaRPr lang="en-US" sz="1200" dirty="0"/>
          </a:p>
        </p:txBody>
      </p:sp>
      <p:sp>
        <p:nvSpPr>
          <p:cNvPr id="16" name="Text 14"/>
          <p:cNvSpPr/>
          <p:nvPr/>
        </p:nvSpPr>
        <p:spPr>
          <a:xfrm>
            <a:off x="6590538" y="4032504"/>
            <a:ext cx="4123182" cy="868680"/>
          </a:xfrm>
          <a:prstGeom prst="rect">
            <a:avLst/>
          </a:prstGeom>
          <a:noFill/>
          <a:ln/>
        </p:spPr>
        <p:txBody>
          <a:bodyPr wrap="square" lIns="254" tIns="254" rIns="254" bIns="254" rtlCol="0" anchor="ctr">
            <a:normAutofit fontScale="77500" lnSpcReduction="20000"/>
          </a:bodyPr>
          <a:lstStyle/>
          <a:p>
            <a:r>
              <a:rPr lang="en-US"/>
              <a:t>Các Ban Quản lý rừng phòng hộ, rừng đặc dụng và công ty lâm có diện tích rừng tự nhiên hoặc rừng trồng quy mô từ 500 ha trở lên, đang chuẩn bị hồ sơ đăng ký dự án hấp thụ và lưu giữ các-bon</a:t>
            </a:r>
            <a:endParaRPr lang="vi-VN" dirty="0"/>
          </a:p>
        </p:txBody>
      </p:sp>
      <p:sp>
        <p:nvSpPr>
          <p:cNvPr id="17" name="Shape 15"/>
          <p:cNvSpPr/>
          <p:nvPr/>
        </p:nvSpPr>
        <p:spPr>
          <a:xfrm>
            <a:off x="640080" y="3611880"/>
            <a:ext cx="5257800" cy="1463040"/>
          </a:xfrm>
          <a:prstGeom prst="roundRect">
            <a:avLst>
              <a:gd name="adj" fmla="val 3125"/>
            </a:avLst>
          </a:prstGeom>
          <a:solidFill>
            <a:srgbClr val="FFFFFF"/>
          </a:solidFill>
          <a:ln w="12700">
            <a:solidFill>
              <a:srgbClr val="D9E2EC"/>
            </a:solidFill>
            <a:prstDash val="solid"/>
          </a:ln>
        </p:spPr>
        <p:txBody>
          <a:bodyPr/>
          <a:lstStyle/>
          <a:p>
            <a:endParaRPr lang="en-US"/>
          </a:p>
        </p:txBody>
      </p:sp>
      <p:sp>
        <p:nvSpPr>
          <p:cNvPr id="18" name="Shape 16"/>
          <p:cNvSpPr/>
          <p:nvPr/>
        </p:nvSpPr>
        <p:spPr>
          <a:xfrm>
            <a:off x="640080" y="3611880"/>
            <a:ext cx="64008" cy="1463040"/>
          </a:xfrm>
          <a:prstGeom prst="rect">
            <a:avLst/>
          </a:prstGeom>
          <a:solidFill>
            <a:srgbClr val="1F4E78"/>
          </a:solidFill>
          <a:ln w="12700">
            <a:solidFill>
              <a:srgbClr val="1F4E78"/>
            </a:solidFill>
            <a:prstDash val="solid"/>
          </a:ln>
        </p:spPr>
        <p:txBody>
          <a:bodyPr/>
          <a:lstStyle/>
          <a:p>
            <a:endParaRPr lang="en-US"/>
          </a:p>
        </p:txBody>
      </p:sp>
      <p:sp>
        <p:nvSpPr>
          <p:cNvPr id="19" name="Text 17"/>
          <p:cNvSpPr/>
          <p:nvPr/>
        </p:nvSpPr>
        <p:spPr>
          <a:xfrm>
            <a:off x="841248" y="3776472"/>
            <a:ext cx="491032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Hồ sơ khách hàng mục tiêu</a:t>
            </a:r>
            <a:endParaRPr lang="en-US" sz="1200" dirty="0"/>
          </a:p>
        </p:txBody>
      </p:sp>
      <p:sp>
        <p:nvSpPr>
          <p:cNvPr id="20" name="Text 18"/>
          <p:cNvSpPr/>
          <p:nvPr/>
        </p:nvSpPr>
        <p:spPr>
          <a:xfrm>
            <a:off x="841248" y="4142232"/>
            <a:ext cx="4910328" cy="804672"/>
          </a:xfrm>
          <a:prstGeom prst="rect">
            <a:avLst/>
          </a:prstGeom>
          <a:noFill/>
          <a:ln/>
        </p:spPr>
        <p:txBody>
          <a:bodyPr wrap="square" lIns="254" tIns="254" rIns="254" bIns="254" rtlCol="0" anchor="ctr">
            <a:normAutofit fontScale="85000" lnSpcReduction="20000"/>
          </a:bodyPr>
          <a:lstStyle/>
          <a:p>
            <a:r>
              <a:rPr lang="vi-VN"/>
              <a:t>Ban quản lý rừng; công ty lâm nghiệp và chủ rừng là tổ chức quy mô lớn; doanh nghiệp trồng rừng nguyên liệu; đơn vị phát triển dự án các-bon; Quỹ Bảo vệ và Phát triển rừng cấp tỉnh; doanh nghiệp cần số liệu bể hấp thụ.</a:t>
            </a:r>
            <a:endParaRPr dirty="0"/>
          </a:p>
        </p:txBody>
      </p:sp>
      <p:sp>
        <p:nvSpPr>
          <p:cNvPr id="25" name="Text 23"/>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Lấy từ Group 1 + nguồn được giao. Không tự mở rộng thị trường nếu chưa có căn cứ.</a:t>
            </a:r>
            <a:endParaRPr lang="en-US" sz="850" dirty="0"/>
          </a:p>
        </p:txBody>
      </p:sp>
      <p:sp>
        <p:nvSpPr>
          <p:cNvPr id="26"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02. CUSTOMER PROBLEMS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Khách hàng đang gặp vấn đề gì và tác động ra sao?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WHY BUY</a:t>
            </a:r>
            <a:endParaRPr lang="en-US" sz="850" dirty="0"/>
          </a:p>
        </p:txBody>
      </p:sp>
      <p:sp>
        <p:nvSpPr>
          <p:cNvPr id="5" name="Shape 3"/>
          <p:cNvSpPr/>
          <p:nvPr/>
        </p:nvSpPr>
        <p:spPr>
          <a:xfrm>
            <a:off x="685800" y="2404499"/>
            <a:ext cx="5166360" cy="1325880"/>
          </a:xfrm>
          <a:prstGeom prst="roundRect">
            <a:avLst>
              <a:gd name="adj" fmla="val 3448"/>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85800" y="2404499"/>
            <a:ext cx="64008" cy="1325880"/>
          </a:xfrm>
          <a:prstGeom prst="rect">
            <a:avLst/>
          </a:prstGeom>
          <a:solidFill>
            <a:srgbClr val="1F4E78"/>
          </a:solidFill>
          <a:ln w="12700">
            <a:solidFill>
              <a:srgbClr val="1F4E78"/>
            </a:solidFill>
            <a:prstDash val="solid"/>
          </a:ln>
        </p:spPr>
        <p:txBody>
          <a:bodyPr/>
          <a:lstStyle/>
          <a:p>
            <a:endParaRPr lang="en-US"/>
          </a:p>
        </p:txBody>
      </p:sp>
      <p:sp>
        <p:nvSpPr>
          <p:cNvPr id="8" name="Text 6"/>
          <p:cNvSpPr/>
          <p:nvPr/>
        </p:nvSpPr>
        <p:spPr>
          <a:xfrm>
            <a:off x="886968" y="2505456"/>
            <a:ext cx="4818888" cy="1096907"/>
          </a:xfrm>
          <a:prstGeom prst="rect">
            <a:avLst/>
          </a:prstGeom>
          <a:noFill/>
          <a:ln/>
        </p:spPr>
        <p:txBody>
          <a:bodyPr wrap="square" lIns="254" tIns="254" rIns="254" bIns="254" rtlCol="0" anchor="ctr">
            <a:normAutofit fontScale="92500" lnSpcReduction="20000"/>
          </a:bodyPr>
          <a:lstStyle/>
          <a:p>
            <a:r>
              <a:rPr lang="en-US"/>
              <a:t>Quy định chủ rừng muốn tham gia thị trường dịch vụ các-bon bắt buộc phải đăng ký dự án, thực hiện đo đạc – báo cáo và trải qua hai lần thẩm định độc lập. Nếu không chủ rừng không thể thương mại hóa hoặc phát hành tín chỉ. </a:t>
            </a:r>
            <a:endParaRPr/>
          </a:p>
        </p:txBody>
      </p:sp>
      <p:sp>
        <p:nvSpPr>
          <p:cNvPr id="9" name="Shape 7"/>
          <p:cNvSpPr/>
          <p:nvPr/>
        </p:nvSpPr>
        <p:spPr>
          <a:xfrm>
            <a:off x="6217920" y="2404499"/>
            <a:ext cx="5166360" cy="1325880"/>
          </a:xfrm>
          <a:prstGeom prst="roundRect">
            <a:avLst>
              <a:gd name="adj" fmla="val 3448"/>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6217920" y="2404499"/>
            <a:ext cx="64008" cy="1325880"/>
          </a:xfrm>
          <a:prstGeom prst="rect">
            <a:avLst/>
          </a:prstGeom>
          <a:solidFill>
            <a:srgbClr val="1F4E78"/>
          </a:solidFill>
          <a:ln w="12700">
            <a:solidFill>
              <a:srgbClr val="1F4E78"/>
            </a:solidFill>
            <a:prstDash val="solid"/>
          </a:ln>
        </p:spPr>
        <p:txBody>
          <a:bodyPr/>
          <a:lstStyle/>
          <a:p>
            <a:endParaRPr lang="en-US"/>
          </a:p>
        </p:txBody>
      </p:sp>
      <p:sp>
        <p:nvSpPr>
          <p:cNvPr id="12" name="Text 10"/>
          <p:cNvSpPr/>
          <p:nvPr/>
        </p:nvSpPr>
        <p:spPr>
          <a:xfrm>
            <a:off x="6419088" y="2505456"/>
            <a:ext cx="4818888" cy="1096907"/>
          </a:xfrm>
          <a:prstGeom prst="rect">
            <a:avLst/>
          </a:prstGeom>
          <a:noFill/>
          <a:ln/>
        </p:spPr>
        <p:txBody>
          <a:bodyPr wrap="square" lIns="254" tIns="254" rIns="254" bIns="254" rtlCol="0" anchor="ctr">
            <a:normAutofit fontScale="92500" lnSpcReduction="20000"/>
          </a:bodyPr>
          <a:lstStyle/>
          <a:p>
            <a:r>
              <a:rPr lang="en-US"/>
              <a:t>Điều tra bằng tiêu chuẩn truyền thống tốn nhiều nhân công, thời gian và chỉ rút mẫu được tỷ lệ rất nhỏ. Dữ liệu mẫu không phản ánh được cấu trúc tán tầng, chiều cao và sự phân bố sinh khối liên tục trên toàn bộ lâm phần.</a:t>
            </a:r>
            <a:endParaRPr/>
          </a:p>
        </p:txBody>
      </p:sp>
      <p:sp>
        <p:nvSpPr>
          <p:cNvPr id="13" name="Shape 11"/>
          <p:cNvSpPr/>
          <p:nvPr/>
        </p:nvSpPr>
        <p:spPr>
          <a:xfrm>
            <a:off x="685800" y="4416552"/>
            <a:ext cx="5166360" cy="1325880"/>
          </a:xfrm>
          <a:prstGeom prst="roundRect">
            <a:avLst>
              <a:gd name="adj" fmla="val 3448"/>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685800" y="4416552"/>
            <a:ext cx="64008" cy="1325880"/>
          </a:xfrm>
          <a:prstGeom prst="rect">
            <a:avLst/>
          </a:prstGeom>
          <a:solidFill>
            <a:srgbClr val="C89B3C"/>
          </a:solidFill>
          <a:ln w="12700">
            <a:solidFill>
              <a:srgbClr val="C89B3C"/>
            </a:solidFill>
            <a:prstDash val="solid"/>
          </a:ln>
        </p:spPr>
        <p:txBody>
          <a:bodyPr/>
          <a:lstStyle/>
          <a:p>
            <a:endParaRPr lang="en-US"/>
          </a:p>
        </p:txBody>
      </p:sp>
      <mc:AlternateContent xmlns:mc="http://schemas.openxmlformats.org/markup-compatibility/2006">
        <mc:Choice xmlns:a14="http://schemas.microsoft.com/office/drawing/2010/main" Requires="a14">
          <p:sp>
            <p:nvSpPr>
              <p:cNvPr id="16" name="Text 14"/>
              <p:cNvSpPr/>
              <p:nvPr/>
            </p:nvSpPr>
            <p:spPr>
              <a:xfrm>
                <a:off x="886968" y="4499221"/>
                <a:ext cx="4818888" cy="1115195"/>
              </a:xfrm>
              <a:prstGeom prst="rect">
                <a:avLst/>
              </a:prstGeom>
              <a:noFill/>
              <a:ln/>
            </p:spPr>
            <p:txBody>
              <a:bodyPr wrap="square" lIns="254" tIns="254" rIns="254" bIns="254" rtlCol="0" anchor="ctr">
                <a:normAutofit fontScale="85000" lnSpcReduction="10000"/>
              </a:bodyPr>
              <a:lstStyle/>
              <a:p>
                <a:r>
                  <a:rPr lang="en-US"/>
                  <a:t>Chủ rừng sở hữu diện tích lớn nhưng thiếu công cụ số hóa để xác định chính xác sinh khối trên mặt đất và quy đổi sang tấn </a:t>
                </a:r>
                <a14:m>
                  <m:oMath xmlns:m="http://schemas.openxmlformats.org/officeDocument/2006/math">
                    <m:r>
                      <a:rPr lang="en-US" i="1"/>
                      <m:t>𝐶</m:t>
                    </m:r>
                    <m:sSub>
                      <m:sSubPr>
                        <m:ctrlPr>
                          <a:rPr lang="en-US" i="1"/>
                        </m:ctrlPr>
                      </m:sSubPr>
                      <m:e>
                        <m:r>
                          <a:rPr lang="en-US" i="1"/>
                          <m:t>𝑂</m:t>
                        </m:r>
                      </m:e>
                      <m:sub>
                        <m:r>
                          <a:rPr lang="en-US"/>
                          <m:t>2</m:t>
                        </m:r>
                      </m:sub>
                    </m:sSub>
                  </m:oMath>
                </a14:m>
                <a:r>
                  <a:rPr lang="en-US"/>
                  <a:t>tương đương dẫn đến khó khăn trong định giá rừng, kêu gọi đầu tư hoặc quy hoạch lâm sinh.</a:t>
                </a:r>
                <a:endParaRPr/>
              </a:p>
            </p:txBody>
          </p:sp>
        </mc:Choice>
        <mc:Fallback>
          <p:sp>
            <p:nvSpPr>
              <p:cNvPr id="16" name="Text 14"/>
              <p:cNvSpPr>
                <a:spLocks noRot="1" noChangeAspect="1" noMove="1" noResize="1" noEditPoints="1" noAdjustHandles="1" noChangeArrowheads="1" noChangeShapeType="1" noTextEdit="1"/>
              </p:cNvSpPr>
              <p:nvPr/>
            </p:nvSpPr>
            <p:spPr>
              <a:xfrm>
                <a:off x="886968" y="4499221"/>
                <a:ext cx="4818888" cy="1115195"/>
              </a:xfrm>
              <a:prstGeom prst="rect">
                <a:avLst/>
              </a:prstGeom>
              <a:blipFill>
                <a:blip r:embed="rId3"/>
                <a:stretch>
                  <a:fillRect l="-2405" r="-1139"/>
                </a:stretch>
              </a:blipFill>
              <a:ln/>
            </p:spPr>
            <p:txBody>
              <a:bodyPr/>
              <a:lstStyle/>
              <a:p>
                <a:r>
                  <a:rPr lang="en-US">
                    <a:noFill/>
                  </a:rPr>
                  <a:t> </a:t>
                </a:r>
              </a:p>
            </p:txBody>
          </p:sp>
        </mc:Fallback>
      </mc:AlternateContent>
      <p:sp>
        <p:nvSpPr>
          <p:cNvPr id="17" name="Shape 15"/>
          <p:cNvSpPr/>
          <p:nvPr/>
        </p:nvSpPr>
        <p:spPr>
          <a:xfrm>
            <a:off x="6217920" y="4416552"/>
            <a:ext cx="5166360" cy="1325880"/>
          </a:xfrm>
          <a:prstGeom prst="roundRect">
            <a:avLst>
              <a:gd name="adj" fmla="val 3448"/>
            </a:avLst>
          </a:prstGeom>
          <a:solidFill>
            <a:srgbClr val="FFFFFF"/>
          </a:solidFill>
          <a:ln w="12700">
            <a:solidFill>
              <a:srgbClr val="D9E2EC"/>
            </a:solidFill>
            <a:prstDash val="solid"/>
          </a:ln>
        </p:spPr>
        <p:txBody>
          <a:bodyPr/>
          <a:lstStyle/>
          <a:p>
            <a:endParaRPr lang="en-US"/>
          </a:p>
        </p:txBody>
      </p:sp>
      <p:sp>
        <p:nvSpPr>
          <p:cNvPr id="18" name="Shape 16"/>
          <p:cNvSpPr/>
          <p:nvPr/>
        </p:nvSpPr>
        <p:spPr>
          <a:xfrm>
            <a:off x="6217920" y="4416552"/>
            <a:ext cx="64008" cy="1325880"/>
          </a:xfrm>
          <a:prstGeom prst="rect">
            <a:avLst/>
          </a:prstGeom>
          <a:solidFill>
            <a:srgbClr val="1F4E78"/>
          </a:solidFill>
          <a:ln w="12700">
            <a:solidFill>
              <a:srgbClr val="1F4E78"/>
            </a:solidFill>
            <a:prstDash val="solid"/>
          </a:ln>
        </p:spPr>
        <p:txBody>
          <a:bodyPr/>
          <a:lstStyle/>
          <a:p>
            <a:endParaRPr lang="en-US"/>
          </a:p>
        </p:txBody>
      </p:sp>
      <p:sp>
        <p:nvSpPr>
          <p:cNvPr id="20" name="Text 18"/>
          <p:cNvSpPr/>
          <p:nvPr/>
        </p:nvSpPr>
        <p:spPr>
          <a:xfrm>
            <a:off x="6419088" y="4535424"/>
            <a:ext cx="4818888" cy="1078992"/>
          </a:xfrm>
          <a:prstGeom prst="rect">
            <a:avLst/>
          </a:prstGeom>
          <a:noFill/>
          <a:ln/>
        </p:spPr>
        <p:txBody>
          <a:bodyPr wrap="square" lIns="254" tIns="254" rIns="254" bIns="254" rtlCol="0" anchor="ctr">
            <a:normAutofit lnSpcReduction="10000"/>
          </a:bodyPr>
          <a:lstStyle/>
          <a:p>
            <a:r>
              <a:rPr lang="en-US"/>
              <a:t>Thiếu công cụ đo đạc có tính lặp lại đồng nhất giữa các năm để chứng minh tính bổ sung và tốc độ tích lũy các-bon phục vụ các đợt xác minh kết quả giảm phát thải định kỳ.</a:t>
            </a:r>
            <a:endParaRPr/>
          </a:p>
        </p:txBody>
      </p:sp>
      <p:sp>
        <p:nvSpPr>
          <p:cNvPr id="21" name="Text 19"/>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Chỉ chọn 3–5 problem quan trọng nhất từ Knowledge Base / Service Profile.</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3</a:t>
            </a:fld>
            <a:endParaRPr lang="en-US"/>
          </a:p>
        </p:txBody>
      </p:sp>
      <p:sp>
        <p:nvSpPr>
          <p:cNvPr id="23" name="Text 5">
            <a:extLst>
              <a:ext uri="{FF2B5EF4-FFF2-40B4-BE49-F238E27FC236}">
                <a16:creationId xmlns:a16="http://schemas.microsoft.com/office/drawing/2014/main" id="{5BD9FFDC-9F05-D934-63C6-2ECD20E614C1}"/>
              </a:ext>
            </a:extLst>
          </p:cNvPr>
          <p:cNvSpPr/>
          <p:nvPr/>
        </p:nvSpPr>
        <p:spPr>
          <a:xfrm>
            <a:off x="685800" y="2002536"/>
            <a:ext cx="4818888" cy="292608"/>
          </a:xfrm>
          <a:prstGeom prst="rect">
            <a:avLst/>
          </a:prstGeom>
          <a:noFill/>
          <a:ln/>
        </p:spPr>
        <p:txBody>
          <a:bodyPr wrap="square" lIns="0" tIns="0" rIns="0" bIns="0" rtlCol="0" anchor="ctr"/>
          <a:lstStyle/>
          <a:p>
            <a:pPr marL="0" indent="0">
              <a:buNone/>
            </a:pPr>
            <a:r>
              <a:rPr lang="en-US" b="1">
                <a:solidFill>
                  <a:srgbClr val="17365D"/>
                </a:solidFill>
                <a:latin typeface="Arial" pitchFamily="34" charset="0"/>
                <a:ea typeface="Arial" pitchFamily="34" charset="-122"/>
                <a:cs typeface="Arial" pitchFamily="34" charset="-120"/>
              </a:rPr>
              <a:t>Rào cản pháp lý</a:t>
            </a:r>
            <a:endParaRPr lang="en-US" dirty="0"/>
          </a:p>
        </p:txBody>
      </p:sp>
      <p:sp>
        <p:nvSpPr>
          <p:cNvPr id="26" name="Text 9">
            <a:extLst>
              <a:ext uri="{FF2B5EF4-FFF2-40B4-BE49-F238E27FC236}">
                <a16:creationId xmlns:a16="http://schemas.microsoft.com/office/drawing/2014/main" id="{78B3587C-3354-98EC-BF3A-3291ABB1FD80}"/>
              </a:ext>
            </a:extLst>
          </p:cNvPr>
          <p:cNvSpPr/>
          <p:nvPr/>
        </p:nvSpPr>
        <p:spPr>
          <a:xfrm>
            <a:off x="6217920" y="1947672"/>
            <a:ext cx="5020056" cy="292608"/>
          </a:xfrm>
          <a:prstGeom prst="rect">
            <a:avLst/>
          </a:prstGeom>
          <a:noFill/>
          <a:ln/>
        </p:spPr>
        <p:txBody>
          <a:bodyPr wrap="square" lIns="0" tIns="0" rIns="0" bIns="0" rtlCol="0" anchor="ctr"/>
          <a:lstStyle/>
          <a:p>
            <a:pPr marL="0" indent="0" algn="ctr">
              <a:buNone/>
            </a:pPr>
            <a:r>
              <a:rPr lang="en-US" sz="1700" b="1">
                <a:solidFill>
                  <a:srgbClr val="17365D"/>
                </a:solidFill>
                <a:latin typeface="Arial" pitchFamily="34" charset="0"/>
                <a:ea typeface="Arial" pitchFamily="34" charset="-122"/>
                <a:cs typeface="Arial" pitchFamily="34" charset="-120"/>
              </a:rPr>
              <a:t>Phương pháp kiểm tra thủ công thiếu hiệu quả </a:t>
            </a:r>
            <a:endParaRPr lang="en-US" sz="1700" dirty="0"/>
          </a:p>
        </p:txBody>
      </p:sp>
      <p:sp>
        <p:nvSpPr>
          <p:cNvPr id="28" name="Text 13">
            <a:extLst>
              <a:ext uri="{FF2B5EF4-FFF2-40B4-BE49-F238E27FC236}">
                <a16:creationId xmlns:a16="http://schemas.microsoft.com/office/drawing/2014/main" id="{A0A19546-8004-BA43-E870-078D7EC7876D}"/>
              </a:ext>
            </a:extLst>
          </p:cNvPr>
          <p:cNvSpPr/>
          <p:nvPr/>
        </p:nvSpPr>
        <p:spPr>
          <a:xfrm>
            <a:off x="685799" y="3995928"/>
            <a:ext cx="5288281" cy="292608"/>
          </a:xfrm>
          <a:prstGeom prst="rect">
            <a:avLst/>
          </a:prstGeom>
          <a:noFill/>
          <a:ln/>
        </p:spPr>
        <p:txBody>
          <a:bodyPr wrap="square" lIns="0" tIns="0" rIns="0" bIns="0" rtlCol="0" anchor="ctr"/>
          <a:lstStyle/>
          <a:p>
            <a:pPr marL="0" indent="0">
              <a:buNone/>
            </a:pPr>
            <a:r>
              <a:rPr lang="en-US" b="1">
                <a:solidFill>
                  <a:srgbClr val="17365D"/>
                </a:solidFill>
                <a:latin typeface="Arial" pitchFamily="34" charset="0"/>
                <a:ea typeface="Arial" pitchFamily="34" charset="-122"/>
                <a:cs typeface="Arial" pitchFamily="34" charset="-120"/>
              </a:rPr>
              <a:t>Tài nguyên sinh thái chưa được định lượng hóa</a:t>
            </a:r>
            <a:endParaRPr lang="en-US" dirty="0"/>
          </a:p>
        </p:txBody>
      </p:sp>
      <p:sp>
        <p:nvSpPr>
          <p:cNvPr id="30" name="Text 17">
            <a:extLst>
              <a:ext uri="{FF2B5EF4-FFF2-40B4-BE49-F238E27FC236}">
                <a16:creationId xmlns:a16="http://schemas.microsoft.com/office/drawing/2014/main" id="{B1B25189-C598-388F-7D02-64A1950DAA5F}"/>
              </a:ext>
            </a:extLst>
          </p:cNvPr>
          <p:cNvSpPr/>
          <p:nvPr/>
        </p:nvSpPr>
        <p:spPr>
          <a:xfrm>
            <a:off x="6217920" y="3995928"/>
            <a:ext cx="5020056" cy="292608"/>
          </a:xfrm>
          <a:prstGeom prst="rect">
            <a:avLst/>
          </a:prstGeom>
          <a:noFill/>
          <a:ln/>
        </p:spPr>
        <p:txBody>
          <a:bodyPr wrap="square" lIns="0" tIns="0" rIns="0" bIns="0" rtlCol="0" anchor="ctr"/>
          <a:lstStyle/>
          <a:p>
            <a:pPr marL="0" indent="0">
              <a:buNone/>
            </a:pPr>
            <a:r>
              <a:rPr lang="en-US" b="1">
                <a:solidFill>
                  <a:srgbClr val="17365D"/>
                </a:solidFill>
                <a:latin typeface="Arial" pitchFamily="34" charset="0"/>
                <a:ea typeface="Arial" pitchFamily="34" charset="-122"/>
                <a:cs typeface="Arial" pitchFamily="34" charset="-120"/>
              </a:rPr>
              <a:t>Khó khăn trong việc theo dõi biến động và tốc độ hấp thụ</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03. VALUE PROPOSITION</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GASCOLAE tạo ra giá trị gì để giải quyết các vấn đề trên?</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a:solidFill>
                  <a:srgbClr val="1F4E78"/>
                </a:solidFill>
                <a:latin typeface="Arial" pitchFamily="34" charset="0"/>
                <a:ea typeface="Arial" pitchFamily="34" charset="-122"/>
                <a:cs typeface="Arial" pitchFamily="34" charset="-120"/>
              </a:rPr>
              <a:t>PROBLEM → </a:t>
            </a:r>
            <a:r>
              <a:rPr lang="en-US" sz="850" b="1" dirty="0">
                <a:solidFill>
                  <a:srgbClr val="1F4E78"/>
                </a:solidFill>
                <a:latin typeface="Arial" pitchFamily="34" charset="0"/>
                <a:ea typeface="Arial" pitchFamily="34" charset="-122"/>
                <a:cs typeface="Arial" pitchFamily="34" charset="-120"/>
              </a:rPr>
              <a:t>VALUE</a:t>
            </a:r>
            <a:endParaRPr lang="en-US" sz="850" dirty="0"/>
          </a:p>
        </p:txBody>
      </p:sp>
      <p:sp>
        <p:nvSpPr>
          <p:cNvPr id="5" name="Shape 3"/>
          <p:cNvSpPr/>
          <p:nvPr/>
        </p:nvSpPr>
        <p:spPr>
          <a:xfrm>
            <a:off x="685800" y="1783080"/>
            <a:ext cx="3337560" cy="352044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85800" y="1783080"/>
            <a:ext cx="64008" cy="3520440"/>
          </a:xfrm>
          <a:prstGeom prst="rect">
            <a:avLst/>
          </a:prstGeom>
          <a:solidFill>
            <a:srgbClr val="1F4E78"/>
          </a:solidFill>
          <a:ln w="12700">
            <a:solidFill>
              <a:srgbClr val="1F4E78"/>
            </a:solidFill>
            <a:prstDash val="solid"/>
          </a:ln>
        </p:spPr>
        <p:txBody>
          <a:bodyPr/>
          <a:lstStyle/>
          <a:p>
            <a:endParaRPr lang="en-US"/>
          </a:p>
        </p:txBody>
      </p:sp>
      <p:sp>
        <p:nvSpPr>
          <p:cNvPr id="8" name="Text 6"/>
          <p:cNvSpPr/>
          <p:nvPr/>
        </p:nvSpPr>
        <p:spPr>
          <a:xfrm>
            <a:off x="886968" y="2313432"/>
            <a:ext cx="2990088" cy="2862072"/>
          </a:xfrm>
          <a:prstGeom prst="rect">
            <a:avLst/>
          </a:prstGeom>
          <a:noFill/>
          <a:ln/>
        </p:spPr>
        <p:txBody>
          <a:bodyPr wrap="square" lIns="254" tIns="254" rIns="254" bIns="254" rtlCol="0" anchor="ctr">
            <a:normAutofit/>
          </a:bodyPr>
          <a:lstStyle/>
          <a:p>
            <a:r>
              <a:rPr lang="en-US"/>
              <a:t>Ứng dụng UAV LiDAR bay quét xuyên qua tán rừng, tái lập cấu trúc 3D toàn phần rừng với mật độ điểm cao, loại bỏ hoàn toàn các "điểm mù" của phương pháp thủ công. </a:t>
            </a:r>
            <a:endParaRPr/>
          </a:p>
        </p:txBody>
      </p:sp>
      <p:sp>
        <p:nvSpPr>
          <p:cNvPr id="9" name="Shape 7"/>
          <p:cNvSpPr/>
          <p:nvPr/>
        </p:nvSpPr>
        <p:spPr>
          <a:xfrm>
            <a:off x="4434840" y="1783080"/>
            <a:ext cx="3337560" cy="352044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4434840" y="1783080"/>
            <a:ext cx="64008" cy="3520440"/>
          </a:xfrm>
          <a:prstGeom prst="rect">
            <a:avLst/>
          </a:prstGeom>
          <a:solidFill>
            <a:srgbClr val="1F4E78"/>
          </a:solidFill>
          <a:ln w="12700">
            <a:solidFill>
              <a:srgbClr val="1F4E78"/>
            </a:solidFill>
            <a:prstDash val="solid"/>
          </a:ln>
        </p:spPr>
        <p:txBody>
          <a:bodyPr/>
          <a:lstStyle/>
          <a:p>
            <a:endParaRPr lang="en-US"/>
          </a:p>
        </p:txBody>
      </p:sp>
      <p:sp>
        <p:nvSpPr>
          <p:cNvPr id="12" name="Text 10"/>
          <p:cNvSpPr/>
          <p:nvPr/>
        </p:nvSpPr>
        <p:spPr>
          <a:xfrm>
            <a:off x="4636008" y="2313432"/>
            <a:ext cx="2990088" cy="2862072"/>
          </a:xfrm>
          <a:prstGeom prst="rect">
            <a:avLst/>
          </a:prstGeom>
          <a:noFill/>
          <a:ln/>
        </p:spPr>
        <p:txBody>
          <a:bodyPr wrap="square" lIns="254" tIns="254" rIns="254" bIns="254" rtlCol="0" anchor="ctr">
            <a:normAutofit/>
          </a:bodyPr>
          <a:lstStyle/>
          <a:p>
            <a:r>
              <a:rPr lang="en-US"/>
              <a:t>Nhận diện chính xác vị trí, chiều cao cây và diện tích tán cho từng cá thể cây, kết hợp với mạng lưới ô đo đếm mặt đất để áp phương trình allometric phù hợp theo vùng/loài, nâng cao độ chính xác ước tính sinh khối.</a:t>
            </a:r>
            <a:endParaRPr/>
          </a:p>
        </p:txBody>
      </p:sp>
      <p:sp>
        <p:nvSpPr>
          <p:cNvPr id="13" name="Shape 11"/>
          <p:cNvSpPr/>
          <p:nvPr/>
        </p:nvSpPr>
        <p:spPr>
          <a:xfrm>
            <a:off x="8183880" y="1783080"/>
            <a:ext cx="3337560" cy="352044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8183880" y="1783080"/>
            <a:ext cx="64008" cy="3520440"/>
          </a:xfrm>
          <a:prstGeom prst="rect">
            <a:avLst/>
          </a:prstGeom>
          <a:solidFill>
            <a:srgbClr val="1F4E78"/>
          </a:solidFill>
          <a:ln w="12700">
            <a:solidFill>
              <a:srgbClr val="1F4E78"/>
            </a:solidFill>
            <a:prstDash val="solid"/>
          </a:ln>
        </p:spPr>
        <p:txBody>
          <a:bodyPr/>
          <a:lstStyle/>
          <a:p>
            <a:endParaRPr lang="en-US"/>
          </a:p>
        </p:txBody>
      </p:sp>
      <p:sp>
        <p:nvSpPr>
          <p:cNvPr id="16" name="Text 14"/>
          <p:cNvSpPr/>
          <p:nvPr/>
        </p:nvSpPr>
        <p:spPr>
          <a:xfrm>
            <a:off x="8385048" y="2313432"/>
            <a:ext cx="2990088" cy="2862072"/>
          </a:xfrm>
          <a:prstGeom prst="rect">
            <a:avLst/>
          </a:prstGeom>
          <a:noFill/>
          <a:ln/>
        </p:spPr>
        <p:txBody>
          <a:bodyPr wrap="square" lIns="254" tIns="254" rIns="254" bIns="254" rtlCol="0" anchor="ctr">
            <a:normAutofit/>
          </a:bodyPr>
          <a:lstStyle/>
          <a:p>
            <a:r>
              <a:rPr lang="en-US"/>
              <a:t>Cung cấp toàn diện từ mô hình số độ cao tán, lớp cây đơn lẻ đến bản đồ các-bon dạng GIS đi kèm báo cáo đánh giá sai số minh bạch, làm dữ liệu đầu vào trực tiếp cho đơn vị tư vấn lập báo cáo MRV và hồ sơ đăng ký dự án theo Nghị định 180/2026/NĐ-CP.</a:t>
            </a:r>
            <a:endParaRPr/>
          </a:p>
        </p:txBody>
      </p:sp>
      <p:sp>
        <p:nvSpPr>
          <p:cNvPr id="17" name="Text 15"/>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Không tự tạo claim % tiết kiệm, tăng năng suất hoặc ROI nếu chưa được GASCOLAE xác minh.</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4</a:t>
            </a:fld>
            <a:endParaRPr lang="en-US"/>
          </a:p>
        </p:txBody>
      </p:sp>
      <p:sp>
        <p:nvSpPr>
          <p:cNvPr id="19" name="Text 5">
            <a:extLst>
              <a:ext uri="{FF2B5EF4-FFF2-40B4-BE49-F238E27FC236}">
                <a16:creationId xmlns:a16="http://schemas.microsoft.com/office/drawing/2014/main" id="{9325333B-E0FE-69E4-ADB7-F43C1AE9BCCA}"/>
              </a:ext>
            </a:extLst>
          </p:cNvPr>
          <p:cNvSpPr/>
          <p:nvPr/>
        </p:nvSpPr>
        <p:spPr>
          <a:xfrm>
            <a:off x="886968" y="1947672"/>
            <a:ext cx="2990088" cy="292608"/>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1</a:t>
            </a:r>
            <a:r>
              <a:rPr lang="en-US" sz="1600" b="1">
                <a:solidFill>
                  <a:srgbClr val="17365D"/>
                </a:solidFill>
                <a:latin typeface="Arial" pitchFamily="34" charset="0"/>
                <a:ea typeface="Arial" pitchFamily="34" charset="-122"/>
                <a:cs typeface="Arial" pitchFamily="34" charset="-120"/>
              </a:rPr>
              <a:t>. Dữ liệu phủ kín không gian và có tọa độ thực</a:t>
            </a:r>
            <a:endParaRPr lang="en-US" sz="1600" dirty="0"/>
          </a:p>
        </p:txBody>
      </p:sp>
      <p:sp>
        <p:nvSpPr>
          <p:cNvPr id="21" name="Text 9">
            <a:extLst>
              <a:ext uri="{FF2B5EF4-FFF2-40B4-BE49-F238E27FC236}">
                <a16:creationId xmlns:a16="http://schemas.microsoft.com/office/drawing/2014/main" id="{20A398E1-2410-C050-139D-AD268B0DCD44}"/>
              </a:ext>
            </a:extLst>
          </p:cNvPr>
          <p:cNvSpPr/>
          <p:nvPr/>
        </p:nvSpPr>
        <p:spPr>
          <a:xfrm>
            <a:off x="4636008" y="1947672"/>
            <a:ext cx="2990088" cy="292608"/>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2</a:t>
            </a:r>
            <a:r>
              <a:rPr lang="en-US" sz="1600" b="1">
                <a:solidFill>
                  <a:srgbClr val="17365D"/>
                </a:solidFill>
                <a:latin typeface="Arial" pitchFamily="34" charset="0"/>
                <a:ea typeface="Arial" pitchFamily="34" charset="-122"/>
                <a:cs typeface="Arial" pitchFamily="34" charset="-120"/>
              </a:rPr>
              <a:t>. Định lượng chuẩn xác </a:t>
            </a:r>
            <a:endParaRPr lang="en-US" sz="1600" dirty="0"/>
          </a:p>
        </p:txBody>
      </p:sp>
      <p:sp>
        <p:nvSpPr>
          <p:cNvPr id="23" name="Text 13">
            <a:extLst>
              <a:ext uri="{FF2B5EF4-FFF2-40B4-BE49-F238E27FC236}">
                <a16:creationId xmlns:a16="http://schemas.microsoft.com/office/drawing/2014/main" id="{AC0BF771-DF68-5A85-FFE0-1E79EA412EAA}"/>
              </a:ext>
            </a:extLst>
          </p:cNvPr>
          <p:cNvSpPr/>
          <p:nvPr/>
        </p:nvSpPr>
        <p:spPr>
          <a:xfrm>
            <a:off x="8385048" y="1947672"/>
            <a:ext cx="2990088" cy="292608"/>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3</a:t>
            </a:r>
            <a:r>
              <a:rPr lang="en-US" sz="1600" b="1">
                <a:solidFill>
                  <a:srgbClr val="17365D"/>
                </a:solidFill>
                <a:latin typeface="Arial" pitchFamily="34" charset="0"/>
                <a:ea typeface="Arial" pitchFamily="34" charset="-122"/>
                <a:cs typeface="Arial" pitchFamily="34" charset="-120"/>
              </a:rPr>
              <a:t>. Bộ hồ sơ kĩ thuật sẵn sàn cho thẩm định độc lập</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04. SOLUTION &amp; KEY CAPABILITIES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Giải pháp gồm những thành phần/năng lực gì?</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WHAT WE OFFER</a:t>
            </a:r>
            <a:endParaRPr lang="en-US" sz="850" dirty="0"/>
          </a:p>
        </p:txBody>
      </p:sp>
      <p:sp>
        <p:nvSpPr>
          <p:cNvPr id="5" name="Shape 3"/>
          <p:cNvSpPr/>
          <p:nvPr/>
        </p:nvSpPr>
        <p:spPr>
          <a:xfrm>
            <a:off x="658368" y="1792224"/>
            <a:ext cx="3429000" cy="1481328"/>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58368" y="1755648"/>
            <a:ext cx="64008" cy="1417320"/>
          </a:xfrm>
          <a:prstGeom prst="rect">
            <a:avLst/>
          </a:prstGeom>
          <a:solidFill>
            <a:srgbClr val="1F4E78"/>
          </a:solidFill>
          <a:ln w="12700">
            <a:solidFill>
              <a:srgbClr val="1F4E78"/>
            </a:solidFill>
            <a:prstDash val="solid"/>
          </a:ln>
        </p:spPr>
        <p:txBody>
          <a:bodyPr/>
          <a:lstStyle/>
          <a:p>
            <a:endParaRPr lang="en-US"/>
          </a:p>
        </p:txBody>
      </p:sp>
      <p:sp>
        <p:nvSpPr>
          <p:cNvPr id="7" name="Text 5"/>
          <p:cNvSpPr/>
          <p:nvPr/>
        </p:nvSpPr>
        <p:spPr>
          <a:xfrm>
            <a:off x="859536" y="1920240"/>
            <a:ext cx="3081528" cy="292608"/>
          </a:xfrm>
          <a:prstGeom prst="rect">
            <a:avLst/>
          </a:prstGeom>
          <a:noFill/>
          <a:ln/>
        </p:spPr>
        <p:txBody>
          <a:bodyPr wrap="square" lIns="0" tIns="0" rIns="0" bIns="0" rtlCol="0" anchor="ctr">
            <a:noAutofit/>
          </a:bodyPr>
          <a:lstStyle/>
          <a:p>
            <a:r>
              <a:rPr lang="en-US" sz="1400" b="1"/>
              <a:t>Thu thập cấu trúc 3D rừng bằng UAV LIDAR</a:t>
            </a:r>
            <a:endParaRPr sz="1400" b="1"/>
          </a:p>
        </p:txBody>
      </p:sp>
      <p:sp>
        <p:nvSpPr>
          <p:cNvPr id="8" name="Text 6"/>
          <p:cNvSpPr/>
          <p:nvPr/>
        </p:nvSpPr>
        <p:spPr>
          <a:xfrm>
            <a:off x="859536" y="2377440"/>
            <a:ext cx="3081528" cy="822960"/>
          </a:xfrm>
          <a:prstGeom prst="rect">
            <a:avLst/>
          </a:prstGeom>
          <a:noFill/>
          <a:ln/>
        </p:spPr>
        <p:txBody>
          <a:bodyPr wrap="square" lIns="254" tIns="254" rIns="254" bIns="254" rtlCol="0" anchor="ctr">
            <a:normAutofit fontScale="70000" lnSpcReduction="20000"/>
          </a:bodyPr>
          <a:lstStyle/>
          <a:p>
            <a:r>
              <a:rPr lang="en-US"/>
              <a:t>Hệ thống UAV tích hợp LiDAR và GNSS RTK/PPK, thu nhận đám mây điểm xuyên qua tán lá rậm rạp để dựng chính xác mô hình bề mặt và địa hình dưới tán.</a:t>
            </a:r>
            <a:endParaRPr/>
          </a:p>
        </p:txBody>
      </p:sp>
      <p:sp>
        <p:nvSpPr>
          <p:cNvPr id="9" name="Shape 7"/>
          <p:cNvSpPr/>
          <p:nvPr/>
        </p:nvSpPr>
        <p:spPr>
          <a:xfrm>
            <a:off x="4425696" y="1755648"/>
            <a:ext cx="342900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4425696" y="1755648"/>
            <a:ext cx="64008" cy="1417320"/>
          </a:xfrm>
          <a:prstGeom prst="rect">
            <a:avLst/>
          </a:prstGeom>
          <a:solidFill>
            <a:srgbClr val="1F4E78"/>
          </a:solidFill>
          <a:ln w="12700">
            <a:solidFill>
              <a:srgbClr val="1F4E78"/>
            </a:solidFill>
            <a:prstDash val="solid"/>
          </a:ln>
        </p:spPr>
        <p:txBody>
          <a:bodyPr/>
          <a:lstStyle/>
          <a:p>
            <a:endParaRPr lang="en-US"/>
          </a:p>
        </p:txBody>
      </p:sp>
      <p:sp>
        <p:nvSpPr>
          <p:cNvPr id="11" name="Text 9"/>
          <p:cNvSpPr/>
          <p:nvPr/>
        </p:nvSpPr>
        <p:spPr>
          <a:xfrm>
            <a:off x="4626864" y="1920240"/>
            <a:ext cx="3081528" cy="292608"/>
          </a:xfrm>
          <a:prstGeom prst="rect">
            <a:avLst/>
          </a:prstGeom>
          <a:noFill/>
          <a:ln/>
        </p:spPr>
        <p:txBody>
          <a:bodyPr wrap="square" lIns="0" tIns="0" rIns="0" bIns="0" rtlCol="0" anchor="ctr">
            <a:noAutofit/>
          </a:bodyPr>
          <a:lstStyle/>
          <a:p>
            <a:r>
              <a:rPr lang="en-US" sz="1500" b="1"/>
              <a:t>Tách cây và phân tầng thảm phủ bằng camera đa phổ</a:t>
            </a:r>
            <a:endParaRPr sz="1500" b="1"/>
          </a:p>
        </p:txBody>
      </p:sp>
      <p:sp>
        <p:nvSpPr>
          <p:cNvPr id="12" name="Text 10"/>
          <p:cNvSpPr/>
          <p:nvPr/>
        </p:nvSpPr>
        <p:spPr>
          <a:xfrm>
            <a:off x="4626864" y="2363724"/>
            <a:ext cx="3081528" cy="758952"/>
          </a:xfrm>
          <a:prstGeom prst="rect">
            <a:avLst/>
          </a:prstGeom>
          <a:noFill/>
          <a:ln/>
        </p:spPr>
        <p:txBody>
          <a:bodyPr wrap="square" lIns="254" tIns="254" rIns="254" bIns="254" rtlCol="0" anchor="ctr">
            <a:normAutofit fontScale="70000" lnSpcReduction="20000"/>
          </a:bodyPr>
          <a:lstStyle/>
          <a:p>
            <a:r>
              <a:rPr lang="en-US"/>
              <a:t>Tích hợp camera đa phổ hỗ trợ bóc tách phản xạ phổ của các loài cây ưu thế, phục vụ phân loại trạng thái rừng và tăng độ chính xác phân tầng sinh khối.</a:t>
            </a:r>
            <a:endParaRPr/>
          </a:p>
        </p:txBody>
      </p:sp>
      <p:sp>
        <p:nvSpPr>
          <p:cNvPr id="13" name="Shape 11"/>
          <p:cNvSpPr/>
          <p:nvPr/>
        </p:nvSpPr>
        <p:spPr>
          <a:xfrm>
            <a:off x="8193024" y="1755648"/>
            <a:ext cx="342900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8193024" y="1755648"/>
            <a:ext cx="64008" cy="1417320"/>
          </a:xfrm>
          <a:prstGeom prst="rect">
            <a:avLst/>
          </a:prstGeom>
          <a:solidFill>
            <a:srgbClr val="C89B3C"/>
          </a:solidFill>
          <a:ln w="12700">
            <a:solidFill>
              <a:srgbClr val="C89B3C"/>
            </a:solidFill>
            <a:prstDash val="solid"/>
          </a:ln>
        </p:spPr>
        <p:txBody>
          <a:bodyPr/>
          <a:lstStyle/>
          <a:p>
            <a:endParaRPr lang="en-US"/>
          </a:p>
        </p:txBody>
      </p:sp>
      <p:sp>
        <p:nvSpPr>
          <p:cNvPr id="15" name="Text 13"/>
          <p:cNvSpPr/>
          <p:nvPr/>
        </p:nvSpPr>
        <p:spPr>
          <a:xfrm>
            <a:off x="8394192" y="1920240"/>
            <a:ext cx="3081528" cy="292608"/>
          </a:xfrm>
          <a:prstGeom prst="rect">
            <a:avLst/>
          </a:prstGeom>
          <a:noFill/>
          <a:ln/>
        </p:spPr>
        <p:txBody>
          <a:bodyPr wrap="square" lIns="0" tIns="0" rIns="0" bIns="0" rtlCol="0" anchor="ctr">
            <a:noAutofit/>
          </a:bodyPr>
          <a:lstStyle/>
          <a:p>
            <a:r>
              <a:rPr lang="en-US" sz="1500" b="1"/>
              <a:t>Quy trình đo đếm ô tiêu chuẩn mặt đất chuẩn hóa</a:t>
            </a:r>
            <a:endParaRPr sz="1500" b="1"/>
          </a:p>
        </p:txBody>
      </p:sp>
      <p:sp>
        <p:nvSpPr>
          <p:cNvPr id="16" name="Text 14"/>
          <p:cNvSpPr/>
          <p:nvPr/>
        </p:nvSpPr>
        <p:spPr>
          <a:xfrm>
            <a:off x="8366760" y="2363724"/>
            <a:ext cx="3081528" cy="758952"/>
          </a:xfrm>
          <a:prstGeom prst="rect">
            <a:avLst/>
          </a:prstGeom>
          <a:noFill/>
          <a:ln/>
        </p:spPr>
        <p:txBody>
          <a:bodyPr wrap="square" lIns="254" tIns="254" rIns="254" bIns="254" rtlCol="0" anchor="ctr">
            <a:noAutofit/>
          </a:bodyPr>
          <a:lstStyle/>
          <a:p>
            <a:r>
              <a:rPr lang="en-US" sz="1300"/>
              <a:t>Bố trí mạng lưới ô tiêu chuẩn đo đếm thực tế  đồng bộ theo định mức lâm nghiệp nhằm kiểm định và hiệu chuẩn sai số mô hình</a:t>
            </a:r>
            <a:endParaRPr sz="1300"/>
          </a:p>
        </p:txBody>
      </p:sp>
      <p:sp>
        <p:nvSpPr>
          <p:cNvPr id="17" name="Shape 15"/>
          <p:cNvSpPr/>
          <p:nvPr/>
        </p:nvSpPr>
        <p:spPr>
          <a:xfrm>
            <a:off x="658368" y="3584448"/>
            <a:ext cx="342900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8" name="Shape 16"/>
          <p:cNvSpPr/>
          <p:nvPr/>
        </p:nvSpPr>
        <p:spPr>
          <a:xfrm>
            <a:off x="658368" y="3584448"/>
            <a:ext cx="64008" cy="1417320"/>
          </a:xfrm>
          <a:prstGeom prst="rect">
            <a:avLst/>
          </a:prstGeom>
          <a:solidFill>
            <a:srgbClr val="1F4E78"/>
          </a:solidFill>
          <a:ln w="12700">
            <a:solidFill>
              <a:srgbClr val="1F4E78"/>
            </a:solidFill>
            <a:prstDash val="solid"/>
          </a:ln>
        </p:spPr>
        <p:txBody>
          <a:bodyPr/>
          <a:lstStyle/>
          <a:p>
            <a:endParaRPr lang="en-US"/>
          </a:p>
        </p:txBody>
      </p:sp>
      <p:sp>
        <p:nvSpPr>
          <p:cNvPr id="19" name="Text 17"/>
          <p:cNvSpPr/>
          <p:nvPr/>
        </p:nvSpPr>
        <p:spPr>
          <a:xfrm>
            <a:off x="859536" y="3657600"/>
            <a:ext cx="3081528" cy="292608"/>
          </a:xfrm>
          <a:prstGeom prst="rect">
            <a:avLst/>
          </a:prstGeom>
          <a:noFill/>
          <a:ln/>
        </p:spPr>
        <p:txBody>
          <a:bodyPr wrap="square" lIns="0" tIns="0" rIns="0" bIns="0" rtlCol="0" anchor="ctr">
            <a:noAutofit/>
          </a:bodyPr>
          <a:lstStyle/>
          <a:p>
            <a:r>
              <a:rPr lang="en-US" sz="1500" b="1"/>
              <a:t>Mô hình Machine Learning ước lượng AGB</a:t>
            </a:r>
            <a:endParaRPr sz="1500" b="1"/>
          </a:p>
        </p:txBody>
      </p:sp>
      <p:sp>
        <p:nvSpPr>
          <p:cNvPr id="20" name="Text 18"/>
          <p:cNvSpPr/>
          <p:nvPr/>
        </p:nvSpPr>
        <p:spPr>
          <a:xfrm>
            <a:off x="859536" y="4169664"/>
            <a:ext cx="3081528" cy="758952"/>
          </a:xfrm>
          <a:prstGeom prst="rect">
            <a:avLst/>
          </a:prstGeom>
          <a:noFill/>
          <a:ln/>
        </p:spPr>
        <p:txBody>
          <a:bodyPr wrap="square" lIns="254" tIns="254" rIns="254" bIns="254" rtlCol="0" anchor="ctr">
            <a:noAutofit/>
          </a:bodyPr>
          <a:lstStyle/>
          <a:p>
            <a:r>
              <a:rPr lang="en-US" sz="1300"/>
              <a:t>Ứng dụng các thuật toán hồi quy Machine Learning liên kết tương quan giữa các biến cấu trúc LiDAR với dữ liệu sinh khối mặt đất.</a:t>
            </a:r>
            <a:endParaRPr sz="1300"/>
          </a:p>
        </p:txBody>
      </p:sp>
      <p:sp>
        <p:nvSpPr>
          <p:cNvPr id="21" name="Shape 19"/>
          <p:cNvSpPr/>
          <p:nvPr/>
        </p:nvSpPr>
        <p:spPr>
          <a:xfrm>
            <a:off x="4425696" y="3584448"/>
            <a:ext cx="342900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22" name="Shape 20"/>
          <p:cNvSpPr/>
          <p:nvPr/>
        </p:nvSpPr>
        <p:spPr>
          <a:xfrm>
            <a:off x="4425696" y="3584448"/>
            <a:ext cx="64008" cy="1417320"/>
          </a:xfrm>
          <a:prstGeom prst="rect">
            <a:avLst/>
          </a:prstGeom>
          <a:solidFill>
            <a:srgbClr val="1F4E78"/>
          </a:solidFill>
          <a:ln w="12700">
            <a:solidFill>
              <a:srgbClr val="1F4E78"/>
            </a:solidFill>
            <a:prstDash val="solid"/>
          </a:ln>
        </p:spPr>
        <p:txBody>
          <a:bodyPr/>
          <a:lstStyle/>
          <a:p>
            <a:endParaRPr lang="en-US"/>
          </a:p>
        </p:txBody>
      </p:sp>
      <p:sp>
        <p:nvSpPr>
          <p:cNvPr id="23" name="Text 21"/>
          <p:cNvSpPr/>
          <p:nvPr/>
        </p:nvSpPr>
        <p:spPr>
          <a:xfrm>
            <a:off x="4599432" y="3681984"/>
            <a:ext cx="3081528" cy="292608"/>
          </a:xfrm>
          <a:prstGeom prst="rect">
            <a:avLst/>
          </a:prstGeom>
          <a:noFill/>
          <a:ln/>
        </p:spPr>
        <p:txBody>
          <a:bodyPr wrap="square" lIns="0" tIns="0" rIns="0" bIns="0" rtlCol="0" anchor="ctr">
            <a:noAutofit/>
          </a:bodyPr>
          <a:lstStyle/>
          <a:p>
            <a:r>
              <a:rPr lang="en-US" sz="1500" b="1"/>
              <a:t>Áp dụng phương trình Allometric theo loài và vùng sinh thái</a:t>
            </a:r>
            <a:endParaRPr sz="1500" b="1"/>
          </a:p>
        </p:txBody>
      </p:sp>
      <p:sp>
        <p:nvSpPr>
          <p:cNvPr id="24" name="Text 22"/>
          <p:cNvSpPr/>
          <p:nvPr/>
        </p:nvSpPr>
        <p:spPr>
          <a:xfrm>
            <a:off x="4626864" y="4114800"/>
            <a:ext cx="3081528" cy="758952"/>
          </a:xfrm>
          <a:prstGeom prst="rect">
            <a:avLst/>
          </a:prstGeom>
          <a:noFill/>
          <a:ln/>
        </p:spPr>
        <p:txBody>
          <a:bodyPr wrap="square" lIns="254" tIns="254" rIns="254" bIns="254" rtlCol="0" anchor="ctr">
            <a:normAutofit fontScale="70000" lnSpcReduction="20000"/>
          </a:bodyPr>
          <a:lstStyle/>
          <a:p>
            <a:r>
              <a:rPr lang="en-US"/>
              <a:t>Chuyển đổi tham số trắc lượng cây sang sinh khối trên mặt đất và quy đổi sang trữ lượng các-bon theo hệ số mặc định của IPCC hoặc hệ số nghiên cứu địa phương. </a:t>
            </a:r>
            <a:endParaRPr/>
          </a:p>
        </p:txBody>
      </p:sp>
      <p:sp>
        <p:nvSpPr>
          <p:cNvPr id="25" name="Shape 23"/>
          <p:cNvSpPr/>
          <p:nvPr/>
        </p:nvSpPr>
        <p:spPr>
          <a:xfrm>
            <a:off x="8193024" y="3584448"/>
            <a:ext cx="342900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26" name="Shape 24"/>
          <p:cNvSpPr/>
          <p:nvPr/>
        </p:nvSpPr>
        <p:spPr>
          <a:xfrm>
            <a:off x="8193024" y="3584448"/>
            <a:ext cx="64008" cy="1417320"/>
          </a:xfrm>
          <a:prstGeom prst="rect">
            <a:avLst/>
          </a:prstGeom>
          <a:solidFill>
            <a:srgbClr val="1F4E78"/>
          </a:solidFill>
          <a:ln w="12700">
            <a:solidFill>
              <a:srgbClr val="1F4E78"/>
            </a:solidFill>
            <a:prstDash val="solid"/>
          </a:ln>
        </p:spPr>
        <p:txBody>
          <a:bodyPr/>
          <a:lstStyle/>
          <a:p>
            <a:endParaRPr lang="en-US"/>
          </a:p>
        </p:txBody>
      </p:sp>
      <p:sp>
        <p:nvSpPr>
          <p:cNvPr id="27" name="Text 25"/>
          <p:cNvSpPr/>
          <p:nvPr/>
        </p:nvSpPr>
        <p:spPr>
          <a:xfrm>
            <a:off x="8394192" y="3749040"/>
            <a:ext cx="3081528" cy="292608"/>
          </a:xfrm>
          <a:prstGeom prst="rect">
            <a:avLst/>
          </a:prstGeom>
          <a:noFill/>
          <a:ln/>
        </p:spPr>
        <p:txBody>
          <a:bodyPr wrap="square" lIns="0" tIns="0" rIns="0" bIns="0" rtlCol="0" anchor="ctr">
            <a:noAutofit/>
          </a:bodyPr>
          <a:lstStyle/>
          <a:p>
            <a:r>
              <a:rPr lang="en-US" sz="1500" b="1"/>
              <a:t>Phân tích biến động đa kỳ và tích hợp Dashboard GIS</a:t>
            </a:r>
            <a:endParaRPr sz="1500" b="1" dirty="0"/>
          </a:p>
        </p:txBody>
      </p:sp>
      <p:sp>
        <p:nvSpPr>
          <p:cNvPr id="28" name="Text 26"/>
          <p:cNvSpPr/>
          <p:nvPr/>
        </p:nvSpPr>
        <p:spPr>
          <a:xfrm>
            <a:off x="8394192" y="4114800"/>
            <a:ext cx="3081528" cy="758952"/>
          </a:xfrm>
          <a:prstGeom prst="rect">
            <a:avLst/>
          </a:prstGeom>
          <a:noFill/>
          <a:ln/>
        </p:spPr>
        <p:txBody>
          <a:bodyPr wrap="square" lIns="254" tIns="254" rIns="254" bIns="254" rtlCol="0" anchor="ctr">
            <a:normAutofit/>
          </a:bodyPr>
          <a:lstStyle/>
          <a:p>
            <a:endParaRPr dirty="0"/>
          </a:p>
        </p:txBody>
      </p:sp>
      <p:sp>
        <p:nvSpPr>
          <p:cNvPr id="29" name="Text 27"/>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Capability phải có nguồn. AI capability chưa xác minh phải ghi rõ trạng thái.</a:t>
            </a:r>
            <a:endParaRPr lang="en-US" sz="850" dirty="0"/>
          </a:p>
        </p:txBody>
      </p:sp>
      <p:sp>
        <p:nvSpPr>
          <p:cNvPr id="30"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5</a:t>
            </a:fld>
            <a:endParaRPr lang="en-US"/>
          </a:p>
        </p:txBody>
      </p:sp>
      <p:sp>
        <p:nvSpPr>
          <p:cNvPr id="31" name="Text 22">
            <a:extLst>
              <a:ext uri="{FF2B5EF4-FFF2-40B4-BE49-F238E27FC236}">
                <a16:creationId xmlns:a16="http://schemas.microsoft.com/office/drawing/2014/main" id="{4C6C1725-7090-902C-4A76-78073BC707A2}"/>
              </a:ext>
            </a:extLst>
          </p:cNvPr>
          <p:cNvSpPr/>
          <p:nvPr/>
        </p:nvSpPr>
        <p:spPr>
          <a:xfrm>
            <a:off x="8385048" y="4151376"/>
            <a:ext cx="3081528" cy="850392"/>
          </a:xfrm>
          <a:prstGeom prst="rect">
            <a:avLst/>
          </a:prstGeom>
          <a:noFill/>
          <a:ln/>
        </p:spPr>
        <p:txBody>
          <a:bodyPr wrap="square" lIns="254" tIns="254" rIns="254" bIns="254" rtlCol="0" anchor="ctr">
            <a:normAutofit fontScale="70000" lnSpcReduction="20000"/>
          </a:bodyPr>
          <a:lstStyle/>
          <a:p>
            <a:r>
              <a:rPr lang="en-US"/>
              <a:t>So sánh đồng bộ dữ liệu giữa các chu kỳ bay để trích xuất bản đồ biến động trữ lượng, xác định tốc độ hấp thụ hàng năm và hiển thị trực quan trên nền tảng Web GIS.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05. USE CASES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Khách hàng sử dụng dịch vụ trong những tình huống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WHEN TO USE</a:t>
            </a:r>
            <a:endParaRPr lang="en-US" sz="850" dirty="0"/>
          </a:p>
        </p:txBody>
      </p:sp>
      <p:sp>
        <p:nvSpPr>
          <p:cNvPr id="5" name="Text 3"/>
          <p:cNvSpPr/>
          <p:nvPr/>
        </p:nvSpPr>
        <p:spPr>
          <a:xfrm>
            <a:off x="777240" y="2103120"/>
            <a:ext cx="502920" cy="502920"/>
          </a:xfrm>
          <a:prstGeom prst="rect">
            <a:avLst/>
          </a:prstGeom>
          <a:noFill/>
          <a:ln/>
        </p:spPr>
        <p:txBody>
          <a:bodyPr wrap="square" lIns="0" tIns="0" rIns="0" bIns="0" rtlCol="0" anchor="ctr"/>
          <a:lstStyle/>
          <a:p>
            <a:pPr marL="0" indent="0">
              <a:buNone/>
            </a:pPr>
            <a:r>
              <a:rPr lang="en-US" sz="2000" b="1" dirty="0">
                <a:solidFill>
                  <a:srgbClr val="1F4E78"/>
                </a:solidFill>
              </a:rPr>
              <a:t>01</a:t>
            </a:r>
            <a:endParaRPr lang="en-US" sz="2000" dirty="0"/>
          </a:p>
        </p:txBody>
      </p:sp>
      <p:sp>
        <p:nvSpPr>
          <p:cNvPr id="6" name="Text 4"/>
          <p:cNvSpPr/>
          <p:nvPr/>
        </p:nvSpPr>
        <p:spPr>
          <a:xfrm>
            <a:off x="1417320" y="2158545"/>
            <a:ext cx="2926080" cy="292608"/>
          </a:xfrm>
          <a:prstGeom prst="rect">
            <a:avLst/>
          </a:prstGeom>
          <a:noFill/>
          <a:ln/>
        </p:spPr>
        <p:txBody>
          <a:bodyPr wrap="square" lIns="0" tIns="0" rIns="0" bIns="0" rtlCol="0" anchor="ctr">
            <a:normAutofit/>
          </a:bodyPr>
          <a:lstStyle/>
          <a:p>
            <a:r>
              <a:rPr lang="en-US"/>
              <a:t>Lập đường phát thải cơ sở</a:t>
            </a:r>
            <a:endParaRPr dirty="0"/>
          </a:p>
        </p:txBody>
      </p:sp>
      <mc:AlternateContent xmlns:mc="http://schemas.openxmlformats.org/markup-compatibility/2006">
        <mc:Choice xmlns:a14="http://schemas.microsoft.com/office/drawing/2010/main" Requires="a14">
          <p:sp>
            <p:nvSpPr>
              <p:cNvPr id="7" name="Text 5"/>
              <p:cNvSpPr/>
              <p:nvPr/>
            </p:nvSpPr>
            <p:spPr>
              <a:xfrm>
                <a:off x="4389120" y="2084832"/>
                <a:ext cx="6629400" cy="457200"/>
              </a:xfrm>
              <a:prstGeom prst="rect">
                <a:avLst/>
              </a:prstGeom>
              <a:noFill/>
              <a:ln/>
            </p:spPr>
            <p:txBody>
              <a:bodyPr wrap="square" lIns="0" tIns="0" rIns="0" bIns="0" rtlCol="0" anchor="ctr">
                <a:normAutofit fontScale="92500" lnSpcReduction="20000"/>
              </a:bodyPr>
              <a:lstStyle/>
              <a:p>
                <a:r>
                  <a:rPr lang="en-US"/>
                  <a:t>Bản đồ trữ lượng các-bon nền (</a:t>
                </a:r>
                <a14:m>
                  <m:oMath xmlns:m="http://schemas.openxmlformats.org/officeDocument/2006/math">
                    <m:r>
                      <a:rPr lang="en-US" i="1"/>
                      <m:t>𝑡𝐶</m:t>
                    </m:r>
                    <m:sSub>
                      <m:sSubPr>
                        <m:ctrlPr>
                          <a:rPr lang="en-US" i="1"/>
                        </m:ctrlPr>
                      </m:sSubPr>
                      <m:e>
                        <m:r>
                          <a:rPr lang="en-US" i="1"/>
                          <m:t>𝑂</m:t>
                        </m:r>
                      </m:e>
                      <m:sub>
                        <m:r>
                          <a:rPr lang="en-US"/>
                          <m:t>2</m:t>
                        </m:r>
                      </m:sub>
                    </m:sSub>
                    <m:r>
                      <a:rPr lang="en-US" i="1"/>
                      <m:t>𝑒</m:t>
                    </m:r>
                    <m:r>
                      <a:rPr lang="en-US"/>
                      <m:t>/</m:t>
                    </m:r>
                    <m:r>
                      <a:rPr lang="en-US" i="1"/>
                      <m:t>ℎ𝑎</m:t>
                    </m:r>
                  </m:oMath>
                </a14:m>
                <a:r>
                  <a:rPr lang="en-US"/>
                  <a:t>) phủ kín toàn bộ diện tích lô rừng kèm báo cáo sai số kỹ thuật.</a:t>
                </a:r>
                <a:endParaRPr/>
              </a:p>
            </p:txBody>
          </p:sp>
        </mc:Choice>
        <mc:Fallback>
          <p:sp>
            <p:nvSpPr>
              <p:cNvPr id="7" name="Text 5"/>
              <p:cNvSpPr>
                <a:spLocks noRot="1" noChangeAspect="1" noMove="1" noResize="1" noEditPoints="1" noAdjustHandles="1" noChangeArrowheads="1" noChangeShapeType="1" noTextEdit="1"/>
              </p:cNvSpPr>
              <p:nvPr/>
            </p:nvSpPr>
            <p:spPr>
              <a:xfrm>
                <a:off x="4389120" y="2084832"/>
                <a:ext cx="6629400" cy="457200"/>
              </a:xfrm>
              <a:prstGeom prst="rect">
                <a:avLst/>
              </a:prstGeom>
              <a:blipFill>
                <a:blip r:embed="rId3"/>
                <a:stretch>
                  <a:fillRect l="-1930" t="-20000" r="-368" b="-24000"/>
                </a:stretch>
              </a:blipFill>
              <a:ln/>
            </p:spPr>
            <p:txBody>
              <a:bodyPr/>
              <a:lstStyle/>
              <a:p>
                <a:r>
                  <a:rPr lang="en-US">
                    <a:noFill/>
                  </a:rPr>
                  <a:t> </a:t>
                </a:r>
              </a:p>
            </p:txBody>
          </p:sp>
        </mc:Fallback>
      </mc:AlternateContent>
      <p:sp>
        <p:nvSpPr>
          <p:cNvPr id="8" name="Shape 6"/>
          <p:cNvSpPr/>
          <p:nvPr/>
        </p:nvSpPr>
        <p:spPr>
          <a:xfrm>
            <a:off x="1417320" y="2679192"/>
            <a:ext cx="9601200" cy="0"/>
          </a:xfrm>
          <a:prstGeom prst="line">
            <a:avLst/>
          </a:prstGeom>
          <a:noFill/>
          <a:ln w="12700">
            <a:solidFill>
              <a:srgbClr val="DDE4EC"/>
            </a:solidFill>
            <a:prstDash val="solid"/>
          </a:ln>
        </p:spPr>
        <p:txBody>
          <a:bodyPr/>
          <a:lstStyle/>
          <a:p>
            <a:endParaRPr lang="en-US"/>
          </a:p>
        </p:txBody>
      </p:sp>
      <p:sp>
        <p:nvSpPr>
          <p:cNvPr id="9" name="Text 7"/>
          <p:cNvSpPr/>
          <p:nvPr/>
        </p:nvSpPr>
        <p:spPr>
          <a:xfrm>
            <a:off x="777240" y="3063240"/>
            <a:ext cx="502920" cy="502920"/>
          </a:xfrm>
          <a:prstGeom prst="rect">
            <a:avLst/>
          </a:prstGeom>
          <a:noFill/>
          <a:ln/>
        </p:spPr>
        <p:txBody>
          <a:bodyPr wrap="square" lIns="0" tIns="0" rIns="0" bIns="0" rtlCol="0" anchor="ctr"/>
          <a:lstStyle/>
          <a:p>
            <a:pPr marL="0" indent="0">
              <a:buNone/>
            </a:pPr>
            <a:r>
              <a:rPr lang="en-US" sz="2000" b="1" dirty="0">
                <a:solidFill>
                  <a:srgbClr val="1F4E78"/>
                </a:solidFill>
              </a:rPr>
              <a:t>02</a:t>
            </a:r>
            <a:endParaRPr lang="en-US" sz="2000" dirty="0"/>
          </a:p>
        </p:txBody>
      </p:sp>
      <p:sp>
        <p:nvSpPr>
          <p:cNvPr id="10" name="Text 8"/>
          <p:cNvSpPr/>
          <p:nvPr/>
        </p:nvSpPr>
        <p:spPr>
          <a:xfrm>
            <a:off x="1417320" y="3118665"/>
            <a:ext cx="2926080" cy="292608"/>
          </a:xfrm>
          <a:prstGeom prst="rect">
            <a:avLst/>
          </a:prstGeom>
          <a:noFill/>
          <a:ln/>
        </p:spPr>
        <p:txBody>
          <a:bodyPr wrap="square" lIns="0" tIns="0" rIns="0" bIns="0" rtlCol="0" anchor="ctr">
            <a:normAutofit fontScale="92500"/>
          </a:bodyPr>
          <a:lstStyle/>
          <a:p>
            <a:r>
              <a:rPr lang="en-US"/>
              <a:t>Sàng lọc và tiền khả thi dự án</a:t>
            </a:r>
            <a:endParaRPr/>
          </a:p>
        </p:txBody>
      </p:sp>
      <p:sp>
        <p:nvSpPr>
          <p:cNvPr id="11" name="Text 9"/>
          <p:cNvSpPr/>
          <p:nvPr/>
        </p:nvSpPr>
        <p:spPr>
          <a:xfrm>
            <a:off x="4389120" y="3044952"/>
            <a:ext cx="6629400" cy="457200"/>
          </a:xfrm>
          <a:prstGeom prst="rect">
            <a:avLst/>
          </a:prstGeom>
          <a:noFill/>
          <a:ln/>
        </p:spPr>
        <p:txBody>
          <a:bodyPr wrap="square" lIns="0" tIns="0" rIns="0" bIns="0" rtlCol="0" anchor="ctr">
            <a:normAutofit fontScale="92500" lnSpcReduction="20000"/>
          </a:bodyPr>
          <a:lstStyle/>
          <a:p>
            <a:r>
              <a:rPr lang="en-US"/>
              <a:t>Báo cáo định lượng phân bố sinh khối và tổng trữ lượng các-bon ước tính của lâm phần.</a:t>
            </a:r>
            <a:endParaRPr/>
          </a:p>
        </p:txBody>
      </p:sp>
      <p:sp>
        <p:nvSpPr>
          <p:cNvPr id="12" name="Shape 10"/>
          <p:cNvSpPr/>
          <p:nvPr/>
        </p:nvSpPr>
        <p:spPr>
          <a:xfrm>
            <a:off x="1417320" y="3639312"/>
            <a:ext cx="9601200" cy="0"/>
          </a:xfrm>
          <a:prstGeom prst="line">
            <a:avLst/>
          </a:prstGeom>
          <a:noFill/>
          <a:ln w="12700">
            <a:solidFill>
              <a:srgbClr val="DDE4EC"/>
            </a:solidFill>
            <a:prstDash val="solid"/>
          </a:ln>
        </p:spPr>
        <p:txBody>
          <a:bodyPr/>
          <a:lstStyle/>
          <a:p>
            <a:endParaRPr lang="en-US"/>
          </a:p>
        </p:txBody>
      </p:sp>
      <p:sp>
        <p:nvSpPr>
          <p:cNvPr id="13" name="Text 11"/>
          <p:cNvSpPr/>
          <p:nvPr/>
        </p:nvSpPr>
        <p:spPr>
          <a:xfrm>
            <a:off x="777240" y="4023360"/>
            <a:ext cx="502920" cy="502920"/>
          </a:xfrm>
          <a:prstGeom prst="rect">
            <a:avLst/>
          </a:prstGeom>
          <a:noFill/>
          <a:ln/>
        </p:spPr>
        <p:txBody>
          <a:bodyPr wrap="square" lIns="0" tIns="0" rIns="0" bIns="0" rtlCol="0" anchor="ctr"/>
          <a:lstStyle/>
          <a:p>
            <a:pPr marL="0" indent="0">
              <a:buNone/>
            </a:pPr>
            <a:r>
              <a:rPr lang="en-US" sz="2000" b="1" dirty="0">
                <a:solidFill>
                  <a:srgbClr val="1F4E78"/>
                </a:solidFill>
              </a:rPr>
              <a:t>03</a:t>
            </a:r>
            <a:endParaRPr lang="en-US" sz="2000" dirty="0"/>
          </a:p>
        </p:txBody>
      </p:sp>
      <p:sp>
        <p:nvSpPr>
          <p:cNvPr id="14" name="Text 12"/>
          <p:cNvSpPr/>
          <p:nvPr/>
        </p:nvSpPr>
        <p:spPr>
          <a:xfrm>
            <a:off x="1280160" y="4105656"/>
            <a:ext cx="2926080" cy="338890"/>
          </a:xfrm>
          <a:prstGeom prst="rect">
            <a:avLst/>
          </a:prstGeom>
          <a:noFill/>
          <a:ln/>
        </p:spPr>
        <p:txBody>
          <a:bodyPr wrap="square" lIns="0" tIns="0" rIns="0" bIns="0" rtlCol="0" anchor="ctr">
            <a:noAutofit/>
          </a:bodyPr>
          <a:lstStyle/>
          <a:p>
            <a:r>
              <a:rPr lang="en-US" sz="1700"/>
              <a:t>Giám sát định kỳ và đo đạc tốc độ hấp thụ</a:t>
            </a:r>
          </a:p>
        </p:txBody>
      </p:sp>
      <mc:AlternateContent xmlns:mc="http://schemas.openxmlformats.org/markup-compatibility/2006">
        <mc:Choice xmlns:a14="http://schemas.microsoft.com/office/drawing/2010/main" Requires="a14">
          <p:sp>
            <p:nvSpPr>
              <p:cNvPr id="15" name="Text 13"/>
              <p:cNvSpPr/>
              <p:nvPr/>
            </p:nvSpPr>
            <p:spPr>
              <a:xfrm>
                <a:off x="4389120" y="4005072"/>
                <a:ext cx="6629400" cy="457200"/>
              </a:xfrm>
              <a:prstGeom prst="rect">
                <a:avLst/>
              </a:prstGeom>
              <a:noFill/>
              <a:ln/>
            </p:spPr>
            <p:txBody>
              <a:bodyPr wrap="square" lIns="0" tIns="0" rIns="0" bIns="0" rtlCol="0" anchor="ctr">
                <a:normAutofit fontScale="92500" lnSpcReduction="20000"/>
              </a:bodyPr>
              <a:lstStyle/>
              <a:p>
                <a:r>
                  <a:rPr lang="en-US"/>
                  <a:t>Bản đồ biến động trữ lượng giữa 2 kỳ bay và bảng tính tốc độ hấp thụ bình quân (</a:t>
                </a:r>
                <a14:m>
                  <m:oMath xmlns:m="http://schemas.openxmlformats.org/officeDocument/2006/math">
                    <m:r>
                      <a:rPr lang="en-US" i="1"/>
                      <m:t>𝑡𝐶</m:t>
                    </m:r>
                    <m:sSub>
                      <m:sSubPr>
                        <m:ctrlPr>
                          <a:rPr lang="en-US" i="1"/>
                        </m:ctrlPr>
                      </m:sSubPr>
                      <m:e>
                        <m:r>
                          <a:rPr lang="en-US" i="1"/>
                          <m:t>𝑂</m:t>
                        </m:r>
                      </m:e>
                      <m:sub>
                        <m:r>
                          <a:rPr lang="en-US"/>
                          <m:t>2</m:t>
                        </m:r>
                      </m:sub>
                    </m:sSub>
                    <m:r>
                      <a:rPr lang="en-US" i="1"/>
                      <m:t>𝑒</m:t>
                    </m:r>
                    <m:r>
                      <a:rPr lang="en-US"/>
                      <m:t>/</m:t>
                    </m:r>
                    <m:r>
                      <a:rPr lang="en-US" i="1"/>
                      <m:t>ℎ𝑎</m:t>
                    </m:r>
                    <m:r>
                      <a:rPr lang="en-US"/>
                      <m:t>/</m:t>
                    </m:r>
                    <m:r>
                      <a:rPr lang="en-US" i="1"/>
                      <m:t>𝑛</m:t>
                    </m:r>
                    <m:r>
                      <a:rPr lang="en-US"/>
                      <m:t>ă</m:t>
                    </m:r>
                    <m:r>
                      <a:rPr lang="en-US" i="1"/>
                      <m:t>𝑚</m:t>
                    </m:r>
                  </m:oMath>
                </a14:m>
                <a:r>
                  <a:rPr lang="en-US"/>
                  <a:t>).</a:t>
                </a:r>
                <a:endParaRPr/>
              </a:p>
            </p:txBody>
          </p:sp>
        </mc:Choice>
        <mc:Fallback>
          <p:sp>
            <p:nvSpPr>
              <p:cNvPr id="15" name="Text 13"/>
              <p:cNvSpPr>
                <a:spLocks noRot="1" noChangeAspect="1" noMove="1" noResize="1" noEditPoints="1" noAdjustHandles="1" noChangeArrowheads="1" noChangeShapeType="1" noTextEdit="1"/>
              </p:cNvSpPr>
              <p:nvPr/>
            </p:nvSpPr>
            <p:spPr>
              <a:xfrm>
                <a:off x="4389120" y="4005072"/>
                <a:ext cx="6629400" cy="457200"/>
              </a:xfrm>
              <a:prstGeom prst="rect">
                <a:avLst/>
              </a:prstGeom>
              <a:blipFill>
                <a:blip r:embed="rId4"/>
                <a:stretch>
                  <a:fillRect l="-1930" t="-20000" b="-24000"/>
                </a:stretch>
              </a:blipFill>
              <a:ln/>
            </p:spPr>
            <p:txBody>
              <a:bodyPr/>
              <a:lstStyle/>
              <a:p>
                <a:r>
                  <a:rPr lang="en-US">
                    <a:noFill/>
                  </a:rPr>
                  <a:t> </a:t>
                </a:r>
              </a:p>
            </p:txBody>
          </p:sp>
        </mc:Fallback>
      </mc:AlternateContent>
      <p:sp>
        <p:nvSpPr>
          <p:cNvPr id="16" name="Shape 14"/>
          <p:cNvSpPr/>
          <p:nvPr/>
        </p:nvSpPr>
        <p:spPr>
          <a:xfrm>
            <a:off x="1417320" y="4599432"/>
            <a:ext cx="9601200" cy="0"/>
          </a:xfrm>
          <a:prstGeom prst="line">
            <a:avLst/>
          </a:prstGeom>
          <a:noFill/>
          <a:ln w="12700">
            <a:solidFill>
              <a:srgbClr val="DDE4EC"/>
            </a:solidFill>
            <a:prstDash val="solid"/>
          </a:ln>
        </p:spPr>
        <p:txBody>
          <a:bodyPr/>
          <a:lstStyle/>
          <a:p>
            <a:endParaRPr lang="en-US"/>
          </a:p>
        </p:txBody>
      </p:sp>
      <p:sp>
        <p:nvSpPr>
          <p:cNvPr id="17" name="Text 15"/>
          <p:cNvSpPr/>
          <p:nvPr/>
        </p:nvSpPr>
        <p:spPr>
          <a:xfrm>
            <a:off x="777240" y="4983480"/>
            <a:ext cx="502920" cy="502920"/>
          </a:xfrm>
          <a:prstGeom prst="rect">
            <a:avLst/>
          </a:prstGeom>
          <a:noFill/>
          <a:ln/>
        </p:spPr>
        <p:txBody>
          <a:bodyPr wrap="square" lIns="0" tIns="0" rIns="0" bIns="0" rtlCol="0" anchor="ctr"/>
          <a:lstStyle/>
          <a:p>
            <a:pPr marL="0" indent="0">
              <a:buNone/>
            </a:pPr>
            <a:r>
              <a:rPr lang="en-US" sz="2000" b="1" dirty="0">
                <a:solidFill>
                  <a:srgbClr val="1F4E78"/>
                </a:solidFill>
              </a:rPr>
              <a:t>04</a:t>
            </a:r>
            <a:endParaRPr lang="en-US" sz="2000" dirty="0"/>
          </a:p>
        </p:txBody>
      </p:sp>
      <p:sp>
        <p:nvSpPr>
          <p:cNvPr id="18" name="Text 16"/>
          <p:cNvSpPr/>
          <p:nvPr/>
        </p:nvSpPr>
        <p:spPr>
          <a:xfrm>
            <a:off x="1280160" y="5038905"/>
            <a:ext cx="2926080" cy="292608"/>
          </a:xfrm>
          <a:prstGeom prst="rect">
            <a:avLst/>
          </a:prstGeom>
          <a:noFill/>
          <a:ln/>
        </p:spPr>
        <p:txBody>
          <a:bodyPr wrap="square" lIns="0" tIns="0" rIns="0" bIns="0" rtlCol="0" anchor="ctr">
            <a:noAutofit/>
          </a:bodyPr>
          <a:lstStyle/>
          <a:p>
            <a:r>
              <a:rPr lang="en-US" sz="1700"/>
              <a:t>Hỗ trợ định giá tài nguyên rừng và lập phương án quản lý bền vững</a:t>
            </a:r>
            <a:endParaRPr sz="1700"/>
          </a:p>
        </p:txBody>
      </p:sp>
      <p:sp>
        <p:nvSpPr>
          <p:cNvPr id="19" name="Text 17"/>
          <p:cNvSpPr/>
          <p:nvPr/>
        </p:nvSpPr>
        <p:spPr>
          <a:xfrm>
            <a:off x="4389120" y="4965192"/>
            <a:ext cx="6629400" cy="457200"/>
          </a:xfrm>
          <a:prstGeom prst="rect">
            <a:avLst/>
          </a:prstGeom>
          <a:noFill/>
          <a:ln/>
        </p:spPr>
        <p:txBody>
          <a:bodyPr wrap="square" lIns="0" tIns="0" rIns="0" bIns="0" rtlCol="0" anchor="ctr">
            <a:normAutofit fontScale="92500" lnSpcReduction="20000"/>
          </a:bodyPr>
          <a:lstStyle/>
          <a:p>
            <a:r>
              <a:rPr lang="en-US"/>
              <a:t>Bộ dữ liệu GIS cấu trúc 3D lâm phần, số lượng cây đơn lẻ và trữ lượng gỗ/sinh khối chi tiết theo tiểu khu. </a:t>
            </a:r>
            <a:endParaRPr/>
          </a:p>
        </p:txBody>
      </p:sp>
      <p:sp>
        <p:nvSpPr>
          <p:cNvPr id="20" name="Shape 18"/>
          <p:cNvSpPr/>
          <p:nvPr/>
        </p:nvSpPr>
        <p:spPr>
          <a:xfrm>
            <a:off x="1417320" y="5696712"/>
            <a:ext cx="9601200" cy="0"/>
          </a:xfrm>
          <a:prstGeom prst="line">
            <a:avLst/>
          </a:prstGeom>
          <a:noFill/>
          <a:ln w="12700">
            <a:solidFill>
              <a:srgbClr val="DDE4EC"/>
            </a:solidFill>
            <a:prstDash val="solid"/>
          </a:ln>
        </p:spPr>
        <p:txBody>
          <a:bodyPr/>
          <a:lstStyle/>
          <a:p>
            <a:endParaRPr lang="en-US"/>
          </a:p>
        </p:txBody>
      </p:sp>
      <p:sp>
        <p:nvSpPr>
          <p:cNvPr id="21" name="Text 19"/>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Use Case lấy từ Group 1, không tạo tình huống bán hàng không có căn cứ.</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06. SERVICE LEVELS / OPTIONS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Khách hàng có thể lựa chọn cấu hình dịch vụ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OPTIONS</a:t>
            </a:r>
            <a:endParaRPr lang="en-US" sz="850" dirty="0"/>
          </a:p>
        </p:txBody>
      </p:sp>
      <p:sp>
        <p:nvSpPr>
          <p:cNvPr id="5" name="Shape 3"/>
          <p:cNvSpPr/>
          <p:nvPr/>
        </p:nvSpPr>
        <p:spPr>
          <a:xfrm>
            <a:off x="685800" y="1874520"/>
            <a:ext cx="3337560" cy="333756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85800" y="1874520"/>
            <a:ext cx="64008" cy="3337560"/>
          </a:xfrm>
          <a:prstGeom prst="rect">
            <a:avLst/>
          </a:prstGeom>
          <a:solidFill>
            <a:srgbClr val="1F4E78"/>
          </a:solidFill>
          <a:ln w="12700">
            <a:solidFill>
              <a:srgbClr val="1F4E78"/>
            </a:solidFill>
            <a:prstDash val="solid"/>
          </a:ln>
        </p:spPr>
        <p:txBody>
          <a:bodyPr/>
          <a:lstStyle/>
          <a:p>
            <a:endParaRPr lang="en-US"/>
          </a:p>
        </p:txBody>
      </p:sp>
      <p:sp>
        <p:nvSpPr>
          <p:cNvPr id="7" name="Text 5"/>
          <p:cNvSpPr/>
          <p:nvPr/>
        </p:nvSpPr>
        <p:spPr>
          <a:xfrm>
            <a:off x="886968" y="2039112"/>
            <a:ext cx="2990088" cy="420624"/>
          </a:xfrm>
          <a:prstGeom prst="rect">
            <a:avLst/>
          </a:prstGeom>
          <a:noFill/>
          <a:ln/>
        </p:spPr>
        <p:txBody>
          <a:bodyPr wrap="square" lIns="0" tIns="0" rIns="0" bIns="0" rtlCol="0" anchor="ctr">
            <a:normAutofit fontScale="92500" lnSpcReduction="20000"/>
          </a:bodyPr>
          <a:lstStyle/>
          <a:p>
            <a:r>
              <a:t>LEVEL 1 — </a:t>
            </a:r>
            <a:r>
              <a:rPr lang="en-US"/>
              <a:t>Bản đồ các-bon nền(1 kì bay)</a:t>
            </a:r>
            <a:endParaRPr/>
          </a:p>
        </p:txBody>
      </p:sp>
      <mc:AlternateContent xmlns:mc="http://schemas.openxmlformats.org/markup-compatibility/2006">
        <mc:Choice xmlns:a14="http://schemas.microsoft.com/office/drawing/2010/main" Requires="a14">
          <p:sp>
            <p:nvSpPr>
              <p:cNvPr id="8" name="Text 6"/>
              <p:cNvSpPr/>
              <p:nvPr/>
            </p:nvSpPr>
            <p:spPr>
              <a:xfrm>
                <a:off x="886968" y="2404872"/>
                <a:ext cx="2990088" cy="2679192"/>
              </a:xfrm>
              <a:prstGeom prst="rect">
                <a:avLst/>
              </a:prstGeom>
              <a:noFill/>
              <a:ln/>
            </p:spPr>
            <p:txBody>
              <a:bodyPr wrap="square" lIns="254" tIns="254" rIns="254" bIns="254" rtlCol="0" anchor="ctr">
                <a:normAutofit/>
              </a:bodyPr>
              <a:lstStyle/>
              <a:p>
                <a:r>
                  <a:rPr lang="en-US"/>
                  <a:t>Bay quét UAV LiDAR + Camera RGB kết hợp đo ô mẫu mặt đất </a:t>
                </a:r>
                <a14:m>
                  <m:oMath xmlns:m="http://schemas.openxmlformats.org/officeDocument/2006/math">
                    <m:r>
                      <a:rPr lang="en-US"/>
                      <m:t>→</m:t>
                    </m:r>
                  </m:oMath>
                </a14:m>
                <a:r>
                  <a:rPr lang="en-US"/>
                  <a:t>Dữ liệu đám mây điểm, mô hình DTM/DSM/CHM &amp; Bản đồ trữ lượng các-bon tổng thể theo lô.</a:t>
                </a:r>
                <a:endParaRPr/>
              </a:p>
            </p:txBody>
          </p:sp>
        </mc:Choice>
        <mc:Fallback>
          <p:sp>
            <p:nvSpPr>
              <p:cNvPr id="8" name="Text 6"/>
              <p:cNvSpPr>
                <a:spLocks noRot="1" noChangeAspect="1" noMove="1" noResize="1" noEditPoints="1" noAdjustHandles="1" noChangeArrowheads="1" noChangeShapeType="1" noTextEdit="1"/>
              </p:cNvSpPr>
              <p:nvPr/>
            </p:nvSpPr>
            <p:spPr>
              <a:xfrm>
                <a:off x="886968" y="2404872"/>
                <a:ext cx="2990088" cy="2679192"/>
              </a:xfrm>
              <a:prstGeom prst="rect">
                <a:avLst/>
              </a:prstGeom>
              <a:blipFill>
                <a:blip r:embed="rId3"/>
                <a:stretch>
                  <a:fillRect l="-4898"/>
                </a:stretch>
              </a:blipFill>
              <a:ln/>
            </p:spPr>
            <p:txBody>
              <a:bodyPr/>
              <a:lstStyle/>
              <a:p>
                <a:r>
                  <a:rPr lang="en-US">
                    <a:noFill/>
                  </a:rPr>
                  <a:t> </a:t>
                </a:r>
              </a:p>
            </p:txBody>
          </p:sp>
        </mc:Fallback>
      </mc:AlternateContent>
      <p:sp>
        <p:nvSpPr>
          <p:cNvPr id="9" name="Shape 7"/>
          <p:cNvSpPr/>
          <p:nvPr/>
        </p:nvSpPr>
        <p:spPr>
          <a:xfrm>
            <a:off x="4434840" y="1874520"/>
            <a:ext cx="3337560" cy="333756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4434840" y="1874520"/>
            <a:ext cx="64008" cy="3337560"/>
          </a:xfrm>
          <a:prstGeom prst="rect">
            <a:avLst/>
          </a:prstGeom>
          <a:solidFill>
            <a:srgbClr val="C89B3C"/>
          </a:solidFill>
          <a:ln w="12700">
            <a:solidFill>
              <a:srgbClr val="C89B3C"/>
            </a:solidFill>
            <a:prstDash val="solid"/>
          </a:ln>
        </p:spPr>
        <p:txBody>
          <a:bodyPr/>
          <a:lstStyle/>
          <a:p>
            <a:endParaRPr lang="en-US"/>
          </a:p>
        </p:txBody>
      </p:sp>
      <p:sp>
        <p:nvSpPr>
          <p:cNvPr id="11" name="Text 9"/>
          <p:cNvSpPr/>
          <p:nvPr/>
        </p:nvSpPr>
        <p:spPr>
          <a:xfrm>
            <a:off x="4636008" y="2039112"/>
            <a:ext cx="2990088" cy="292608"/>
          </a:xfrm>
          <a:prstGeom prst="rect">
            <a:avLst/>
          </a:prstGeom>
          <a:noFill/>
          <a:ln/>
        </p:spPr>
        <p:txBody>
          <a:bodyPr wrap="square" lIns="0" tIns="0" rIns="0" bIns="0" rtlCol="0" anchor="ctr">
            <a:normAutofit fontScale="92500"/>
          </a:bodyPr>
          <a:lstStyle/>
          <a:p>
            <a:r>
              <a:rPr lang="en-US"/>
              <a:t>LEVEL 2 — Tách Cây Đơn Lẻ</a:t>
            </a:r>
            <a:endParaRPr/>
          </a:p>
        </p:txBody>
      </p:sp>
      <mc:AlternateContent xmlns:mc="http://schemas.openxmlformats.org/markup-compatibility/2006">
        <mc:Choice xmlns:a14="http://schemas.microsoft.com/office/drawing/2010/main" Requires="a14">
          <p:sp>
            <p:nvSpPr>
              <p:cNvPr id="12" name="Text 10"/>
              <p:cNvSpPr/>
              <p:nvPr/>
            </p:nvSpPr>
            <p:spPr>
              <a:xfrm>
                <a:off x="4636008" y="2404872"/>
                <a:ext cx="2990088" cy="2679192"/>
              </a:xfrm>
              <a:prstGeom prst="rect">
                <a:avLst/>
              </a:prstGeom>
              <a:noFill/>
              <a:ln/>
            </p:spPr>
            <p:txBody>
              <a:bodyPr wrap="square" lIns="254" tIns="254" rIns="254" bIns="254" rtlCol="0" anchor="ctr">
                <a:normAutofit fontScale="85000" lnSpcReduction="10000"/>
              </a:bodyPr>
              <a:lstStyle/>
              <a:p>
                <a:r>
                  <a:rPr lang="en-US"/>
                  <a:t>Level 1 + Camera Đa phổ + Thuật toán AI tách cây đơn lẻ </a:t>
                </a:r>
                <a14:m>
                  <m:oMath xmlns:m="http://schemas.openxmlformats.org/officeDocument/2006/math">
                    <m:r>
                      <a:rPr lang="en-US"/>
                      <m:t>→</m:t>
                    </m:r>
                  </m:oMath>
                </a14:m>
                <a:r>
                  <a:rPr lang="en-US"/>
                  <a:t>Lớp dữ liệu từng cây (tọa độ, chiều cao, diện tích tán) &amp; Bản đồ các-bon độ chính xác cao</a:t>
                </a:r>
                <a:endParaRPr/>
              </a:p>
            </p:txBody>
          </p:sp>
        </mc:Choice>
        <mc:Fallback>
          <p:sp>
            <p:nvSpPr>
              <p:cNvPr id="12" name="Text 10"/>
              <p:cNvSpPr>
                <a:spLocks noRot="1" noChangeAspect="1" noMove="1" noResize="1" noEditPoints="1" noAdjustHandles="1" noChangeArrowheads="1" noChangeShapeType="1" noTextEdit="1"/>
              </p:cNvSpPr>
              <p:nvPr/>
            </p:nvSpPr>
            <p:spPr>
              <a:xfrm>
                <a:off x="4636008" y="2404872"/>
                <a:ext cx="2990088" cy="2679192"/>
              </a:xfrm>
              <a:prstGeom prst="rect">
                <a:avLst/>
              </a:prstGeom>
              <a:blipFill>
                <a:blip r:embed="rId4"/>
                <a:stretch>
                  <a:fillRect l="-3878" r="-3878"/>
                </a:stretch>
              </a:blipFill>
              <a:ln/>
            </p:spPr>
            <p:txBody>
              <a:bodyPr/>
              <a:lstStyle/>
              <a:p>
                <a:r>
                  <a:rPr lang="en-US">
                    <a:noFill/>
                  </a:rPr>
                  <a:t> </a:t>
                </a:r>
              </a:p>
            </p:txBody>
          </p:sp>
        </mc:Fallback>
      </mc:AlternateContent>
      <p:sp>
        <p:nvSpPr>
          <p:cNvPr id="13" name="Shape 11"/>
          <p:cNvSpPr/>
          <p:nvPr/>
        </p:nvSpPr>
        <p:spPr>
          <a:xfrm>
            <a:off x="8183880" y="1874520"/>
            <a:ext cx="3337560" cy="333756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8183880" y="1874520"/>
            <a:ext cx="64008" cy="3337560"/>
          </a:xfrm>
          <a:prstGeom prst="rect">
            <a:avLst/>
          </a:prstGeom>
          <a:solidFill>
            <a:srgbClr val="1F4E78"/>
          </a:solidFill>
          <a:ln w="12700">
            <a:solidFill>
              <a:srgbClr val="1F4E78"/>
            </a:solidFill>
            <a:prstDash val="solid"/>
          </a:ln>
        </p:spPr>
        <p:txBody>
          <a:bodyPr/>
          <a:lstStyle/>
          <a:p>
            <a:endParaRPr lang="en-US"/>
          </a:p>
        </p:txBody>
      </p:sp>
      <p:sp>
        <p:nvSpPr>
          <p:cNvPr id="15" name="Text 13"/>
          <p:cNvSpPr/>
          <p:nvPr/>
        </p:nvSpPr>
        <p:spPr>
          <a:xfrm>
            <a:off x="8385048" y="2039112"/>
            <a:ext cx="2990088" cy="292608"/>
          </a:xfrm>
          <a:prstGeom prst="rect">
            <a:avLst/>
          </a:prstGeom>
          <a:noFill/>
          <a:ln/>
        </p:spPr>
        <p:txBody>
          <a:bodyPr wrap="square" lIns="0" tIns="0" rIns="0" bIns="0" rtlCol="0" anchor="ctr">
            <a:normAutofit fontScale="77500" lnSpcReduction="20000"/>
          </a:bodyPr>
          <a:lstStyle/>
          <a:p>
            <a:r>
              <a:rPr lang="en-US"/>
              <a:t>LEVEL 3 — Giám Sát Hấp Thụ Đa Kỳ</a:t>
            </a:r>
            <a:endParaRPr/>
          </a:p>
        </p:txBody>
      </p:sp>
      <mc:AlternateContent xmlns:mc="http://schemas.openxmlformats.org/markup-compatibility/2006">
        <mc:Choice xmlns:a14="http://schemas.microsoft.com/office/drawing/2010/main" Requires="a14">
          <p:sp>
            <p:nvSpPr>
              <p:cNvPr id="16" name="Text 14"/>
              <p:cNvSpPr/>
              <p:nvPr/>
            </p:nvSpPr>
            <p:spPr>
              <a:xfrm>
                <a:off x="8385048" y="2404872"/>
                <a:ext cx="2990088" cy="2679192"/>
              </a:xfrm>
              <a:prstGeom prst="rect">
                <a:avLst/>
              </a:prstGeom>
              <a:noFill/>
              <a:ln/>
            </p:spPr>
            <p:txBody>
              <a:bodyPr wrap="square" lIns="254" tIns="254" rIns="254" bIns="254" rtlCol="0" anchor="ctr">
                <a:normAutofit fontScale="85000" lnSpcReduction="10000"/>
              </a:bodyPr>
              <a:lstStyle/>
              <a:p>
                <a:r>
                  <a:rPr lang="en-US"/>
                  <a:t>Level 2 + Bay lặp lại theo chu kỳ (2-3 năm) + Phân tích chuỗi thời gian sinh khối </a:t>
                </a:r>
                <a14:m>
                  <m:oMath xmlns:m="http://schemas.openxmlformats.org/officeDocument/2006/math">
                    <m:r>
                      <a:rPr lang="en-US"/>
                      <m:t>→</m:t>
                    </m:r>
                  </m:oMath>
                </a14:m>
                <a:r>
                  <a:rPr lang="en-US"/>
                  <a:t>Bản đồ biến động, báo cáo tốc độ hấp thụ (</a:t>
                </a:r>
                <a14:m>
                  <m:oMath xmlns:m="http://schemas.openxmlformats.org/officeDocument/2006/math">
                    <m:r>
                      <a:rPr lang="en-US" i="1"/>
                      <m:t>𝑡𝐶</m:t>
                    </m:r>
                    <m:sSub>
                      <m:sSubPr>
                        <m:ctrlPr>
                          <a:rPr lang="en-US" i="1"/>
                        </m:ctrlPr>
                      </m:sSubPr>
                      <m:e>
                        <m:r>
                          <a:rPr lang="en-US" i="1"/>
                          <m:t>𝑂</m:t>
                        </m:r>
                      </m:e>
                      <m:sub>
                        <m:r>
                          <a:rPr lang="en-US"/>
                          <m:t>2</m:t>
                        </m:r>
                      </m:sub>
                    </m:sSub>
                    <m:r>
                      <a:rPr lang="en-US" i="1"/>
                      <m:t>𝑒</m:t>
                    </m:r>
                    <m:r>
                      <a:rPr lang="en-US"/>
                      <m:t>/</m:t>
                    </m:r>
                    <m:r>
                      <a:rPr lang="en-US" i="1"/>
                      <m:t>ℎ𝑎</m:t>
                    </m:r>
                    <m:r>
                      <a:rPr lang="en-US"/>
                      <m:t>/</m:t>
                    </m:r>
                    <m:r>
                      <a:rPr lang="en-US" i="1"/>
                      <m:t>𝑛</m:t>
                    </m:r>
                    <m:r>
                      <a:rPr lang="en-US"/>
                      <m:t>ă</m:t>
                    </m:r>
                    <m:r>
                      <a:rPr lang="en-US" i="1"/>
                      <m:t>𝑚</m:t>
                    </m:r>
                  </m:oMath>
                </a14:m>
                <a:r>
                  <a:rPr lang="en-US"/>
                  <a:t>) &amp; Web Dashboard GIS. </a:t>
                </a:r>
                <a:endParaRPr dirty="0"/>
              </a:p>
            </p:txBody>
          </p:sp>
        </mc:Choice>
        <mc:Fallback>
          <p:sp>
            <p:nvSpPr>
              <p:cNvPr id="16" name="Text 14"/>
              <p:cNvSpPr>
                <a:spLocks noRot="1" noChangeAspect="1" noMove="1" noResize="1" noEditPoints="1" noAdjustHandles="1" noChangeArrowheads="1" noChangeShapeType="1" noTextEdit="1"/>
              </p:cNvSpPr>
              <p:nvPr/>
            </p:nvSpPr>
            <p:spPr>
              <a:xfrm>
                <a:off x="8385048" y="2404872"/>
                <a:ext cx="2990088" cy="2679192"/>
              </a:xfrm>
              <a:prstGeom prst="rect">
                <a:avLst/>
              </a:prstGeom>
              <a:blipFill>
                <a:blip r:embed="rId5"/>
                <a:stretch>
                  <a:fillRect l="-3878" r="-3673"/>
                </a:stretch>
              </a:blipFill>
              <a:ln/>
            </p:spPr>
            <p:txBody>
              <a:bodyPr/>
              <a:lstStyle/>
              <a:p>
                <a:r>
                  <a:rPr lang="en-US">
                    <a:noFill/>
                  </a:rPr>
                  <a:t> </a:t>
                </a:r>
              </a:p>
            </p:txBody>
          </p:sp>
        </mc:Fallback>
      </mc:AlternateContent>
      <p:sp>
        <p:nvSpPr>
          <p:cNvPr id="17" name="Text 15"/>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Không đưa giá chi tiết vào Sales Kit; tham chiếu File 07 Pricing.</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07. HOW IT WORKS &amp; DELIVERABLES</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Dịch vụ vận hành ở mức khách hàng cần hiểu như thế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HOW IT WORKS</a:t>
            </a:r>
            <a:endParaRPr lang="en-US" sz="850" dirty="0"/>
          </a:p>
        </p:txBody>
      </p:sp>
      <p:sp>
        <p:nvSpPr>
          <p:cNvPr id="5" name="Shape 3"/>
          <p:cNvSpPr/>
          <p:nvPr/>
        </p:nvSpPr>
        <p:spPr>
          <a:xfrm>
            <a:off x="640080" y="1783080"/>
            <a:ext cx="1508760" cy="731520"/>
          </a:xfrm>
          <a:prstGeom prst="roundRect">
            <a:avLst/>
          </a:prstGeom>
          <a:solidFill>
            <a:srgbClr val="FFFFFF"/>
          </a:solidFill>
          <a:ln w="12700">
            <a:solidFill>
              <a:srgbClr val="1F4E78"/>
            </a:solidFill>
            <a:prstDash val="solid"/>
          </a:ln>
        </p:spPr>
        <p:txBody>
          <a:bodyPr/>
          <a:lstStyle/>
          <a:p>
            <a:endParaRPr lang="en-US"/>
          </a:p>
        </p:txBody>
      </p:sp>
      <p:sp>
        <p:nvSpPr>
          <p:cNvPr id="6" name="Text 4"/>
          <p:cNvSpPr/>
          <p:nvPr/>
        </p:nvSpPr>
        <p:spPr>
          <a:xfrm>
            <a:off x="713232" y="1984996"/>
            <a:ext cx="1353312" cy="320040"/>
          </a:xfrm>
          <a:prstGeom prst="rect">
            <a:avLst/>
          </a:prstGeom>
          <a:noFill/>
          <a:ln/>
        </p:spPr>
        <p:txBody>
          <a:bodyPr wrap="square" lIns="0" tIns="0" rIns="0" bIns="0" rtlCol="0" anchor="ctr">
            <a:normAutofit fontScale="70000" lnSpcReduction="20000"/>
          </a:bodyPr>
          <a:lstStyle/>
          <a:p>
            <a:pPr algn="ctr"/>
            <a:r>
              <a:rPr dirty="0" err="1"/>
              <a:t>Xác</a:t>
            </a:r>
            <a:r>
              <a:rPr dirty="0"/>
              <a:t> </a:t>
            </a:r>
            <a:r>
              <a:rPr dirty="0" err="1"/>
              <a:t>nhận</a:t>
            </a:r>
            <a:endParaRPr lang="en-US" dirty="0"/>
          </a:p>
          <a:p>
            <a:pPr algn="ctr"/>
            <a:r>
              <a:rPr dirty="0"/>
              <a:t>Scope</a:t>
            </a:r>
          </a:p>
        </p:txBody>
      </p:sp>
      <p:sp>
        <p:nvSpPr>
          <p:cNvPr id="7" name="Text 5"/>
          <p:cNvSpPr/>
          <p:nvPr/>
        </p:nvSpPr>
        <p:spPr>
          <a:xfrm>
            <a:off x="2176272" y="1938528"/>
            <a:ext cx="228600" cy="274320"/>
          </a:xfrm>
          <a:prstGeom prst="rect">
            <a:avLst/>
          </a:prstGeom>
          <a:noFill/>
          <a:ln/>
        </p:spPr>
        <p:txBody>
          <a:bodyPr wrap="square" lIns="0" tIns="0" rIns="0" bIns="0" rtlCol="0" anchor="ctr"/>
          <a:lstStyle/>
          <a:p>
            <a:pPr marL="0" indent="0">
              <a:buNone/>
            </a:pPr>
            <a:r>
              <a:rPr lang="en-US" sz="1800" dirty="0">
                <a:solidFill>
                  <a:srgbClr val="1F4E78"/>
                </a:solidFill>
              </a:rPr>
              <a:t>→</a:t>
            </a:r>
            <a:endParaRPr lang="en-US" sz="1800" dirty="0"/>
          </a:p>
        </p:txBody>
      </p:sp>
      <p:sp>
        <p:nvSpPr>
          <p:cNvPr id="8" name="Shape 6"/>
          <p:cNvSpPr/>
          <p:nvPr/>
        </p:nvSpPr>
        <p:spPr>
          <a:xfrm>
            <a:off x="2514600" y="1783080"/>
            <a:ext cx="1508760" cy="731520"/>
          </a:xfrm>
          <a:prstGeom prst="roundRect">
            <a:avLst/>
          </a:prstGeom>
          <a:solidFill>
            <a:srgbClr val="FFFFFF"/>
          </a:solidFill>
          <a:ln w="12700">
            <a:solidFill>
              <a:srgbClr val="1F4E78"/>
            </a:solidFill>
            <a:prstDash val="solid"/>
          </a:ln>
        </p:spPr>
        <p:txBody>
          <a:bodyPr/>
          <a:lstStyle/>
          <a:p>
            <a:endParaRPr lang="en-US"/>
          </a:p>
        </p:txBody>
      </p:sp>
      <p:sp>
        <p:nvSpPr>
          <p:cNvPr id="9" name="Text 7"/>
          <p:cNvSpPr/>
          <p:nvPr/>
        </p:nvSpPr>
        <p:spPr>
          <a:xfrm>
            <a:off x="2587752" y="1984996"/>
            <a:ext cx="1380744" cy="320040"/>
          </a:xfrm>
          <a:prstGeom prst="rect">
            <a:avLst/>
          </a:prstGeom>
          <a:noFill/>
          <a:ln/>
        </p:spPr>
        <p:txBody>
          <a:bodyPr wrap="square" lIns="0" tIns="0" rIns="0" bIns="0" rtlCol="0" anchor="ctr">
            <a:normAutofit fontScale="70000" lnSpcReduction="20000"/>
          </a:bodyPr>
          <a:lstStyle/>
          <a:p>
            <a:pPr algn="ctr"/>
            <a:r>
              <a:rPr lang="en-US"/>
              <a:t>Xin giấy phép bay</a:t>
            </a:r>
            <a:endParaRPr dirty="0"/>
          </a:p>
        </p:txBody>
      </p:sp>
      <p:sp>
        <p:nvSpPr>
          <p:cNvPr id="10" name="Text 8"/>
          <p:cNvSpPr/>
          <p:nvPr/>
        </p:nvSpPr>
        <p:spPr>
          <a:xfrm>
            <a:off x="4050792" y="1938528"/>
            <a:ext cx="228600" cy="274320"/>
          </a:xfrm>
          <a:prstGeom prst="rect">
            <a:avLst/>
          </a:prstGeom>
          <a:noFill/>
          <a:ln/>
        </p:spPr>
        <p:txBody>
          <a:bodyPr wrap="square" lIns="0" tIns="0" rIns="0" bIns="0" rtlCol="0" anchor="ctr"/>
          <a:lstStyle/>
          <a:p>
            <a:pPr marL="0" indent="0">
              <a:buNone/>
            </a:pPr>
            <a:r>
              <a:rPr lang="en-US" sz="1800" dirty="0">
                <a:solidFill>
                  <a:srgbClr val="1F4E78"/>
                </a:solidFill>
              </a:rPr>
              <a:t>→</a:t>
            </a:r>
            <a:endParaRPr lang="en-US" sz="1800" dirty="0"/>
          </a:p>
        </p:txBody>
      </p:sp>
      <p:sp>
        <p:nvSpPr>
          <p:cNvPr id="11" name="Shape 9"/>
          <p:cNvSpPr/>
          <p:nvPr/>
        </p:nvSpPr>
        <p:spPr>
          <a:xfrm>
            <a:off x="4389120" y="1783080"/>
            <a:ext cx="1508760" cy="731520"/>
          </a:xfrm>
          <a:prstGeom prst="roundRect">
            <a:avLst/>
          </a:prstGeom>
          <a:solidFill>
            <a:srgbClr val="FFFFFF"/>
          </a:solidFill>
          <a:ln w="12700">
            <a:solidFill>
              <a:srgbClr val="1F4E78"/>
            </a:solidFill>
            <a:prstDash val="solid"/>
          </a:ln>
        </p:spPr>
        <p:txBody>
          <a:bodyPr/>
          <a:lstStyle/>
          <a:p>
            <a:endParaRPr lang="en-US"/>
          </a:p>
        </p:txBody>
      </p:sp>
      <p:sp>
        <p:nvSpPr>
          <p:cNvPr id="12" name="Text 10"/>
          <p:cNvSpPr/>
          <p:nvPr/>
        </p:nvSpPr>
        <p:spPr>
          <a:xfrm>
            <a:off x="4462272" y="1984996"/>
            <a:ext cx="1353312" cy="320040"/>
          </a:xfrm>
          <a:prstGeom prst="rect">
            <a:avLst/>
          </a:prstGeom>
          <a:noFill/>
          <a:ln/>
        </p:spPr>
        <p:txBody>
          <a:bodyPr wrap="square" lIns="0" tIns="0" rIns="0" bIns="0" rtlCol="0" anchor="ctr">
            <a:normAutofit fontScale="70000" lnSpcReduction="20000"/>
          </a:bodyPr>
          <a:lstStyle/>
          <a:p>
            <a:pPr algn="ctr"/>
            <a:r>
              <a:rPr lang="en-US"/>
              <a:t>Bay LiDAR &amp; Đo Ground-truth</a:t>
            </a:r>
            <a:endParaRPr dirty="0"/>
          </a:p>
        </p:txBody>
      </p:sp>
      <p:sp>
        <p:nvSpPr>
          <p:cNvPr id="13" name="Text 11"/>
          <p:cNvSpPr/>
          <p:nvPr/>
        </p:nvSpPr>
        <p:spPr>
          <a:xfrm>
            <a:off x="5925312" y="1938528"/>
            <a:ext cx="228600" cy="274320"/>
          </a:xfrm>
          <a:prstGeom prst="rect">
            <a:avLst/>
          </a:prstGeom>
          <a:noFill/>
          <a:ln/>
        </p:spPr>
        <p:txBody>
          <a:bodyPr wrap="square" lIns="0" tIns="0" rIns="0" bIns="0" rtlCol="0" anchor="ctr"/>
          <a:lstStyle/>
          <a:p>
            <a:pPr marL="0" indent="0">
              <a:buNone/>
            </a:pPr>
            <a:r>
              <a:rPr lang="en-US" sz="1800" dirty="0">
                <a:solidFill>
                  <a:srgbClr val="1F4E78"/>
                </a:solidFill>
              </a:rPr>
              <a:t>→</a:t>
            </a:r>
            <a:endParaRPr lang="en-US" sz="1800" dirty="0"/>
          </a:p>
        </p:txBody>
      </p:sp>
      <p:sp>
        <p:nvSpPr>
          <p:cNvPr id="14" name="Shape 12"/>
          <p:cNvSpPr/>
          <p:nvPr/>
        </p:nvSpPr>
        <p:spPr>
          <a:xfrm>
            <a:off x="6263640" y="1783080"/>
            <a:ext cx="1508760" cy="731520"/>
          </a:xfrm>
          <a:prstGeom prst="roundRect">
            <a:avLst/>
          </a:prstGeom>
          <a:solidFill>
            <a:srgbClr val="FFFFFF"/>
          </a:solidFill>
          <a:ln w="12700">
            <a:solidFill>
              <a:srgbClr val="1F4E78"/>
            </a:solidFill>
            <a:prstDash val="solid"/>
          </a:ln>
        </p:spPr>
        <p:txBody>
          <a:bodyPr/>
          <a:lstStyle/>
          <a:p>
            <a:endParaRPr lang="en-US"/>
          </a:p>
        </p:txBody>
      </p:sp>
      <p:sp>
        <p:nvSpPr>
          <p:cNvPr id="15" name="Text 13"/>
          <p:cNvSpPr/>
          <p:nvPr/>
        </p:nvSpPr>
        <p:spPr>
          <a:xfrm>
            <a:off x="6263640" y="1984996"/>
            <a:ext cx="1426464" cy="415304"/>
          </a:xfrm>
          <a:prstGeom prst="rect">
            <a:avLst/>
          </a:prstGeom>
          <a:noFill/>
          <a:ln/>
        </p:spPr>
        <p:txBody>
          <a:bodyPr wrap="square" lIns="0" tIns="0" rIns="0" bIns="0" rtlCol="0" anchor="ctr">
            <a:normAutofit fontScale="62500" lnSpcReduction="20000"/>
          </a:bodyPr>
          <a:lstStyle/>
          <a:p>
            <a:pPr algn="ctr"/>
            <a:r>
              <a:rPr dirty="0" err="1"/>
              <a:t>Xử</a:t>
            </a:r>
            <a:r>
              <a:rPr dirty="0"/>
              <a:t> </a:t>
            </a:r>
            <a:r>
              <a:rPr dirty="0" err="1"/>
              <a:t>lý</a:t>
            </a:r>
            <a:r>
              <a:rPr dirty="0"/>
              <a:t> &amp; </a:t>
            </a:r>
            <a:endParaRPr lang="en-US" dirty="0"/>
          </a:p>
          <a:p>
            <a:pPr algn="ctr"/>
            <a:r>
              <a:rPr err="1"/>
              <a:t>phân</a:t>
            </a:r>
            <a:r>
              <a:t> tích</a:t>
            </a:r>
            <a:r>
              <a:rPr lang="en-US"/>
              <a:t> &amp; mô hình hóa ABG</a:t>
            </a:r>
            <a:endParaRPr dirty="0"/>
          </a:p>
        </p:txBody>
      </p:sp>
      <p:sp>
        <p:nvSpPr>
          <p:cNvPr id="16" name="Text 14"/>
          <p:cNvSpPr/>
          <p:nvPr/>
        </p:nvSpPr>
        <p:spPr>
          <a:xfrm>
            <a:off x="7799832" y="1938528"/>
            <a:ext cx="228600" cy="274320"/>
          </a:xfrm>
          <a:prstGeom prst="rect">
            <a:avLst/>
          </a:prstGeom>
          <a:noFill/>
          <a:ln/>
        </p:spPr>
        <p:txBody>
          <a:bodyPr wrap="square" lIns="0" tIns="0" rIns="0" bIns="0" rtlCol="0" anchor="ctr"/>
          <a:lstStyle/>
          <a:p>
            <a:pPr marL="0" indent="0">
              <a:buNone/>
            </a:pPr>
            <a:r>
              <a:rPr lang="en-US" sz="1800" dirty="0">
                <a:solidFill>
                  <a:srgbClr val="1F4E78"/>
                </a:solidFill>
              </a:rPr>
              <a:t>→</a:t>
            </a:r>
            <a:endParaRPr lang="en-US" sz="1800" dirty="0"/>
          </a:p>
        </p:txBody>
      </p:sp>
      <p:sp>
        <p:nvSpPr>
          <p:cNvPr id="17" name="Shape 15"/>
          <p:cNvSpPr/>
          <p:nvPr/>
        </p:nvSpPr>
        <p:spPr>
          <a:xfrm>
            <a:off x="8138160" y="1783080"/>
            <a:ext cx="1508760" cy="731520"/>
          </a:xfrm>
          <a:prstGeom prst="roundRect">
            <a:avLst/>
          </a:prstGeom>
          <a:solidFill>
            <a:srgbClr val="FFFFFF"/>
          </a:solidFill>
          <a:ln w="12700">
            <a:solidFill>
              <a:srgbClr val="1F4E78"/>
            </a:solidFill>
            <a:prstDash val="solid"/>
          </a:ln>
        </p:spPr>
        <p:txBody>
          <a:bodyPr/>
          <a:lstStyle/>
          <a:p>
            <a:endParaRPr lang="en-US"/>
          </a:p>
        </p:txBody>
      </p:sp>
      <p:sp>
        <p:nvSpPr>
          <p:cNvPr id="18" name="Text 16"/>
          <p:cNvSpPr/>
          <p:nvPr/>
        </p:nvSpPr>
        <p:spPr>
          <a:xfrm>
            <a:off x="8211312" y="1984996"/>
            <a:ext cx="1353312" cy="320040"/>
          </a:xfrm>
          <a:prstGeom prst="rect">
            <a:avLst/>
          </a:prstGeom>
          <a:noFill/>
          <a:ln/>
        </p:spPr>
        <p:txBody>
          <a:bodyPr wrap="square" lIns="0" tIns="0" rIns="0" bIns="0" rtlCol="0" anchor="ctr">
            <a:normAutofit fontScale="70000" lnSpcReduction="20000"/>
          </a:bodyPr>
          <a:lstStyle/>
          <a:p>
            <a:pPr algn="ctr"/>
            <a:r>
              <a:rPr lang="en-US"/>
              <a:t>Kiểm định sai số RMSE</a:t>
            </a:r>
            <a:endParaRPr dirty="0"/>
          </a:p>
        </p:txBody>
      </p:sp>
      <p:sp>
        <p:nvSpPr>
          <p:cNvPr id="19" name="Text 17"/>
          <p:cNvSpPr/>
          <p:nvPr/>
        </p:nvSpPr>
        <p:spPr>
          <a:xfrm>
            <a:off x="9674352" y="1938528"/>
            <a:ext cx="228600" cy="274320"/>
          </a:xfrm>
          <a:prstGeom prst="rect">
            <a:avLst/>
          </a:prstGeom>
          <a:noFill/>
          <a:ln/>
        </p:spPr>
        <p:txBody>
          <a:bodyPr wrap="square" lIns="0" tIns="0" rIns="0" bIns="0" rtlCol="0" anchor="ctr"/>
          <a:lstStyle/>
          <a:p>
            <a:pPr marL="0" indent="0">
              <a:buNone/>
            </a:pPr>
            <a:r>
              <a:rPr lang="en-US" sz="1800" dirty="0">
                <a:solidFill>
                  <a:srgbClr val="1F4E78"/>
                </a:solidFill>
              </a:rPr>
              <a:t>→</a:t>
            </a:r>
            <a:endParaRPr lang="en-US" sz="1800" dirty="0"/>
          </a:p>
        </p:txBody>
      </p:sp>
      <p:sp>
        <p:nvSpPr>
          <p:cNvPr id="20" name="Shape 18"/>
          <p:cNvSpPr/>
          <p:nvPr/>
        </p:nvSpPr>
        <p:spPr>
          <a:xfrm>
            <a:off x="10012680" y="1783080"/>
            <a:ext cx="1508760" cy="731520"/>
          </a:xfrm>
          <a:prstGeom prst="roundRect">
            <a:avLst/>
          </a:prstGeom>
          <a:solidFill>
            <a:srgbClr val="1F4E78"/>
          </a:solidFill>
          <a:ln w="12700">
            <a:solidFill>
              <a:srgbClr val="1F4E78"/>
            </a:solidFill>
            <a:prstDash val="solid"/>
          </a:ln>
        </p:spPr>
        <p:txBody>
          <a:bodyPr/>
          <a:lstStyle/>
          <a:p>
            <a:endParaRPr lang="en-US"/>
          </a:p>
        </p:txBody>
      </p:sp>
      <p:sp>
        <p:nvSpPr>
          <p:cNvPr id="21" name="Text 19"/>
          <p:cNvSpPr/>
          <p:nvPr/>
        </p:nvSpPr>
        <p:spPr>
          <a:xfrm>
            <a:off x="10085832" y="1947672"/>
            <a:ext cx="1353312" cy="320040"/>
          </a:xfrm>
          <a:prstGeom prst="rect">
            <a:avLst/>
          </a:prstGeom>
          <a:noFill/>
          <a:ln/>
        </p:spPr>
        <p:txBody>
          <a:bodyPr wrap="square" lIns="0" tIns="0" rIns="0" bIns="0" rtlCol="0" anchor="ctr">
            <a:normAutofit fontScale="70000" lnSpcReduction="20000"/>
          </a:bodyPr>
          <a:lstStyle/>
          <a:p>
            <a:pPr algn="ctr"/>
            <a:r>
              <a:rPr lang="en-US">
                <a:solidFill>
                  <a:schemeClr val="bg1"/>
                </a:solidFill>
              </a:rPr>
              <a:t>Bàn giao GIS &amp; Báo cáo</a:t>
            </a:r>
            <a:endParaRPr dirty="0">
              <a:solidFill>
                <a:schemeClr val="bg1"/>
              </a:solidFill>
            </a:endParaRPr>
          </a:p>
        </p:txBody>
      </p:sp>
      <p:sp>
        <p:nvSpPr>
          <p:cNvPr id="22" name="Shape 20"/>
          <p:cNvSpPr/>
          <p:nvPr/>
        </p:nvSpPr>
        <p:spPr>
          <a:xfrm>
            <a:off x="685800" y="2971800"/>
            <a:ext cx="5166360" cy="960120"/>
          </a:xfrm>
          <a:prstGeom prst="roundRect">
            <a:avLst>
              <a:gd name="adj" fmla="val 4762"/>
            </a:avLst>
          </a:prstGeom>
          <a:solidFill>
            <a:srgbClr val="FFFFFF"/>
          </a:solidFill>
          <a:ln w="12700">
            <a:solidFill>
              <a:srgbClr val="D9E2EC"/>
            </a:solidFill>
            <a:prstDash val="solid"/>
          </a:ln>
        </p:spPr>
        <p:txBody>
          <a:bodyPr/>
          <a:lstStyle/>
          <a:p>
            <a:endParaRPr lang="en-US"/>
          </a:p>
        </p:txBody>
      </p:sp>
      <p:sp>
        <p:nvSpPr>
          <p:cNvPr id="23" name="Shape 21"/>
          <p:cNvSpPr/>
          <p:nvPr/>
        </p:nvSpPr>
        <p:spPr>
          <a:xfrm>
            <a:off x="685800" y="2971800"/>
            <a:ext cx="64008" cy="960120"/>
          </a:xfrm>
          <a:prstGeom prst="rect">
            <a:avLst/>
          </a:prstGeom>
          <a:solidFill>
            <a:srgbClr val="1F4E78"/>
          </a:solidFill>
          <a:ln w="12700">
            <a:solidFill>
              <a:srgbClr val="1F4E78"/>
            </a:solidFill>
            <a:prstDash val="solid"/>
          </a:ln>
        </p:spPr>
        <p:txBody>
          <a:bodyPr/>
          <a:lstStyle/>
          <a:p>
            <a:endParaRPr lang="en-US"/>
          </a:p>
        </p:txBody>
      </p:sp>
      <p:sp>
        <p:nvSpPr>
          <p:cNvPr id="24" name="Text 22"/>
          <p:cNvSpPr/>
          <p:nvPr/>
        </p:nvSpPr>
        <p:spPr>
          <a:xfrm>
            <a:off x="777240" y="3044952"/>
            <a:ext cx="4818888" cy="292608"/>
          </a:xfrm>
          <a:prstGeom prst="rect">
            <a:avLst/>
          </a:prstGeom>
          <a:noFill/>
          <a:ln/>
        </p:spPr>
        <p:txBody>
          <a:bodyPr wrap="square" lIns="0" tIns="0" rIns="0" bIns="0" rtlCol="0" anchor="ctr">
            <a:normAutofit/>
          </a:bodyPr>
          <a:lstStyle/>
          <a:p>
            <a:r>
              <a:rPr lang="en-US"/>
              <a:t>MÔ HÌNH 3D (DTM / DSM / CHM)</a:t>
            </a:r>
            <a:endParaRPr/>
          </a:p>
        </p:txBody>
      </p:sp>
      <p:sp>
        <p:nvSpPr>
          <p:cNvPr id="25" name="Text 23"/>
          <p:cNvSpPr/>
          <p:nvPr/>
        </p:nvSpPr>
        <p:spPr>
          <a:xfrm>
            <a:off x="807720" y="3383280"/>
            <a:ext cx="4898136" cy="420624"/>
          </a:xfrm>
          <a:prstGeom prst="rect">
            <a:avLst/>
          </a:prstGeom>
          <a:noFill/>
          <a:ln/>
        </p:spPr>
        <p:txBody>
          <a:bodyPr wrap="square" lIns="254" tIns="254" rIns="254" bIns="254" rtlCol="0" anchor="ctr">
            <a:noAutofit/>
          </a:bodyPr>
          <a:lstStyle/>
          <a:p>
            <a:r>
              <a:rPr lang="en-US" sz="1400"/>
              <a:t>Đám mây điểm LiDAR đã phân loại, mô hình địa hình, bề mặt và độ cao tán rừng.</a:t>
            </a:r>
            <a:endParaRPr sz="1400"/>
          </a:p>
        </p:txBody>
      </p:sp>
      <p:sp>
        <p:nvSpPr>
          <p:cNvPr id="26" name="Shape 24"/>
          <p:cNvSpPr/>
          <p:nvPr/>
        </p:nvSpPr>
        <p:spPr>
          <a:xfrm>
            <a:off x="6217920" y="2971800"/>
            <a:ext cx="5166360" cy="960120"/>
          </a:xfrm>
          <a:prstGeom prst="roundRect">
            <a:avLst>
              <a:gd name="adj" fmla="val 4762"/>
            </a:avLst>
          </a:prstGeom>
          <a:solidFill>
            <a:srgbClr val="FFFFFF"/>
          </a:solidFill>
          <a:ln w="12700">
            <a:solidFill>
              <a:srgbClr val="D9E2EC"/>
            </a:solidFill>
            <a:prstDash val="solid"/>
          </a:ln>
        </p:spPr>
        <p:txBody>
          <a:bodyPr/>
          <a:lstStyle/>
          <a:p>
            <a:endParaRPr lang="en-US"/>
          </a:p>
        </p:txBody>
      </p:sp>
      <p:sp>
        <p:nvSpPr>
          <p:cNvPr id="28" name="Text 26"/>
          <p:cNvSpPr/>
          <p:nvPr/>
        </p:nvSpPr>
        <p:spPr>
          <a:xfrm>
            <a:off x="6281928" y="2990088"/>
            <a:ext cx="4818888" cy="292608"/>
          </a:xfrm>
          <a:prstGeom prst="rect">
            <a:avLst/>
          </a:prstGeom>
          <a:noFill/>
          <a:ln/>
        </p:spPr>
        <p:txBody>
          <a:bodyPr wrap="square" lIns="0" tIns="0" rIns="0" bIns="0" rtlCol="0" anchor="ctr">
            <a:normAutofit/>
          </a:bodyPr>
          <a:lstStyle/>
          <a:p>
            <a:r>
              <a:rPr lang="en-US"/>
              <a:t>LỚP CÂY ĐƠN LẺ</a:t>
            </a:r>
            <a:endParaRPr/>
          </a:p>
        </p:txBody>
      </p:sp>
      <p:sp>
        <p:nvSpPr>
          <p:cNvPr id="29" name="Text 27"/>
          <p:cNvSpPr/>
          <p:nvPr/>
        </p:nvSpPr>
        <p:spPr>
          <a:xfrm>
            <a:off x="6323076" y="3369564"/>
            <a:ext cx="4956048" cy="374904"/>
          </a:xfrm>
          <a:prstGeom prst="rect">
            <a:avLst/>
          </a:prstGeom>
          <a:noFill/>
          <a:ln/>
        </p:spPr>
        <p:txBody>
          <a:bodyPr wrap="square" lIns="254" tIns="254" rIns="254" bIns="254" rtlCol="0" anchor="ctr">
            <a:noAutofit/>
          </a:bodyPr>
          <a:lstStyle/>
          <a:p>
            <a:r>
              <a:rPr lang="en-US" sz="1400"/>
              <a:t>Dữ liệu vector chứa tọa độ, chiều cao vút ngọn và diện tích tán của từng cá thể cây.</a:t>
            </a:r>
            <a:endParaRPr sz="1400"/>
          </a:p>
        </p:txBody>
      </p:sp>
      <p:sp>
        <p:nvSpPr>
          <p:cNvPr id="30" name="Shape 28"/>
          <p:cNvSpPr/>
          <p:nvPr/>
        </p:nvSpPr>
        <p:spPr>
          <a:xfrm>
            <a:off x="685800" y="4206240"/>
            <a:ext cx="5166360" cy="960120"/>
          </a:xfrm>
          <a:prstGeom prst="roundRect">
            <a:avLst>
              <a:gd name="adj" fmla="val 4762"/>
            </a:avLst>
          </a:prstGeom>
          <a:solidFill>
            <a:srgbClr val="FFFFFF"/>
          </a:solidFill>
          <a:ln w="12700">
            <a:solidFill>
              <a:srgbClr val="D9E2EC"/>
            </a:solidFill>
            <a:prstDash val="solid"/>
          </a:ln>
        </p:spPr>
        <p:txBody>
          <a:bodyPr/>
          <a:lstStyle/>
          <a:p>
            <a:endParaRPr lang="en-US"/>
          </a:p>
        </p:txBody>
      </p:sp>
      <p:sp>
        <p:nvSpPr>
          <p:cNvPr id="31" name="Shape 29"/>
          <p:cNvSpPr/>
          <p:nvPr/>
        </p:nvSpPr>
        <p:spPr>
          <a:xfrm>
            <a:off x="685800" y="4206240"/>
            <a:ext cx="64008" cy="960120"/>
          </a:xfrm>
          <a:prstGeom prst="rect">
            <a:avLst/>
          </a:prstGeom>
          <a:solidFill>
            <a:srgbClr val="1F4E78"/>
          </a:solidFill>
          <a:ln w="12700">
            <a:solidFill>
              <a:srgbClr val="1F4E78"/>
            </a:solidFill>
            <a:prstDash val="solid"/>
          </a:ln>
        </p:spPr>
        <p:txBody>
          <a:bodyPr/>
          <a:lstStyle/>
          <a:p>
            <a:endParaRPr lang="en-US"/>
          </a:p>
        </p:txBody>
      </p:sp>
      <p:sp>
        <p:nvSpPr>
          <p:cNvPr id="32" name="Text 30"/>
          <p:cNvSpPr/>
          <p:nvPr/>
        </p:nvSpPr>
        <p:spPr>
          <a:xfrm>
            <a:off x="886968" y="4370832"/>
            <a:ext cx="4818888" cy="292608"/>
          </a:xfrm>
          <a:prstGeom prst="rect">
            <a:avLst/>
          </a:prstGeom>
          <a:noFill/>
          <a:ln/>
        </p:spPr>
        <p:txBody>
          <a:bodyPr wrap="square" lIns="0" tIns="0" rIns="0" bIns="0" rtlCol="0" anchor="ctr">
            <a:normAutofit/>
          </a:bodyPr>
          <a:lstStyle/>
          <a:p>
            <a:r>
              <a:rPr lang="en-US"/>
              <a:t>BẢN ĐỒ TRỮ LƯỢNG CÁC-BON</a:t>
            </a:r>
            <a:endParaRPr/>
          </a:p>
        </p:txBody>
      </p:sp>
      <p:sp>
        <p:nvSpPr>
          <p:cNvPr id="33" name="Text 31"/>
          <p:cNvSpPr/>
          <p:nvPr/>
        </p:nvSpPr>
        <p:spPr>
          <a:xfrm>
            <a:off x="886968" y="4736592"/>
            <a:ext cx="4818888" cy="301752"/>
          </a:xfrm>
          <a:prstGeom prst="rect">
            <a:avLst/>
          </a:prstGeom>
          <a:noFill/>
          <a:ln/>
        </p:spPr>
        <p:txBody>
          <a:bodyPr wrap="square" lIns="254" tIns="254" rIns="254" bIns="254" rtlCol="0" anchor="ctr">
            <a:normAutofit fontScale="70000" lnSpcReduction="20000"/>
          </a:bodyPr>
          <a:lstStyle/>
          <a:p>
            <a:r>
              <a:rPr lang="en-US"/>
              <a:t>Bản đồ phân bố sinh khối và trữ lượng các-bon chi tiết theo lô. </a:t>
            </a:r>
            <a:endParaRPr/>
          </a:p>
        </p:txBody>
      </p:sp>
      <p:sp>
        <p:nvSpPr>
          <p:cNvPr id="34" name="Shape 32"/>
          <p:cNvSpPr/>
          <p:nvPr/>
        </p:nvSpPr>
        <p:spPr>
          <a:xfrm>
            <a:off x="6217920" y="4206240"/>
            <a:ext cx="5166360" cy="960120"/>
          </a:xfrm>
          <a:prstGeom prst="roundRect">
            <a:avLst>
              <a:gd name="adj" fmla="val 4762"/>
            </a:avLst>
          </a:prstGeom>
          <a:solidFill>
            <a:srgbClr val="FFFFFF"/>
          </a:solidFill>
          <a:ln w="12700">
            <a:solidFill>
              <a:srgbClr val="D9E2EC"/>
            </a:solidFill>
            <a:prstDash val="solid"/>
          </a:ln>
        </p:spPr>
        <p:txBody>
          <a:bodyPr/>
          <a:lstStyle/>
          <a:p>
            <a:endParaRPr lang="en-US"/>
          </a:p>
        </p:txBody>
      </p:sp>
      <p:sp>
        <p:nvSpPr>
          <p:cNvPr id="35" name="Shape 33"/>
          <p:cNvSpPr/>
          <p:nvPr/>
        </p:nvSpPr>
        <p:spPr>
          <a:xfrm>
            <a:off x="6217920" y="4206240"/>
            <a:ext cx="64008" cy="960120"/>
          </a:xfrm>
          <a:prstGeom prst="rect">
            <a:avLst/>
          </a:prstGeom>
          <a:solidFill>
            <a:srgbClr val="1F4E78"/>
          </a:solidFill>
          <a:ln w="12700">
            <a:solidFill>
              <a:srgbClr val="1F4E78"/>
            </a:solidFill>
            <a:prstDash val="solid"/>
          </a:ln>
        </p:spPr>
        <p:txBody>
          <a:bodyPr/>
          <a:lstStyle/>
          <a:p>
            <a:endParaRPr lang="en-US"/>
          </a:p>
        </p:txBody>
      </p:sp>
      <p:sp>
        <p:nvSpPr>
          <p:cNvPr id="36" name="Text 34"/>
          <p:cNvSpPr/>
          <p:nvPr/>
        </p:nvSpPr>
        <p:spPr>
          <a:xfrm>
            <a:off x="6419088" y="4370832"/>
            <a:ext cx="4818888" cy="292608"/>
          </a:xfrm>
          <a:prstGeom prst="rect">
            <a:avLst/>
          </a:prstGeom>
          <a:noFill/>
          <a:ln/>
        </p:spPr>
        <p:txBody>
          <a:bodyPr wrap="square" lIns="0" tIns="0" rIns="0" bIns="0" rtlCol="0" anchor="ctr">
            <a:normAutofit/>
          </a:bodyPr>
          <a:lstStyle/>
          <a:p>
            <a:r>
              <a:rPr lang="en-US"/>
              <a:t>BÁO CÁO KỸ THUẬT &amp; SAI SỐ</a:t>
            </a:r>
            <a:endParaRPr/>
          </a:p>
        </p:txBody>
      </p:sp>
      <p:sp>
        <p:nvSpPr>
          <p:cNvPr id="37" name="Text 35"/>
          <p:cNvSpPr/>
          <p:nvPr/>
        </p:nvSpPr>
        <p:spPr>
          <a:xfrm>
            <a:off x="6419088" y="4736592"/>
            <a:ext cx="4818888" cy="301752"/>
          </a:xfrm>
          <a:prstGeom prst="rect">
            <a:avLst/>
          </a:prstGeom>
          <a:noFill/>
          <a:ln/>
        </p:spPr>
        <p:txBody>
          <a:bodyPr wrap="square" lIns="254" tIns="254" rIns="254" bIns="254" rtlCol="0" anchor="ctr">
            <a:noAutofit/>
          </a:bodyPr>
          <a:lstStyle/>
          <a:p>
            <a:r>
              <a:rPr lang="en-US" sz="1400"/>
              <a:t>Hồ sơ phương pháp luận, phương trình Allometric, dữ liệu thực địa và bảng sai số RMSE.</a:t>
            </a:r>
            <a:endParaRPr sz="1400"/>
          </a:p>
        </p:txBody>
      </p:sp>
      <p:sp>
        <p:nvSpPr>
          <p:cNvPr id="38" name="Text 36"/>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Không copy SOP chi tiết vào Sales Kit; chỉ trình bày customer-facing flow.</a:t>
            </a:r>
            <a:endParaRPr lang="en-US" sz="850" dirty="0"/>
          </a:p>
        </p:txBody>
      </p:sp>
      <p:sp>
        <p:nvSpPr>
          <p:cNvPr id="39"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8</a:t>
            </a:fld>
            <a:endParaRPr lang="en-US"/>
          </a:p>
        </p:txBody>
      </p:sp>
      <p:sp>
        <p:nvSpPr>
          <p:cNvPr id="41" name="Shape 33">
            <a:extLst>
              <a:ext uri="{FF2B5EF4-FFF2-40B4-BE49-F238E27FC236}">
                <a16:creationId xmlns:a16="http://schemas.microsoft.com/office/drawing/2014/main" id="{AF468884-666C-21F0-7A09-1C7B2705F23D}"/>
              </a:ext>
            </a:extLst>
          </p:cNvPr>
          <p:cNvSpPr/>
          <p:nvPr/>
        </p:nvSpPr>
        <p:spPr>
          <a:xfrm>
            <a:off x="6185916" y="2971800"/>
            <a:ext cx="64008" cy="960120"/>
          </a:xfrm>
          <a:prstGeom prst="rect">
            <a:avLst/>
          </a:prstGeom>
          <a:solidFill>
            <a:srgbClr val="1F4E78"/>
          </a:solidFill>
          <a:ln w="12700">
            <a:solidFill>
              <a:srgbClr val="1F4E78"/>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08. POSITIONING &amp; WHY GASCOLAE</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Vì sao khách hàng nên cân nhắc GASCOLAE?</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WHY US</a:t>
            </a:r>
            <a:endParaRPr lang="en-US" sz="850" dirty="0"/>
          </a:p>
        </p:txBody>
      </p:sp>
      <p:sp>
        <p:nvSpPr>
          <p:cNvPr id="5" name="Shape 3"/>
          <p:cNvSpPr/>
          <p:nvPr/>
        </p:nvSpPr>
        <p:spPr>
          <a:xfrm>
            <a:off x="685800" y="1783080"/>
            <a:ext cx="3337560" cy="338328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85800" y="1783080"/>
            <a:ext cx="64008" cy="3383280"/>
          </a:xfrm>
          <a:prstGeom prst="rect">
            <a:avLst/>
          </a:prstGeom>
          <a:solidFill>
            <a:srgbClr val="1F4E78"/>
          </a:solidFill>
          <a:ln w="12700">
            <a:solidFill>
              <a:srgbClr val="1F4E78"/>
            </a:solidFill>
            <a:prstDash val="solid"/>
          </a:ln>
        </p:spPr>
        <p:txBody>
          <a:bodyPr/>
          <a:lstStyle/>
          <a:p>
            <a:endParaRPr lang="en-US"/>
          </a:p>
        </p:txBody>
      </p:sp>
      <p:sp>
        <p:nvSpPr>
          <p:cNvPr id="7" name="Text 5"/>
          <p:cNvSpPr/>
          <p:nvPr/>
        </p:nvSpPr>
        <p:spPr>
          <a:xfrm>
            <a:off x="886968" y="1947672"/>
            <a:ext cx="2990088" cy="292608"/>
          </a:xfrm>
          <a:prstGeom prst="rect">
            <a:avLst/>
          </a:prstGeom>
          <a:noFill/>
          <a:ln/>
        </p:spPr>
        <p:txBody>
          <a:bodyPr wrap="square" lIns="0" tIns="0" rIns="0" bIns="0" rtlCol="0" anchor="ctr"/>
          <a:lstStyle/>
          <a:p>
            <a:pPr marL="0" indent="0">
              <a:buNone/>
            </a:pPr>
            <a:r>
              <a:rPr lang="en-US" b="1" dirty="0">
                <a:solidFill>
                  <a:srgbClr val="17365D"/>
                </a:solidFill>
                <a:latin typeface="Arial" pitchFamily="34" charset="0"/>
                <a:ea typeface="Arial" pitchFamily="34" charset="-122"/>
                <a:cs typeface="Arial" pitchFamily="34" charset="-120"/>
              </a:rPr>
              <a:t>Định vị</a:t>
            </a:r>
            <a:endParaRPr lang="en-US" dirty="0"/>
          </a:p>
        </p:txBody>
      </p:sp>
      <p:sp>
        <p:nvSpPr>
          <p:cNvPr id="8" name="Text 6"/>
          <p:cNvSpPr/>
          <p:nvPr/>
        </p:nvSpPr>
        <p:spPr>
          <a:xfrm>
            <a:off x="886968" y="2313432"/>
            <a:ext cx="2990088" cy="2724912"/>
          </a:xfrm>
          <a:prstGeom prst="rect">
            <a:avLst/>
          </a:prstGeom>
          <a:noFill/>
          <a:ln/>
        </p:spPr>
        <p:txBody>
          <a:bodyPr wrap="square" lIns="254" tIns="254" rIns="254" bIns="254" rtlCol="0" anchor="ctr">
            <a:normAutofit/>
          </a:bodyPr>
          <a:lstStyle/>
          <a:p>
            <a:r>
              <a:rPr lang="en-US"/>
              <a:t>Cung cấp giải pháp đo đạc viễn thám UAV LiDAR kết hợp thực địa, số hóa minh bạch trữ lượng các-bon rừng, thay thế cho phương pháp điều tra rút mẫu ô tiêu chuẩn thủ công.</a:t>
            </a:r>
            <a:endParaRPr/>
          </a:p>
        </p:txBody>
      </p:sp>
      <p:sp>
        <p:nvSpPr>
          <p:cNvPr id="9" name="Shape 7"/>
          <p:cNvSpPr/>
          <p:nvPr/>
        </p:nvSpPr>
        <p:spPr>
          <a:xfrm>
            <a:off x="4434840" y="1783080"/>
            <a:ext cx="3337560" cy="338328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4434840" y="1783080"/>
            <a:ext cx="64008" cy="3383280"/>
          </a:xfrm>
          <a:prstGeom prst="rect">
            <a:avLst/>
          </a:prstGeom>
          <a:solidFill>
            <a:srgbClr val="1F4E78"/>
          </a:solidFill>
          <a:ln w="12700">
            <a:solidFill>
              <a:srgbClr val="1F4E78"/>
            </a:solidFill>
            <a:prstDash val="solid"/>
          </a:ln>
        </p:spPr>
        <p:txBody>
          <a:bodyPr/>
          <a:lstStyle/>
          <a:p>
            <a:endParaRPr lang="en-US"/>
          </a:p>
        </p:txBody>
      </p:sp>
      <p:sp>
        <p:nvSpPr>
          <p:cNvPr id="11" name="Text 9"/>
          <p:cNvSpPr/>
          <p:nvPr/>
        </p:nvSpPr>
        <p:spPr>
          <a:xfrm>
            <a:off x="4636008" y="1947672"/>
            <a:ext cx="2990088" cy="292608"/>
          </a:xfrm>
          <a:prstGeom prst="rect">
            <a:avLst/>
          </a:prstGeom>
          <a:noFill/>
          <a:ln/>
        </p:spPr>
        <p:txBody>
          <a:bodyPr wrap="square" lIns="0" tIns="0" rIns="0" bIns="0" rtlCol="0" anchor="ctr"/>
          <a:lstStyle/>
          <a:p>
            <a:pPr marL="0" indent="0">
              <a:buNone/>
            </a:pPr>
            <a:r>
              <a:rPr lang="en-US" b="1" dirty="0">
                <a:solidFill>
                  <a:srgbClr val="17365D"/>
                </a:solidFill>
                <a:latin typeface="Arial" pitchFamily="34" charset="0"/>
                <a:ea typeface="Arial" pitchFamily="34" charset="-122"/>
                <a:cs typeface="Arial" pitchFamily="34" charset="-120"/>
              </a:rPr>
              <a:t>Core Competency</a:t>
            </a:r>
            <a:endParaRPr lang="en-US" dirty="0"/>
          </a:p>
        </p:txBody>
      </p:sp>
      <mc:AlternateContent xmlns:mc="http://schemas.openxmlformats.org/markup-compatibility/2006">
        <mc:Choice xmlns:a14="http://schemas.microsoft.com/office/drawing/2010/main" Requires="a14">
          <p:sp>
            <p:nvSpPr>
              <p:cNvPr id="12" name="Text 10"/>
              <p:cNvSpPr/>
              <p:nvPr/>
            </p:nvSpPr>
            <p:spPr>
              <a:xfrm>
                <a:off x="4636008" y="2313432"/>
                <a:ext cx="2990088" cy="2724912"/>
              </a:xfrm>
              <a:prstGeom prst="rect">
                <a:avLst/>
              </a:prstGeom>
              <a:noFill/>
              <a:ln/>
            </p:spPr>
            <p:txBody>
              <a:bodyPr wrap="square" lIns="254" tIns="254" rIns="254" bIns="254" rtlCol="0" anchor="ctr">
                <a:normAutofit fontScale="92500"/>
              </a:bodyPr>
              <a:lstStyle/>
              <a:p>
                <a:r>
                  <a:rPr lang="en-US"/>
                  <a:t>Luồng dịch vụ chuẩn mực lâm nghiệp: Khảo sát UAV LiDAR phủ kín 100% diện tích </a:t>
                </a:r>
                <a14:m>
                  <m:oMath xmlns:m="http://schemas.openxmlformats.org/officeDocument/2006/math">
                    <m:r>
                      <a:rPr lang="en-US"/>
                      <m:t>→</m:t>
                    </m:r>
                  </m:oMath>
                </a14:m>
                <a:r>
                  <a:rPr lang="en-US"/>
                  <a:t>Tách cây đơn lẻ </a:t>
                </a:r>
                <a14:m>
                  <m:oMath xmlns:m="http://schemas.openxmlformats.org/officeDocument/2006/math">
                    <m:r>
                      <a:rPr lang="en-US"/>
                      <m:t>→</m:t>
                    </m:r>
                  </m:oMath>
                </a14:m>
                <a:r>
                  <a:rPr lang="en-US"/>
                  <a:t>Quy đổi Allometric </a:t>
                </a:r>
                <a14:m>
                  <m:oMath xmlns:m="http://schemas.openxmlformats.org/officeDocument/2006/math">
                    <m:r>
                      <a:rPr lang="en-US"/>
                      <m:t>→</m:t>
                    </m:r>
                  </m:oMath>
                </a14:m>
                <a:r>
                  <a:rPr lang="en-US"/>
                  <a:t>Dữ liệu GIS sẵn sàng cho báo cáo MRV và thẩm định.</a:t>
                </a:r>
                <a:endParaRPr/>
              </a:p>
            </p:txBody>
          </p:sp>
        </mc:Choice>
        <mc:Fallback>
          <p:sp>
            <p:nvSpPr>
              <p:cNvPr id="12" name="Text 10"/>
              <p:cNvSpPr>
                <a:spLocks noRot="1" noChangeAspect="1" noMove="1" noResize="1" noEditPoints="1" noAdjustHandles="1" noChangeArrowheads="1" noChangeShapeType="1" noTextEdit="1"/>
              </p:cNvSpPr>
              <p:nvPr/>
            </p:nvSpPr>
            <p:spPr>
              <a:xfrm>
                <a:off x="4636008" y="2313432"/>
                <a:ext cx="2990088" cy="2724912"/>
              </a:xfrm>
              <a:prstGeom prst="rect">
                <a:avLst/>
              </a:prstGeom>
              <a:blipFill>
                <a:blip r:embed="rId3"/>
                <a:stretch>
                  <a:fillRect l="-4490" r="-4286"/>
                </a:stretch>
              </a:blipFill>
              <a:ln/>
            </p:spPr>
            <p:txBody>
              <a:bodyPr/>
              <a:lstStyle/>
              <a:p>
                <a:r>
                  <a:rPr lang="en-US">
                    <a:noFill/>
                  </a:rPr>
                  <a:t> </a:t>
                </a:r>
              </a:p>
            </p:txBody>
          </p:sp>
        </mc:Fallback>
      </mc:AlternateContent>
      <p:sp>
        <p:nvSpPr>
          <p:cNvPr id="13" name="Shape 11"/>
          <p:cNvSpPr/>
          <p:nvPr/>
        </p:nvSpPr>
        <p:spPr>
          <a:xfrm>
            <a:off x="8183880" y="1783080"/>
            <a:ext cx="3337560" cy="3383280"/>
          </a:xfrm>
          <a:prstGeom prst="roundRect">
            <a:avLst>
              <a:gd name="adj" fmla="val 1370"/>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8183880" y="1783080"/>
            <a:ext cx="64008" cy="3383280"/>
          </a:xfrm>
          <a:prstGeom prst="rect">
            <a:avLst/>
          </a:prstGeom>
          <a:solidFill>
            <a:srgbClr val="C89B3C"/>
          </a:solidFill>
          <a:ln w="12700">
            <a:solidFill>
              <a:srgbClr val="C89B3C"/>
            </a:solidFill>
            <a:prstDash val="solid"/>
          </a:ln>
        </p:spPr>
        <p:txBody>
          <a:bodyPr/>
          <a:lstStyle/>
          <a:p>
            <a:endParaRPr lang="en-US"/>
          </a:p>
        </p:txBody>
      </p:sp>
      <p:sp>
        <p:nvSpPr>
          <p:cNvPr id="15" name="Text 13"/>
          <p:cNvSpPr/>
          <p:nvPr/>
        </p:nvSpPr>
        <p:spPr>
          <a:xfrm>
            <a:off x="8385048" y="1947672"/>
            <a:ext cx="2990088" cy="292608"/>
          </a:xfrm>
          <a:prstGeom prst="rect">
            <a:avLst/>
          </a:prstGeom>
          <a:noFill/>
          <a:ln/>
        </p:spPr>
        <p:txBody>
          <a:bodyPr wrap="square" lIns="0" tIns="0" rIns="0" bIns="0" rtlCol="0" anchor="ctr"/>
          <a:lstStyle/>
          <a:p>
            <a:pPr marL="0" indent="0">
              <a:buNone/>
            </a:pPr>
            <a:r>
              <a:rPr lang="en-US" b="1" dirty="0">
                <a:solidFill>
                  <a:srgbClr val="17365D"/>
                </a:solidFill>
                <a:latin typeface="Arial" pitchFamily="34" charset="0"/>
                <a:ea typeface="Arial" pitchFamily="34" charset="-122"/>
                <a:cs typeface="Arial" pitchFamily="34" charset="-120"/>
              </a:rPr>
              <a:t>Điểm cần xác minh</a:t>
            </a:r>
            <a:endParaRPr lang="en-US" dirty="0"/>
          </a:p>
        </p:txBody>
      </p:sp>
      <p:sp>
        <p:nvSpPr>
          <p:cNvPr id="16" name="Text 14"/>
          <p:cNvSpPr/>
          <p:nvPr/>
        </p:nvSpPr>
        <p:spPr>
          <a:xfrm>
            <a:off x="8385048" y="2313432"/>
            <a:ext cx="2990088" cy="2724912"/>
          </a:xfrm>
          <a:prstGeom prst="rect">
            <a:avLst/>
          </a:prstGeom>
          <a:noFill/>
          <a:ln/>
        </p:spPr>
        <p:txBody>
          <a:bodyPr wrap="square" lIns="254" tIns="254" rIns="254" bIns="254" rtlCol="0" anchor="ctr">
            <a:normAutofit/>
          </a:bodyPr>
          <a:lstStyle/>
          <a:p>
            <a:r>
              <a:rPr lang="en-US"/>
              <a:t>Dữ liệu kỹ thuật không thay thế kết luận thẩm định độc lập. Bộ phương trình Allometric và mức cam kết sai số RMSE cụ thể phải được GASCOLAE xác nhận theo từng địa bàn/loài cây.</a:t>
            </a:r>
            <a:endParaRPr/>
          </a:p>
        </p:txBody>
      </p:sp>
      <p:sp>
        <p:nvSpPr>
          <p:cNvPr id="17" name="Text 15"/>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Không tự viết “số 1”, “tốt nhất”, “duy nhất”, hoặc claim cạnh tranh nếu nguồn không chứng minh.</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09. DECISION MAKING UNIT &amp; BUYING JOURNEY</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Ai dùng, ai ảnh hưởng, ai phê duyệt và khách hàng đi qua các bước nào?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HOW THEY BUY</a:t>
            </a:r>
            <a:endParaRPr lang="en-US" sz="850" dirty="0"/>
          </a:p>
        </p:txBody>
      </p:sp>
      <p:sp>
        <p:nvSpPr>
          <p:cNvPr id="5" name="Shape 3"/>
          <p:cNvSpPr/>
          <p:nvPr/>
        </p:nvSpPr>
        <p:spPr>
          <a:xfrm>
            <a:off x="685800" y="1783080"/>
            <a:ext cx="3337560" cy="1508760"/>
          </a:xfrm>
          <a:prstGeom prst="roundRect">
            <a:avLst>
              <a:gd name="adj" fmla="val 3030"/>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85800" y="1783080"/>
            <a:ext cx="64008" cy="1508760"/>
          </a:xfrm>
          <a:prstGeom prst="rect">
            <a:avLst/>
          </a:prstGeom>
          <a:solidFill>
            <a:srgbClr val="1F4E78"/>
          </a:solidFill>
          <a:ln w="12700">
            <a:solidFill>
              <a:srgbClr val="1F4E78"/>
            </a:solidFill>
            <a:prstDash val="solid"/>
          </a:ln>
        </p:spPr>
        <p:txBody>
          <a:bodyPr/>
          <a:lstStyle/>
          <a:p>
            <a:endParaRPr lang="en-US"/>
          </a:p>
        </p:txBody>
      </p:sp>
      <p:sp>
        <p:nvSpPr>
          <p:cNvPr id="7" name="Text 5"/>
          <p:cNvSpPr/>
          <p:nvPr/>
        </p:nvSpPr>
        <p:spPr>
          <a:xfrm>
            <a:off x="886968" y="1947672"/>
            <a:ext cx="299008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User / Technical</a:t>
            </a:r>
            <a:endParaRPr lang="en-US" sz="1200" dirty="0"/>
          </a:p>
        </p:txBody>
      </p:sp>
      <p:sp>
        <p:nvSpPr>
          <p:cNvPr id="8" name="Text 6"/>
          <p:cNvSpPr/>
          <p:nvPr/>
        </p:nvSpPr>
        <p:spPr>
          <a:xfrm>
            <a:off x="886968" y="2313432"/>
            <a:ext cx="2990088" cy="850392"/>
          </a:xfrm>
          <a:prstGeom prst="rect">
            <a:avLst/>
          </a:prstGeom>
          <a:noFill/>
          <a:ln/>
        </p:spPr>
        <p:txBody>
          <a:bodyPr wrap="square" lIns="254" tIns="254" rIns="254" bIns="254" rtlCol="0" anchor="ctr">
            <a:normAutofit/>
          </a:bodyPr>
          <a:lstStyle/>
          <a:p>
            <a:r>
              <a:rPr lang="en-US"/>
              <a:t>P</a:t>
            </a:r>
            <a:r>
              <a:rPr lang="vi-VN"/>
              <a:t>hòng kỹ thuật – lâm sinh, cán bộ GIS của chủ rừng, đơn vị tư vấn lập dự án.</a:t>
            </a:r>
            <a:endParaRPr/>
          </a:p>
        </p:txBody>
      </p:sp>
      <p:sp>
        <p:nvSpPr>
          <p:cNvPr id="9" name="Shape 7"/>
          <p:cNvSpPr/>
          <p:nvPr/>
        </p:nvSpPr>
        <p:spPr>
          <a:xfrm>
            <a:off x="4434840" y="1783080"/>
            <a:ext cx="3337560" cy="1508760"/>
          </a:xfrm>
          <a:prstGeom prst="roundRect">
            <a:avLst>
              <a:gd name="adj" fmla="val 3030"/>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4434840" y="1783080"/>
            <a:ext cx="64008" cy="1508760"/>
          </a:xfrm>
          <a:prstGeom prst="rect">
            <a:avLst/>
          </a:prstGeom>
          <a:solidFill>
            <a:srgbClr val="1F4E78"/>
          </a:solidFill>
          <a:ln w="12700">
            <a:solidFill>
              <a:srgbClr val="1F4E78"/>
            </a:solidFill>
            <a:prstDash val="solid"/>
          </a:ln>
        </p:spPr>
        <p:txBody>
          <a:bodyPr/>
          <a:lstStyle/>
          <a:p>
            <a:endParaRPr lang="en-US"/>
          </a:p>
        </p:txBody>
      </p:sp>
      <p:sp>
        <p:nvSpPr>
          <p:cNvPr id="11" name="Text 9"/>
          <p:cNvSpPr/>
          <p:nvPr/>
        </p:nvSpPr>
        <p:spPr>
          <a:xfrm>
            <a:off x="4636008" y="1947672"/>
            <a:ext cx="299008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Influencer</a:t>
            </a:r>
            <a:endParaRPr lang="en-US" sz="1200" dirty="0"/>
          </a:p>
        </p:txBody>
      </p:sp>
      <p:sp>
        <p:nvSpPr>
          <p:cNvPr id="12" name="Text 10"/>
          <p:cNvSpPr/>
          <p:nvPr/>
        </p:nvSpPr>
        <p:spPr>
          <a:xfrm>
            <a:off x="4636008" y="2313432"/>
            <a:ext cx="2990088" cy="850392"/>
          </a:xfrm>
          <a:prstGeom prst="rect">
            <a:avLst/>
          </a:prstGeom>
          <a:noFill/>
          <a:ln/>
        </p:spPr>
        <p:txBody>
          <a:bodyPr wrap="square" lIns="254" tIns="254" rIns="254" bIns="254" rtlCol="0" anchor="ctr">
            <a:normAutofit fontScale="92500" lnSpcReduction="20000"/>
          </a:bodyPr>
          <a:lstStyle/>
          <a:p>
            <a:r>
              <a:rPr lang="vi-VN"/>
              <a:t>Sở Nông nghiệp và Môi trường, Chi cục Kiểm lâm, Quỹ BV&amp;PTR, đơn vị thẩm định độc lập.</a:t>
            </a:r>
            <a:endParaRPr/>
          </a:p>
        </p:txBody>
      </p:sp>
      <p:sp>
        <p:nvSpPr>
          <p:cNvPr id="13" name="Shape 11"/>
          <p:cNvSpPr/>
          <p:nvPr/>
        </p:nvSpPr>
        <p:spPr>
          <a:xfrm>
            <a:off x="8183880" y="1783080"/>
            <a:ext cx="3337560" cy="1508760"/>
          </a:xfrm>
          <a:prstGeom prst="roundRect">
            <a:avLst>
              <a:gd name="adj" fmla="val 3030"/>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8183880" y="1783080"/>
            <a:ext cx="64008" cy="1508760"/>
          </a:xfrm>
          <a:prstGeom prst="rect">
            <a:avLst/>
          </a:prstGeom>
          <a:solidFill>
            <a:srgbClr val="C89B3C"/>
          </a:solidFill>
          <a:ln w="12700">
            <a:solidFill>
              <a:srgbClr val="C89B3C"/>
            </a:solidFill>
            <a:prstDash val="solid"/>
          </a:ln>
        </p:spPr>
        <p:txBody>
          <a:bodyPr/>
          <a:lstStyle/>
          <a:p>
            <a:endParaRPr lang="en-US"/>
          </a:p>
        </p:txBody>
      </p:sp>
      <p:sp>
        <p:nvSpPr>
          <p:cNvPr id="15" name="Text 13"/>
          <p:cNvSpPr/>
          <p:nvPr/>
        </p:nvSpPr>
        <p:spPr>
          <a:xfrm>
            <a:off x="8385048" y="1947672"/>
            <a:ext cx="2990088" cy="292608"/>
          </a:xfrm>
          <a:prstGeom prst="rect">
            <a:avLst/>
          </a:prstGeom>
          <a:noFill/>
          <a:ln/>
        </p:spPr>
        <p:txBody>
          <a:bodyPr wrap="square" lIns="0" tIns="0" rIns="0" bIns="0" rtlCol="0" anchor="ctr"/>
          <a:lstStyle/>
          <a:p>
            <a:pPr marL="0" indent="0">
              <a:buNone/>
            </a:pPr>
            <a:r>
              <a:rPr lang="en-US" sz="1200" b="1" dirty="0">
                <a:solidFill>
                  <a:srgbClr val="17365D"/>
                </a:solidFill>
                <a:latin typeface="Arial" pitchFamily="34" charset="0"/>
                <a:ea typeface="Arial" pitchFamily="34" charset="-122"/>
                <a:cs typeface="Arial" pitchFamily="34" charset="-120"/>
              </a:rPr>
              <a:t>Economic Buyer / Approver</a:t>
            </a:r>
            <a:endParaRPr lang="en-US" sz="1200" dirty="0"/>
          </a:p>
        </p:txBody>
      </p:sp>
      <p:sp>
        <p:nvSpPr>
          <p:cNvPr id="16" name="Text 14"/>
          <p:cNvSpPr/>
          <p:nvPr/>
        </p:nvSpPr>
        <p:spPr>
          <a:xfrm>
            <a:off x="8385048" y="2313432"/>
            <a:ext cx="2990088" cy="850392"/>
          </a:xfrm>
          <a:prstGeom prst="rect">
            <a:avLst/>
          </a:prstGeom>
          <a:noFill/>
          <a:ln/>
        </p:spPr>
        <p:txBody>
          <a:bodyPr wrap="square" lIns="254" tIns="254" rIns="254" bIns="254" rtlCol="0" anchor="ctr">
            <a:normAutofit/>
          </a:bodyPr>
          <a:lstStyle/>
          <a:p>
            <a:r>
              <a:rPr lang="vi-VN"/>
              <a:t>giám đốc BQL/công ty lâm nghiệp, chủ đầu tư dự án các-bon.</a:t>
            </a:r>
            <a:endParaRPr/>
          </a:p>
        </p:txBody>
      </p:sp>
      <p:sp>
        <p:nvSpPr>
          <p:cNvPr id="17" name="Text 15"/>
          <p:cNvSpPr/>
          <p:nvPr/>
        </p:nvSpPr>
        <p:spPr>
          <a:xfrm>
            <a:off x="731520" y="3886200"/>
            <a:ext cx="365760" cy="365760"/>
          </a:xfrm>
          <a:prstGeom prst="rect">
            <a:avLst/>
          </a:prstGeom>
          <a:solidFill>
            <a:srgbClr val="1F4E78"/>
          </a:solidFill>
          <a:ln/>
        </p:spPr>
        <p:txBody>
          <a:bodyPr wrap="square" lIns="635" tIns="635" rIns="635" bIns="635" rtlCol="0" anchor="ctr"/>
          <a:lstStyle/>
          <a:p>
            <a:pPr marL="0" indent="0" algn="ctr">
              <a:buNone/>
            </a:pPr>
            <a:r>
              <a:rPr lang="en-US" sz="1600" b="1" dirty="0">
                <a:solidFill>
                  <a:srgbClr val="FFFFFF"/>
                </a:solidFill>
              </a:rPr>
              <a:t>1</a:t>
            </a:r>
            <a:endParaRPr lang="en-US" sz="1600" dirty="0"/>
          </a:p>
        </p:txBody>
      </p:sp>
      <p:sp>
        <p:nvSpPr>
          <p:cNvPr id="18" name="Text 16"/>
          <p:cNvSpPr/>
          <p:nvPr/>
        </p:nvSpPr>
        <p:spPr>
          <a:xfrm>
            <a:off x="1184520" y="3837432"/>
            <a:ext cx="1557279" cy="502920"/>
          </a:xfrm>
          <a:prstGeom prst="rect">
            <a:avLst/>
          </a:prstGeom>
          <a:noFill/>
          <a:ln/>
        </p:spPr>
        <p:txBody>
          <a:bodyPr wrap="square" lIns="0" tIns="0" rIns="0" bIns="0" rtlCol="0" anchor="ctr">
            <a:normAutofit lnSpcReduction="10000"/>
          </a:bodyPr>
          <a:lstStyle/>
          <a:p>
            <a:r>
              <a:rPr lang="en-US" b="1" dirty="0" err="1">
                <a:solidFill>
                  <a:srgbClr val="17365D"/>
                </a:solidFill>
              </a:rPr>
              <a:t>Nhận</a:t>
            </a:r>
            <a:r>
              <a:rPr lang="en-US" b="1" dirty="0">
                <a:solidFill>
                  <a:srgbClr val="17365D"/>
                </a:solidFill>
              </a:rPr>
              <a:t> </a:t>
            </a:r>
            <a:r>
              <a:rPr lang="en-US" b="1" dirty="0" err="1">
                <a:solidFill>
                  <a:srgbClr val="17365D"/>
                </a:solidFill>
              </a:rPr>
              <a:t>diện</a:t>
            </a:r>
            <a:r>
              <a:rPr lang="en-US" b="1" dirty="0">
                <a:solidFill>
                  <a:srgbClr val="17365D"/>
                </a:solidFill>
              </a:rPr>
              <a:t> </a:t>
            </a:r>
            <a:r>
              <a:rPr lang="en-US" b="1" dirty="0" err="1">
                <a:solidFill>
                  <a:srgbClr val="17365D"/>
                </a:solidFill>
              </a:rPr>
              <a:t>nhu</a:t>
            </a:r>
            <a:r>
              <a:rPr lang="en-US" b="1" dirty="0">
                <a:solidFill>
                  <a:srgbClr val="17365D"/>
                </a:solidFill>
              </a:rPr>
              <a:t> </a:t>
            </a:r>
            <a:r>
              <a:rPr lang="en-US" b="1" dirty="0" err="1">
                <a:solidFill>
                  <a:srgbClr val="17365D"/>
                </a:solidFill>
              </a:rPr>
              <a:t>cầu</a:t>
            </a:r>
            <a:endParaRPr lang="en-US" dirty="0"/>
          </a:p>
        </p:txBody>
      </p:sp>
      <p:sp>
        <p:nvSpPr>
          <p:cNvPr id="19" name="Text 17"/>
          <p:cNvSpPr/>
          <p:nvPr/>
        </p:nvSpPr>
        <p:spPr>
          <a:xfrm>
            <a:off x="2926080" y="3886200"/>
            <a:ext cx="365760" cy="365760"/>
          </a:xfrm>
          <a:prstGeom prst="rect">
            <a:avLst/>
          </a:prstGeom>
          <a:solidFill>
            <a:srgbClr val="1F4E78"/>
          </a:solidFill>
          <a:ln/>
        </p:spPr>
        <p:txBody>
          <a:bodyPr wrap="square" lIns="635" tIns="635" rIns="635" bIns="635" rtlCol="0" anchor="ctr"/>
          <a:lstStyle/>
          <a:p>
            <a:pPr marL="0" indent="0" algn="ctr">
              <a:buNone/>
            </a:pPr>
            <a:r>
              <a:rPr lang="en-US" sz="1600" b="1" dirty="0">
                <a:solidFill>
                  <a:srgbClr val="FFFFFF"/>
                </a:solidFill>
              </a:rPr>
              <a:t>2</a:t>
            </a:r>
            <a:endParaRPr lang="en-US" sz="1600" dirty="0"/>
          </a:p>
        </p:txBody>
      </p:sp>
      <p:sp>
        <p:nvSpPr>
          <p:cNvPr id="20" name="Text 18"/>
          <p:cNvSpPr/>
          <p:nvPr/>
        </p:nvSpPr>
        <p:spPr>
          <a:xfrm>
            <a:off x="3399141" y="3837432"/>
            <a:ext cx="1607570" cy="643128"/>
          </a:xfrm>
          <a:prstGeom prst="rect">
            <a:avLst/>
          </a:prstGeom>
          <a:noFill/>
          <a:ln/>
        </p:spPr>
        <p:txBody>
          <a:bodyPr wrap="square" lIns="0" tIns="0" rIns="0" bIns="0" rtlCol="0" anchor="ctr">
            <a:noAutofit/>
          </a:bodyPr>
          <a:lstStyle/>
          <a:p>
            <a:r>
              <a:rPr lang="en-US" sz="1700" b="1">
                <a:solidFill>
                  <a:srgbClr val="17365D"/>
                </a:solidFill>
              </a:rPr>
              <a:t>Tiếp nhận thông tin &amp; Khảo sát</a:t>
            </a:r>
            <a:endParaRPr lang="en-US" sz="1700" dirty="0"/>
          </a:p>
        </p:txBody>
      </p:sp>
      <p:sp>
        <p:nvSpPr>
          <p:cNvPr id="21" name="Text 19"/>
          <p:cNvSpPr/>
          <p:nvPr/>
        </p:nvSpPr>
        <p:spPr>
          <a:xfrm>
            <a:off x="5120640" y="3886200"/>
            <a:ext cx="365760" cy="365760"/>
          </a:xfrm>
          <a:prstGeom prst="rect">
            <a:avLst/>
          </a:prstGeom>
          <a:solidFill>
            <a:srgbClr val="1F4E78"/>
          </a:solidFill>
          <a:ln/>
        </p:spPr>
        <p:txBody>
          <a:bodyPr wrap="square" lIns="635" tIns="635" rIns="635" bIns="635" rtlCol="0" anchor="ctr"/>
          <a:lstStyle/>
          <a:p>
            <a:pPr marL="0" indent="0" algn="ctr">
              <a:buNone/>
            </a:pPr>
            <a:r>
              <a:rPr lang="en-US" sz="1600" b="1" dirty="0">
                <a:solidFill>
                  <a:srgbClr val="FFFFFF"/>
                </a:solidFill>
              </a:rPr>
              <a:t>3</a:t>
            </a:r>
            <a:endParaRPr lang="en-US" sz="1600" dirty="0"/>
          </a:p>
        </p:txBody>
      </p:sp>
      <p:sp>
        <p:nvSpPr>
          <p:cNvPr id="22" name="Text 20"/>
          <p:cNvSpPr/>
          <p:nvPr/>
        </p:nvSpPr>
        <p:spPr>
          <a:xfrm>
            <a:off x="5600329" y="3627120"/>
            <a:ext cx="1325879" cy="923544"/>
          </a:xfrm>
          <a:prstGeom prst="rect">
            <a:avLst/>
          </a:prstGeom>
          <a:noFill/>
          <a:ln/>
        </p:spPr>
        <p:txBody>
          <a:bodyPr wrap="square" lIns="0" tIns="0" rIns="0" bIns="0" rtlCol="0" anchor="ctr">
            <a:normAutofit/>
          </a:bodyPr>
          <a:lstStyle/>
          <a:p>
            <a:r>
              <a:rPr lang="en-US" b="1">
                <a:solidFill>
                  <a:srgbClr val="17365D"/>
                </a:solidFill>
              </a:rPr>
              <a:t>Lựa chọn gói dịch vụ</a:t>
            </a:r>
            <a:endParaRPr lang="en-US" dirty="0"/>
          </a:p>
        </p:txBody>
      </p:sp>
      <p:sp>
        <p:nvSpPr>
          <p:cNvPr id="23" name="Text 21"/>
          <p:cNvSpPr/>
          <p:nvPr/>
        </p:nvSpPr>
        <p:spPr>
          <a:xfrm>
            <a:off x="7315200" y="3886200"/>
            <a:ext cx="365760" cy="365760"/>
          </a:xfrm>
          <a:prstGeom prst="rect">
            <a:avLst/>
          </a:prstGeom>
          <a:solidFill>
            <a:srgbClr val="1F4E78"/>
          </a:solidFill>
          <a:ln/>
        </p:spPr>
        <p:txBody>
          <a:bodyPr wrap="square" lIns="635" tIns="635" rIns="635" bIns="635" rtlCol="0" anchor="ctr"/>
          <a:lstStyle/>
          <a:p>
            <a:pPr marL="0" indent="0" algn="ctr">
              <a:buNone/>
            </a:pPr>
            <a:r>
              <a:rPr lang="en-US" sz="1600" b="1" dirty="0">
                <a:solidFill>
                  <a:srgbClr val="FFFFFF"/>
                </a:solidFill>
              </a:rPr>
              <a:t>4</a:t>
            </a:r>
            <a:endParaRPr lang="en-US" sz="1600" dirty="0"/>
          </a:p>
        </p:txBody>
      </p:sp>
      <p:sp>
        <p:nvSpPr>
          <p:cNvPr id="24" name="Text 22"/>
          <p:cNvSpPr/>
          <p:nvPr/>
        </p:nvSpPr>
        <p:spPr>
          <a:xfrm>
            <a:off x="7815320" y="3977640"/>
            <a:ext cx="1557279" cy="502920"/>
          </a:xfrm>
          <a:prstGeom prst="rect">
            <a:avLst/>
          </a:prstGeom>
          <a:noFill/>
          <a:ln/>
        </p:spPr>
        <p:txBody>
          <a:bodyPr wrap="square" lIns="0" tIns="0" rIns="0" bIns="0" rtlCol="0" anchor="ctr">
            <a:normAutofit lnSpcReduction="10000"/>
          </a:bodyPr>
          <a:lstStyle/>
          <a:p>
            <a:r>
              <a:rPr lang="en-US" b="1">
                <a:solidFill>
                  <a:srgbClr val="17365D"/>
                </a:solidFill>
              </a:rPr>
              <a:t>Đề xuất &amp; báo giá</a:t>
            </a:r>
            <a:endParaRPr lang="en-US" dirty="0"/>
          </a:p>
        </p:txBody>
      </p:sp>
      <p:sp>
        <p:nvSpPr>
          <p:cNvPr id="25" name="Text 23"/>
          <p:cNvSpPr/>
          <p:nvPr/>
        </p:nvSpPr>
        <p:spPr>
          <a:xfrm>
            <a:off x="9509760" y="3886200"/>
            <a:ext cx="365760" cy="365760"/>
          </a:xfrm>
          <a:prstGeom prst="rect">
            <a:avLst/>
          </a:prstGeom>
          <a:solidFill>
            <a:srgbClr val="1F4E78"/>
          </a:solidFill>
          <a:ln/>
        </p:spPr>
        <p:txBody>
          <a:bodyPr wrap="square" lIns="635" tIns="635" rIns="635" bIns="635" rtlCol="0" anchor="ctr"/>
          <a:lstStyle/>
          <a:p>
            <a:pPr marL="0" indent="0" algn="ctr">
              <a:buNone/>
            </a:pPr>
            <a:r>
              <a:rPr lang="en-US" sz="1600" b="1" dirty="0">
                <a:solidFill>
                  <a:srgbClr val="FFFFFF"/>
                </a:solidFill>
              </a:rPr>
              <a:t>5</a:t>
            </a:r>
            <a:endParaRPr lang="en-US" sz="1600" dirty="0"/>
          </a:p>
        </p:txBody>
      </p:sp>
      <p:sp>
        <p:nvSpPr>
          <p:cNvPr id="26" name="Text 24"/>
          <p:cNvSpPr/>
          <p:nvPr/>
        </p:nvSpPr>
        <p:spPr>
          <a:xfrm>
            <a:off x="10062319" y="3886200"/>
            <a:ext cx="1312817" cy="877824"/>
          </a:xfrm>
          <a:prstGeom prst="rect">
            <a:avLst/>
          </a:prstGeom>
          <a:noFill/>
          <a:ln/>
        </p:spPr>
        <p:txBody>
          <a:bodyPr wrap="square" lIns="0" tIns="0" rIns="0" bIns="0" rtlCol="0" anchor="ctr">
            <a:normAutofit/>
          </a:bodyPr>
          <a:lstStyle/>
          <a:p>
            <a:r>
              <a:rPr lang="en-US" b="1" dirty="0" err="1">
                <a:solidFill>
                  <a:srgbClr val="17365D"/>
                </a:solidFill>
              </a:rPr>
              <a:t>Phê</a:t>
            </a:r>
            <a:r>
              <a:rPr lang="en-US" b="1" dirty="0">
                <a:solidFill>
                  <a:srgbClr val="17365D"/>
                </a:solidFill>
              </a:rPr>
              <a:t> </a:t>
            </a:r>
            <a:r>
              <a:rPr lang="en-US" b="1" dirty="0" err="1">
                <a:solidFill>
                  <a:srgbClr val="17365D"/>
                </a:solidFill>
              </a:rPr>
              <a:t>duyệt</a:t>
            </a:r>
            <a:r>
              <a:rPr lang="en-US" b="1" dirty="0">
                <a:solidFill>
                  <a:srgbClr val="17365D"/>
                </a:solidFill>
              </a:rPr>
              <a:t> / </a:t>
            </a:r>
            <a:r>
              <a:rPr lang="en-US" b="1" dirty="0" err="1">
                <a:solidFill>
                  <a:srgbClr val="17365D"/>
                </a:solidFill>
              </a:rPr>
              <a:t>hợp</a:t>
            </a:r>
            <a:r>
              <a:rPr lang="en-US" b="1" dirty="0">
                <a:solidFill>
                  <a:srgbClr val="17365D"/>
                </a:solidFill>
              </a:rPr>
              <a:t> </a:t>
            </a:r>
            <a:r>
              <a:rPr lang="en-US" b="1" dirty="0" err="1">
                <a:solidFill>
                  <a:srgbClr val="17365D"/>
                </a:solidFill>
              </a:rPr>
              <a:t>đồng</a:t>
            </a:r>
            <a:r>
              <a:rPr lang="en-US" b="1" dirty="0">
                <a:solidFill>
                  <a:srgbClr val="17365D"/>
                </a:solidFill>
              </a:rPr>
              <a:t> </a:t>
            </a:r>
            <a:r>
              <a:rPr lang="en-US" b="1" dirty="0" err="1">
                <a:solidFill>
                  <a:srgbClr val="17365D"/>
                </a:solidFill>
              </a:rPr>
              <a:t>triển</a:t>
            </a:r>
            <a:r>
              <a:rPr lang="en-US" b="1" dirty="0">
                <a:solidFill>
                  <a:srgbClr val="17365D"/>
                </a:solidFill>
              </a:rPr>
              <a:t> </a:t>
            </a:r>
            <a:r>
              <a:rPr lang="en-US" b="1" dirty="0" err="1">
                <a:solidFill>
                  <a:srgbClr val="17365D"/>
                </a:solidFill>
              </a:rPr>
              <a:t>khai</a:t>
            </a:r>
            <a:endParaRPr lang="en-US" dirty="0"/>
          </a:p>
        </p:txBody>
      </p:sp>
      <p:sp>
        <p:nvSpPr>
          <p:cNvPr id="27" name="Text 25"/>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DMU và Buying Journey là nội dung bổ sung từ Quy trình 24 bước; nếu chưa có dữ liệu thực tế thì đánh dấu cần BD/Sales xác minh.</a:t>
            </a:r>
            <a:endParaRPr lang="en-US" sz="850" dirty="0"/>
          </a:p>
        </p:txBody>
      </p:sp>
      <p:sp>
        <p:nvSpPr>
          <p:cNvPr id="28"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10. SALES FAQ / OBJECTION HANDLING</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Những câu hỏi khách hàng thường cần được làm rõ trước khi đi tiếp?</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HANDLE QUESTIONS</a:t>
            </a:r>
            <a:endParaRPr lang="en-US" sz="850" dirty="0"/>
          </a:p>
        </p:txBody>
      </p:sp>
      <p:sp>
        <p:nvSpPr>
          <p:cNvPr id="5" name="Shape 3"/>
          <p:cNvSpPr/>
          <p:nvPr/>
        </p:nvSpPr>
        <p:spPr>
          <a:xfrm>
            <a:off x="685800" y="1737360"/>
            <a:ext cx="516636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6" name="Shape 4"/>
          <p:cNvSpPr/>
          <p:nvPr/>
        </p:nvSpPr>
        <p:spPr>
          <a:xfrm>
            <a:off x="685800" y="1737360"/>
            <a:ext cx="64008" cy="1417320"/>
          </a:xfrm>
          <a:prstGeom prst="rect">
            <a:avLst/>
          </a:prstGeom>
          <a:solidFill>
            <a:srgbClr val="1F4E78"/>
          </a:solidFill>
          <a:ln w="12700">
            <a:solidFill>
              <a:srgbClr val="1F4E78"/>
            </a:solidFill>
            <a:prstDash val="solid"/>
          </a:ln>
        </p:spPr>
        <p:txBody>
          <a:bodyPr/>
          <a:lstStyle/>
          <a:p>
            <a:endParaRPr lang="en-US"/>
          </a:p>
        </p:txBody>
      </p:sp>
      <p:sp>
        <p:nvSpPr>
          <p:cNvPr id="7" name="Text 5"/>
          <p:cNvSpPr/>
          <p:nvPr/>
        </p:nvSpPr>
        <p:spPr>
          <a:xfrm>
            <a:off x="886968" y="1901952"/>
            <a:ext cx="4818888" cy="292608"/>
          </a:xfrm>
          <a:prstGeom prst="rect">
            <a:avLst/>
          </a:prstGeom>
          <a:noFill/>
          <a:ln/>
        </p:spPr>
        <p:txBody>
          <a:bodyPr wrap="square" lIns="0" tIns="0" rIns="0" bIns="0" rtlCol="0" anchor="ctr">
            <a:normAutofit/>
          </a:bodyPr>
          <a:lstStyle/>
          <a:p>
            <a:r>
              <a:rPr lang="en-US" b="1"/>
              <a:t>Dịch vụ tính các-bon bằng cách nào?</a:t>
            </a:r>
            <a:endParaRPr b="1" dirty="0"/>
          </a:p>
        </p:txBody>
      </p:sp>
      <mc:AlternateContent xmlns:mc="http://schemas.openxmlformats.org/markup-compatibility/2006">
        <mc:Choice xmlns:a14="http://schemas.microsoft.com/office/drawing/2010/main" Requires="a14">
          <p:sp>
            <p:nvSpPr>
              <p:cNvPr id="8" name="Text 6"/>
              <p:cNvSpPr/>
              <p:nvPr/>
            </p:nvSpPr>
            <p:spPr>
              <a:xfrm>
                <a:off x="886968" y="2267712"/>
                <a:ext cx="4818888" cy="758952"/>
              </a:xfrm>
              <a:prstGeom prst="rect">
                <a:avLst/>
              </a:prstGeom>
              <a:noFill/>
              <a:ln/>
            </p:spPr>
            <p:txBody>
              <a:bodyPr wrap="square" lIns="254" tIns="254" rIns="254" bIns="254" rtlCol="0" anchor="ctr">
                <a:normAutofit fontScale="77500" lnSpcReduction="20000"/>
              </a:bodyPr>
              <a:lstStyle/>
              <a:p>
                <a:r>
                  <a:rPr lang="en-US"/>
                  <a:t>UAV LiDAR quét xuyên tán kết hợp ô tiêu chuẩn mặt đất (</a:t>
                </a:r>
                <a14:m>
                  <m:oMath xmlns:m="http://schemas.openxmlformats.org/officeDocument/2006/math">
                    <m:sSub>
                      <m:sSubPr>
                        <m:ctrlPr>
                          <a:rPr lang="en-US" i="1"/>
                        </m:ctrlPr>
                      </m:sSubPr>
                      <m:e>
                        <m:r>
                          <a:rPr lang="en-US" i="1"/>
                          <m:t>𝐷</m:t>
                        </m:r>
                      </m:e>
                      <m:sub>
                        <m:r>
                          <a:rPr lang="en-US"/>
                          <m:t>1.3</m:t>
                        </m:r>
                      </m:sub>
                    </m:sSub>
                    <m:r>
                      <a:rPr lang="en-US"/>
                      <m:t>,</m:t>
                    </m:r>
                    <m:sSub>
                      <m:sSubPr>
                        <m:ctrlPr>
                          <a:rPr lang="en-US" i="1"/>
                        </m:ctrlPr>
                      </m:sSubPr>
                      <m:e>
                        <m:r>
                          <a:rPr lang="en-US" i="1"/>
                          <m:t>𝐻</m:t>
                        </m:r>
                      </m:e>
                      <m:sub>
                        <m:r>
                          <a:rPr lang="en-US" i="1"/>
                          <m:t>𝑣𝑛</m:t>
                        </m:r>
                      </m:sub>
                    </m:sSub>
                  </m:oMath>
                </a14:m>
                <a:r>
                  <a:rPr lang="en-US"/>
                  <a:t>) để thu thập cấu trúc 3D, áp dụng phương trình Allometric và Machine Learning để ước tính sinh khối (AGB) và trữ lượng các-bon.</a:t>
                </a:r>
                <a:endParaRPr/>
              </a:p>
            </p:txBody>
          </p:sp>
        </mc:Choice>
        <mc:Fallback>
          <p:sp>
            <p:nvSpPr>
              <p:cNvPr id="8" name="Text 6"/>
              <p:cNvSpPr>
                <a:spLocks noRot="1" noChangeAspect="1" noMove="1" noResize="1" noEditPoints="1" noAdjustHandles="1" noChangeArrowheads="1" noChangeShapeType="1" noTextEdit="1"/>
              </p:cNvSpPr>
              <p:nvPr/>
            </p:nvSpPr>
            <p:spPr>
              <a:xfrm>
                <a:off x="886968" y="2267712"/>
                <a:ext cx="4818888" cy="758952"/>
              </a:xfrm>
              <a:prstGeom prst="rect">
                <a:avLst/>
              </a:prstGeom>
              <a:blipFill>
                <a:blip r:embed="rId3"/>
                <a:stretch>
                  <a:fillRect l="-2278" t="-8000" r="-1519" b="-8800"/>
                </a:stretch>
              </a:blipFill>
              <a:ln/>
            </p:spPr>
            <p:txBody>
              <a:bodyPr/>
              <a:lstStyle/>
              <a:p>
                <a:r>
                  <a:rPr lang="en-US">
                    <a:noFill/>
                  </a:rPr>
                  <a:t> </a:t>
                </a:r>
              </a:p>
            </p:txBody>
          </p:sp>
        </mc:Fallback>
      </mc:AlternateContent>
      <p:sp>
        <p:nvSpPr>
          <p:cNvPr id="9" name="Shape 7"/>
          <p:cNvSpPr/>
          <p:nvPr/>
        </p:nvSpPr>
        <p:spPr>
          <a:xfrm>
            <a:off x="6217920" y="1737360"/>
            <a:ext cx="516636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0" name="Shape 8"/>
          <p:cNvSpPr/>
          <p:nvPr/>
        </p:nvSpPr>
        <p:spPr>
          <a:xfrm>
            <a:off x="6217920" y="1737360"/>
            <a:ext cx="64008" cy="1417320"/>
          </a:xfrm>
          <a:prstGeom prst="rect">
            <a:avLst/>
          </a:prstGeom>
          <a:solidFill>
            <a:srgbClr val="1F4E78"/>
          </a:solidFill>
          <a:ln w="12700">
            <a:solidFill>
              <a:srgbClr val="1F4E78"/>
            </a:solidFill>
            <a:prstDash val="solid"/>
          </a:ln>
        </p:spPr>
        <p:txBody>
          <a:bodyPr/>
          <a:lstStyle/>
          <a:p>
            <a:endParaRPr lang="en-US"/>
          </a:p>
        </p:txBody>
      </p:sp>
      <p:sp>
        <p:nvSpPr>
          <p:cNvPr id="11" name="Text 9"/>
          <p:cNvSpPr/>
          <p:nvPr/>
        </p:nvSpPr>
        <p:spPr>
          <a:xfrm>
            <a:off x="6419088" y="1901952"/>
            <a:ext cx="4818888" cy="292608"/>
          </a:xfrm>
          <a:prstGeom prst="rect">
            <a:avLst/>
          </a:prstGeom>
          <a:noFill/>
          <a:ln/>
        </p:spPr>
        <p:txBody>
          <a:bodyPr wrap="square" lIns="0" tIns="0" rIns="0" bIns="0" rtlCol="0" anchor="ctr">
            <a:normAutofit fontScale="92500"/>
          </a:bodyPr>
          <a:lstStyle/>
          <a:p>
            <a:r>
              <a:rPr lang="en-US" b="1"/>
              <a:t>Kết quả có thay thế thẩm định tín chỉ không?</a:t>
            </a:r>
            <a:endParaRPr b="1" dirty="0"/>
          </a:p>
        </p:txBody>
      </p:sp>
      <p:sp>
        <p:nvSpPr>
          <p:cNvPr id="12" name="Text 10"/>
          <p:cNvSpPr/>
          <p:nvPr/>
        </p:nvSpPr>
        <p:spPr>
          <a:xfrm>
            <a:off x="6419088" y="2267712"/>
            <a:ext cx="4818888" cy="758952"/>
          </a:xfrm>
          <a:prstGeom prst="rect">
            <a:avLst/>
          </a:prstGeom>
          <a:noFill/>
          <a:ln/>
        </p:spPr>
        <p:txBody>
          <a:bodyPr wrap="square" lIns="254" tIns="254" rIns="254" bIns="254" rtlCol="0" anchor="ctr">
            <a:normAutofit fontScale="85000" lnSpcReduction="20000"/>
          </a:bodyPr>
          <a:lstStyle/>
          <a:p>
            <a:r>
              <a:rPr lang="en-US"/>
              <a:t>Không. Đây là dữ liệu đo đạc kỹ thuật gốc chất lượng cao, đóng vai trò là chứng cứ số hóa đầu vào bắt buộc để chủ rừng nộp cho cơ quan nhà nước và tổ chức thẩm định độc lập theo Nghị định 180/2026/NĐ-CP.</a:t>
            </a:r>
            <a:endParaRPr/>
          </a:p>
        </p:txBody>
      </p:sp>
      <p:sp>
        <p:nvSpPr>
          <p:cNvPr id="13" name="Shape 11"/>
          <p:cNvSpPr/>
          <p:nvPr/>
        </p:nvSpPr>
        <p:spPr>
          <a:xfrm>
            <a:off x="685800" y="3566160"/>
            <a:ext cx="516636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685800" y="3566160"/>
            <a:ext cx="64008" cy="1417320"/>
          </a:xfrm>
          <a:prstGeom prst="rect">
            <a:avLst/>
          </a:prstGeom>
          <a:solidFill>
            <a:srgbClr val="1F4E78"/>
          </a:solidFill>
          <a:ln w="12700">
            <a:solidFill>
              <a:srgbClr val="1F4E78"/>
            </a:solidFill>
            <a:prstDash val="solid"/>
          </a:ln>
        </p:spPr>
        <p:txBody>
          <a:bodyPr/>
          <a:lstStyle/>
          <a:p>
            <a:endParaRPr lang="en-US"/>
          </a:p>
        </p:txBody>
      </p:sp>
      <p:sp>
        <p:nvSpPr>
          <p:cNvPr id="15" name="Text 13"/>
          <p:cNvSpPr/>
          <p:nvPr/>
        </p:nvSpPr>
        <p:spPr>
          <a:xfrm>
            <a:off x="886968" y="3730752"/>
            <a:ext cx="4818888" cy="292608"/>
          </a:xfrm>
          <a:prstGeom prst="rect">
            <a:avLst/>
          </a:prstGeom>
          <a:noFill/>
          <a:ln/>
        </p:spPr>
        <p:txBody>
          <a:bodyPr wrap="square" lIns="0" tIns="0" rIns="0" bIns="0" rtlCol="0" anchor="ctr">
            <a:normAutofit/>
          </a:bodyPr>
          <a:lstStyle/>
          <a:p>
            <a:r>
              <a:rPr b="1" dirty="0" err="1"/>
              <a:t>Điều</a:t>
            </a:r>
            <a:r>
              <a:rPr b="1" dirty="0"/>
              <a:t> </a:t>
            </a:r>
            <a:r>
              <a:rPr b="1" dirty="0" err="1"/>
              <a:t>kiện</a:t>
            </a:r>
            <a:r>
              <a:rPr b="1" dirty="0"/>
              <a:t> </a:t>
            </a:r>
            <a:r>
              <a:rPr b="1" dirty="0" err="1"/>
              <a:t>triển</a:t>
            </a:r>
            <a:r>
              <a:rPr b="1" dirty="0"/>
              <a:t> </a:t>
            </a:r>
            <a:r>
              <a:rPr b="1" dirty="0" err="1"/>
              <a:t>khai</a:t>
            </a:r>
            <a:r>
              <a:rPr b="1" dirty="0"/>
              <a:t> </a:t>
            </a:r>
            <a:r>
              <a:rPr b="1" dirty="0" err="1"/>
              <a:t>tại</a:t>
            </a:r>
            <a:r>
              <a:rPr b="1" dirty="0"/>
              <a:t> </a:t>
            </a:r>
            <a:r>
              <a:rPr b="1" dirty="0" err="1"/>
              <a:t>hiện</a:t>
            </a:r>
            <a:r>
              <a:rPr b="1" dirty="0"/>
              <a:t> </a:t>
            </a:r>
            <a:r>
              <a:rPr b="1" dirty="0" err="1"/>
              <a:t>trường</a:t>
            </a:r>
            <a:r>
              <a:rPr b="1" dirty="0"/>
              <a:t>?</a:t>
            </a:r>
          </a:p>
        </p:txBody>
      </p:sp>
      <p:sp>
        <p:nvSpPr>
          <p:cNvPr id="16" name="Text 14"/>
          <p:cNvSpPr/>
          <p:nvPr/>
        </p:nvSpPr>
        <p:spPr>
          <a:xfrm>
            <a:off x="886968" y="4096512"/>
            <a:ext cx="4818888" cy="758952"/>
          </a:xfrm>
          <a:prstGeom prst="rect">
            <a:avLst/>
          </a:prstGeom>
          <a:noFill/>
          <a:ln/>
        </p:spPr>
        <p:txBody>
          <a:bodyPr wrap="square" lIns="254" tIns="254" rIns="254" bIns="254" rtlCol="0" anchor="ctr">
            <a:normAutofit fontScale="85000" lnSpcReduction="20000"/>
          </a:bodyPr>
          <a:lstStyle/>
          <a:p>
            <a:r>
              <a:rPr lang="en-US"/>
              <a:t>Cần ranh giới lô rừng số, hồ sơ hiện trạng, tuân thủ nghiêm ngặt thủ tục cấp phép bay theo Nghị định 288/2025/NĐ-CP và phối hợp dẫn đường tiếp cận ô mẫu mặt đất.</a:t>
            </a:r>
            <a:endParaRPr/>
          </a:p>
        </p:txBody>
      </p:sp>
      <p:sp>
        <p:nvSpPr>
          <p:cNvPr id="17" name="Shape 15"/>
          <p:cNvSpPr/>
          <p:nvPr/>
        </p:nvSpPr>
        <p:spPr>
          <a:xfrm>
            <a:off x="6217920" y="3566160"/>
            <a:ext cx="5166360" cy="1417320"/>
          </a:xfrm>
          <a:prstGeom prst="roundRect">
            <a:avLst>
              <a:gd name="adj" fmla="val 3226"/>
            </a:avLst>
          </a:prstGeom>
          <a:solidFill>
            <a:srgbClr val="FFFFFF"/>
          </a:solidFill>
          <a:ln w="12700">
            <a:solidFill>
              <a:srgbClr val="D9E2EC"/>
            </a:solidFill>
            <a:prstDash val="solid"/>
          </a:ln>
        </p:spPr>
        <p:txBody>
          <a:bodyPr/>
          <a:lstStyle/>
          <a:p>
            <a:endParaRPr lang="en-US"/>
          </a:p>
        </p:txBody>
      </p:sp>
      <p:sp>
        <p:nvSpPr>
          <p:cNvPr id="18" name="Shape 16"/>
          <p:cNvSpPr/>
          <p:nvPr/>
        </p:nvSpPr>
        <p:spPr>
          <a:xfrm>
            <a:off x="6217920" y="3566160"/>
            <a:ext cx="64008" cy="1417320"/>
          </a:xfrm>
          <a:prstGeom prst="rect">
            <a:avLst/>
          </a:prstGeom>
          <a:solidFill>
            <a:srgbClr val="C89B3C"/>
          </a:solidFill>
          <a:ln w="12700">
            <a:solidFill>
              <a:srgbClr val="C89B3C"/>
            </a:solidFill>
            <a:prstDash val="solid"/>
          </a:ln>
        </p:spPr>
        <p:txBody>
          <a:bodyPr/>
          <a:lstStyle/>
          <a:p>
            <a:endParaRPr lang="en-US"/>
          </a:p>
        </p:txBody>
      </p:sp>
      <p:sp>
        <p:nvSpPr>
          <p:cNvPr id="19" name="Text 17"/>
          <p:cNvSpPr/>
          <p:nvPr/>
        </p:nvSpPr>
        <p:spPr>
          <a:xfrm>
            <a:off x="6419088" y="3730752"/>
            <a:ext cx="4818888" cy="292608"/>
          </a:xfrm>
          <a:prstGeom prst="rect">
            <a:avLst/>
          </a:prstGeom>
          <a:noFill/>
          <a:ln/>
        </p:spPr>
        <p:txBody>
          <a:bodyPr wrap="square" lIns="0" tIns="0" rIns="0" bIns="0" rtlCol="0" anchor="ctr">
            <a:normAutofit/>
          </a:bodyPr>
          <a:lstStyle/>
          <a:p>
            <a:r>
              <a:rPr b="1" dirty="0" err="1"/>
              <a:t>Giá</a:t>
            </a:r>
            <a:r>
              <a:rPr b="1" dirty="0"/>
              <a:t> </a:t>
            </a:r>
            <a:r>
              <a:rPr b="1" dirty="0" err="1"/>
              <a:t>và</a:t>
            </a:r>
            <a:r>
              <a:rPr b="1" dirty="0"/>
              <a:t> </a:t>
            </a:r>
            <a:r>
              <a:rPr b="1" dirty="0" err="1"/>
              <a:t>thời</a:t>
            </a:r>
            <a:r>
              <a:rPr b="1" dirty="0"/>
              <a:t> </a:t>
            </a:r>
            <a:r>
              <a:rPr b="1" dirty="0" err="1"/>
              <a:t>gian</a:t>
            </a:r>
            <a:r>
              <a:rPr b="1" dirty="0"/>
              <a:t> </a:t>
            </a:r>
            <a:r>
              <a:rPr b="1" dirty="0" err="1"/>
              <a:t>triển</a:t>
            </a:r>
            <a:r>
              <a:rPr b="1" dirty="0"/>
              <a:t> </a:t>
            </a:r>
            <a:r>
              <a:rPr b="1" dirty="0" err="1"/>
              <a:t>khai</a:t>
            </a:r>
            <a:r>
              <a:rPr b="1" dirty="0"/>
              <a:t>?</a:t>
            </a:r>
          </a:p>
        </p:txBody>
      </p:sp>
      <p:sp>
        <p:nvSpPr>
          <p:cNvPr id="20" name="Text 18"/>
          <p:cNvSpPr/>
          <p:nvPr/>
        </p:nvSpPr>
        <p:spPr>
          <a:xfrm>
            <a:off x="6419088" y="4096512"/>
            <a:ext cx="4818888" cy="758952"/>
          </a:xfrm>
          <a:prstGeom prst="rect">
            <a:avLst/>
          </a:prstGeom>
          <a:noFill/>
          <a:ln/>
        </p:spPr>
        <p:txBody>
          <a:bodyPr wrap="square" lIns="254" tIns="254" rIns="254" bIns="254" rtlCol="0" anchor="ctr">
            <a:normAutofit fontScale="85000" lnSpcReduction="10000"/>
          </a:bodyPr>
          <a:lstStyle/>
          <a:p>
            <a:r>
              <a:rPr lang="en-US"/>
              <a:t>Giá tính theo bậc diện tích (VNĐ/ha) kết hợp số lượng ô mẫu mặt đất, do Sales/Finance phê duyệt. Timeline phụ thuộc diện tích và thời gian cấp phép bay. </a:t>
            </a:r>
            <a:endParaRPr/>
          </a:p>
        </p:txBody>
      </p:sp>
      <p:sp>
        <p:nvSpPr>
          <p:cNvPr id="21" name="Text 19"/>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Nếu không có câu trả lời chắc chắn: ghi [CẦN GASCOLAE XÁC NHẬN], không tự trả lời.</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11. NEXT STEP / CALL TO ACTION</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lstStyle/>
          <a:p>
            <a:pPr marL="0" indent="0">
              <a:buNone/>
            </a:pPr>
            <a:r>
              <a:rPr lang="en-US" sz="1050" dirty="0">
                <a:solidFill>
                  <a:srgbClr val="637083"/>
                </a:solidFill>
                <a:latin typeface="Arial" pitchFamily="34" charset="0"/>
                <a:ea typeface="Arial" pitchFamily="34" charset="-122"/>
                <a:cs typeface="Arial" pitchFamily="34" charset="-120"/>
              </a:rPr>
              <a:t>Khách hàng và GASCOLAE cần làm gì tiếp theo?</a:t>
            </a:r>
            <a:endParaRPr lang="en-US" sz="1050" dirty="0"/>
          </a:p>
        </p:txBody>
      </p:sp>
      <p:sp>
        <p:nvSpPr>
          <p:cNvPr id="4" name="Text 2"/>
          <p:cNvSpPr/>
          <p:nvPr/>
        </p:nvSpPr>
        <p:spPr>
          <a:xfrm>
            <a:off x="594360" y="1389888"/>
            <a:ext cx="1920240" cy="292608"/>
          </a:xfrm>
          <a:prstGeom prst="rect">
            <a:avLst/>
          </a:prstGeom>
          <a:solidFill>
            <a:srgbClr val="EAF2F8"/>
          </a:solidFill>
          <a:ln>
            <a:solidFill>
              <a:srgbClr val="C7D9EA"/>
            </a:solidFill>
          </a:ln>
        </p:spPr>
        <p:txBody>
          <a:bodyPr wrap="square" lIns="381" tIns="381" rIns="381" bIns="381" rtlCol="0" anchor="ctr"/>
          <a:lstStyle/>
          <a:p>
            <a:pPr marL="0" indent="0" algn="ctr">
              <a:buNone/>
            </a:pPr>
            <a:r>
              <a:rPr lang="en-US" sz="850" b="1" dirty="0">
                <a:solidFill>
                  <a:srgbClr val="1F4E78"/>
                </a:solidFill>
                <a:latin typeface="Arial" pitchFamily="34" charset="0"/>
                <a:ea typeface="Arial" pitchFamily="34" charset="-122"/>
                <a:cs typeface="Arial" pitchFamily="34" charset="-120"/>
              </a:rPr>
              <a:t>MOVE FORWARD</a:t>
            </a:r>
            <a:endParaRPr lang="en-US" sz="850" dirty="0"/>
          </a:p>
        </p:txBody>
      </p:sp>
      <p:sp>
        <p:nvSpPr>
          <p:cNvPr id="5" name="Text 3"/>
          <p:cNvSpPr/>
          <p:nvPr/>
        </p:nvSpPr>
        <p:spPr>
          <a:xfrm>
            <a:off x="777240" y="2052828"/>
            <a:ext cx="411480" cy="411480"/>
          </a:xfrm>
          <a:prstGeom prst="rect">
            <a:avLst/>
          </a:prstGeom>
          <a:solidFill>
            <a:srgbClr val="1F4E78"/>
          </a:solidFill>
          <a:ln/>
        </p:spPr>
        <p:txBody>
          <a:bodyPr wrap="square" lIns="635" tIns="635" rIns="635" bIns="635" rtlCol="0" anchor="ctr"/>
          <a:lstStyle/>
          <a:p>
            <a:pPr marL="0" indent="0" algn="ctr">
              <a:buNone/>
            </a:pPr>
            <a:r>
              <a:rPr lang="en-US" sz="1500" b="1" dirty="0">
                <a:solidFill>
                  <a:srgbClr val="FFFFFF"/>
                </a:solidFill>
              </a:rPr>
              <a:t>1</a:t>
            </a:r>
            <a:endParaRPr lang="en-US" sz="1500" dirty="0"/>
          </a:p>
        </p:txBody>
      </p:sp>
      <p:sp>
        <p:nvSpPr>
          <p:cNvPr id="6" name="Text 4"/>
          <p:cNvSpPr/>
          <p:nvPr/>
        </p:nvSpPr>
        <p:spPr>
          <a:xfrm>
            <a:off x="1371600" y="2080260"/>
            <a:ext cx="6675120" cy="320040"/>
          </a:xfrm>
          <a:prstGeom prst="rect">
            <a:avLst/>
          </a:prstGeom>
          <a:noFill/>
          <a:ln/>
        </p:spPr>
        <p:txBody>
          <a:bodyPr wrap="square" lIns="0" tIns="0" rIns="0" bIns="0" rtlCol="0" anchor="ctr">
            <a:normAutofit/>
          </a:bodyPr>
          <a:lstStyle/>
          <a:p>
            <a:r>
              <a:t>Xác nhận nhu cầu &amp; phạm vi dự án</a:t>
            </a:r>
          </a:p>
        </p:txBody>
      </p:sp>
      <p:sp>
        <p:nvSpPr>
          <p:cNvPr id="7" name="Text 5"/>
          <p:cNvSpPr/>
          <p:nvPr/>
        </p:nvSpPr>
        <p:spPr>
          <a:xfrm>
            <a:off x="777240" y="2802636"/>
            <a:ext cx="411480" cy="411480"/>
          </a:xfrm>
          <a:prstGeom prst="rect">
            <a:avLst/>
          </a:prstGeom>
          <a:solidFill>
            <a:srgbClr val="1F4E78"/>
          </a:solidFill>
          <a:ln/>
        </p:spPr>
        <p:txBody>
          <a:bodyPr wrap="square" lIns="635" tIns="635" rIns="635" bIns="635" rtlCol="0" anchor="ctr"/>
          <a:lstStyle/>
          <a:p>
            <a:pPr marL="0" indent="0" algn="ctr">
              <a:buNone/>
            </a:pPr>
            <a:r>
              <a:rPr lang="en-US" sz="1500" b="1" dirty="0">
                <a:solidFill>
                  <a:srgbClr val="FFFFFF"/>
                </a:solidFill>
              </a:rPr>
              <a:t>2</a:t>
            </a:r>
            <a:endParaRPr lang="en-US" sz="1500" dirty="0"/>
          </a:p>
        </p:txBody>
      </p:sp>
      <p:sp>
        <p:nvSpPr>
          <p:cNvPr id="8" name="Text 6"/>
          <p:cNvSpPr/>
          <p:nvPr/>
        </p:nvSpPr>
        <p:spPr>
          <a:xfrm>
            <a:off x="1371600" y="2830068"/>
            <a:ext cx="6675120" cy="320040"/>
          </a:xfrm>
          <a:prstGeom prst="rect">
            <a:avLst/>
          </a:prstGeom>
          <a:noFill/>
          <a:ln/>
        </p:spPr>
        <p:txBody>
          <a:bodyPr wrap="square" lIns="0" tIns="0" rIns="0" bIns="0" rtlCol="0" anchor="ctr">
            <a:normAutofit/>
          </a:bodyPr>
          <a:lstStyle/>
          <a:p>
            <a:r>
              <a:t>Cung cấp quy mô</a:t>
            </a:r>
            <a:r>
              <a:rPr lang="en-US"/>
              <a:t> rừng và hồ sơ hiện trạng rừng</a:t>
            </a:r>
            <a:endParaRPr/>
          </a:p>
        </p:txBody>
      </p:sp>
      <p:sp>
        <p:nvSpPr>
          <p:cNvPr id="9" name="Text 7"/>
          <p:cNvSpPr/>
          <p:nvPr/>
        </p:nvSpPr>
        <p:spPr>
          <a:xfrm>
            <a:off x="777240" y="3552444"/>
            <a:ext cx="411480" cy="411480"/>
          </a:xfrm>
          <a:prstGeom prst="rect">
            <a:avLst/>
          </a:prstGeom>
          <a:solidFill>
            <a:srgbClr val="1F4E78"/>
          </a:solidFill>
          <a:ln/>
        </p:spPr>
        <p:txBody>
          <a:bodyPr wrap="square" lIns="635" tIns="635" rIns="635" bIns="635" rtlCol="0" anchor="ctr"/>
          <a:lstStyle/>
          <a:p>
            <a:pPr marL="0" indent="0" algn="ctr">
              <a:buNone/>
            </a:pPr>
            <a:r>
              <a:rPr lang="en-US" sz="1500" b="1" dirty="0">
                <a:solidFill>
                  <a:srgbClr val="FFFFFF"/>
                </a:solidFill>
              </a:rPr>
              <a:t>3</a:t>
            </a:r>
            <a:endParaRPr lang="en-US" sz="1500" dirty="0"/>
          </a:p>
        </p:txBody>
      </p:sp>
      <p:sp>
        <p:nvSpPr>
          <p:cNvPr id="10" name="Text 8"/>
          <p:cNvSpPr/>
          <p:nvPr/>
        </p:nvSpPr>
        <p:spPr>
          <a:xfrm>
            <a:off x="1371600" y="3579876"/>
            <a:ext cx="6675120" cy="320040"/>
          </a:xfrm>
          <a:prstGeom prst="rect">
            <a:avLst/>
          </a:prstGeom>
          <a:noFill/>
          <a:ln/>
        </p:spPr>
        <p:txBody>
          <a:bodyPr wrap="square" lIns="0" tIns="0" rIns="0" bIns="0" rtlCol="0" anchor="ctr">
            <a:normAutofit/>
          </a:bodyPr>
          <a:lstStyle/>
          <a:p>
            <a:r>
              <a:t>Chọn Service Level / Option phù hợp</a:t>
            </a:r>
          </a:p>
        </p:txBody>
      </p:sp>
      <p:sp>
        <p:nvSpPr>
          <p:cNvPr id="11" name="Text 9"/>
          <p:cNvSpPr/>
          <p:nvPr/>
        </p:nvSpPr>
        <p:spPr>
          <a:xfrm>
            <a:off x="777240" y="4302252"/>
            <a:ext cx="411480" cy="411480"/>
          </a:xfrm>
          <a:prstGeom prst="rect">
            <a:avLst/>
          </a:prstGeom>
          <a:solidFill>
            <a:srgbClr val="1F4E78"/>
          </a:solidFill>
          <a:ln/>
        </p:spPr>
        <p:txBody>
          <a:bodyPr wrap="square" lIns="635" tIns="635" rIns="635" bIns="635" rtlCol="0" anchor="ctr"/>
          <a:lstStyle/>
          <a:p>
            <a:pPr marL="0" indent="0" algn="ctr">
              <a:buNone/>
            </a:pPr>
            <a:r>
              <a:rPr lang="en-US" sz="1500" b="1" dirty="0">
                <a:solidFill>
                  <a:srgbClr val="FFFFFF"/>
                </a:solidFill>
              </a:rPr>
              <a:t>4</a:t>
            </a:r>
            <a:endParaRPr lang="en-US" sz="1500" dirty="0"/>
          </a:p>
        </p:txBody>
      </p:sp>
      <p:sp>
        <p:nvSpPr>
          <p:cNvPr id="12" name="Text 10"/>
          <p:cNvSpPr/>
          <p:nvPr/>
        </p:nvSpPr>
        <p:spPr>
          <a:xfrm>
            <a:off x="1371600" y="4329684"/>
            <a:ext cx="6675120" cy="320040"/>
          </a:xfrm>
          <a:prstGeom prst="rect">
            <a:avLst/>
          </a:prstGeom>
          <a:noFill/>
          <a:ln/>
        </p:spPr>
        <p:txBody>
          <a:bodyPr wrap="square" lIns="0" tIns="0" rIns="0" bIns="0" rtlCol="0" anchor="ctr">
            <a:normAutofit/>
          </a:bodyPr>
          <a:lstStyle/>
          <a:p>
            <a:r>
              <a:t>Technical/Operations xác nhận điều kiện; Sales xác nhận Pricing</a:t>
            </a:r>
          </a:p>
        </p:txBody>
      </p:sp>
      <p:sp>
        <p:nvSpPr>
          <p:cNvPr id="13" name="Text 11"/>
          <p:cNvSpPr/>
          <p:nvPr/>
        </p:nvSpPr>
        <p:spPr>
          <a:xfrm>
            <a:off x="777240" y="5052060"/>
            <a:ext cx="411480" cy="411480"/>
          </a:xfrm>
          <a:prstGeom prst="rect">
            <a:avLst/>
          </a:prstGeom>
          <a:solidFill>
            <a:srgbClr val="C89B3C"/>
          </a:solidFill>
          <a:ln/>
        </p:spPr>
        <p:txBody>
          <a:bodyPr wrap="square" lIns="635" tIns="635" rIns="635" bIns="635" rtlCol="0" anchor="ctr"/>
          <a:lstStyle/>
          <a:p>
            <a:pPr marL="0" indent="0" algn="ctr">
              <a:buNone/>
            </a:pPr>
            <a:r>
              <a:rPr lang="en-US" sz="1500" b="1" dirty="0">
                <a:solidFill>
                  <a:srgbClr val="FFFFFF"/>
                </a:solidFill>
              </a:rPr>
              <a:t>5</a:t>
            </a:r>
            <a:endParaRPr lang="en-US" sz="1500" dirty="0"/>
          </a:p>
        </p:txBody>
      </p:sp>
      <p:sp>
        <p:nvSpPr>
          <p:cNvPr id="14" name="Text 12"/>
          <p:cNvSpPr/>
          <p:nvPr/>
        </p:nvSpPr>
        <p:spPr>
          <a:xfrm>
            <a:off x="1371600" y="5079492"/>
            <a:ext cx="6675120" cy="320040"/>
          </a:xfrm>
          <a:prstGeom prst="rect">
            <a:avLst/>
          </a:prstGeom>
          <a:noFill/>
          <a:ln/>
        </p:spPr>
        <p:txBody>
          <a:bodyPr wrap="square" lIns="0" tIns="0" rIns="0" bIns="0" rtlCol="0" anchor="ctr">
            <a:normAutofit/>
          </a:bodyPr>
          <a:lstStyle/>
          <a:p>
            <a:r>
              <a:t>Hoàn thiện Proposal / Commercial Terms và triển khai</a:t>
            </a:r>
          </a:p>
        </p:txBody>
      </p:sp>
      <p:sp>
        <p:nvSpPr>
          <p:cNvPr id="15" name="Shape 13"/>
          <p:cNvSpPr/>
          <p:nvPr/>
        </p:nvSpPr>
        <p:spPr>
          <a:xfrm>
            <a:off x="8458200" y="1691640"/>
            <a:ext cx="2971800" cy="3566160"/>
          </a:xfrm>
          <a:prstGeom prst="roundRect">
            <a:avLst>
              <a:gd name="adj" fmla="val 1538"/>
            </a:avLst>
          </a:prstGeom>
          <a:solidFill>
            <a:srgbClr val="FFFFFF"/>
          </a:solidFill>
          <a:ln w="12700">
            <a:solidFill>
              <a:srgbClr val="D9E2EC"/>
            </a:solidFill>
            <a:prstDash val="solid"/>
          </a:ln>
        </p:spPr>
        <p:txBody>
          <a:bodyPr/>
          <a:lstStyle/>
          <a:p>
            <a:endParaRPr lang="en-US"/>
          </a:p>
        </p:txBody>
      </p:sp>
      <p:sp>
        <p:nvSpPr>
          <p:cNvPr id="16" name="Shape 14"/>
          <p:cNvSpPr/>
          <p:nvPr/>
        </p:nvSpPr>
        <p:spPr>
          <a:xfrm>
            <a:off x="8458200" y="1691640"/>
            <a:ext cx="64008" cy="3566160"/>
          </a:xfrm>
          <a:prstGeom prst="rect">
            <a:avLst/>
          </a:prstGeom>
          <a:solidFill>
            <a:srgbClr val="548235"/>
          </a:solidFill>
          <a:ln w="12700">
            <a:solidFill>
              <a:srgbClr val="548235"/>
            </a:solidFill>
            <a:prstDash val="solid"/>
          </a:ln>
        </p:spPr>
        <p:txBody>
          <a:bodyPr/>
          <a:lstStyle/>
          <a:p>
            <a:endParaRPr lang="en-US"/>
          </a:p>
        </p:txBody>
      </p:sp>
      <p:sp>
        <p:nvSpPr>
          <p:cNvPr id="17" name="Text 15"/>
          <p:cNvSpPr/>
          <p:nvPr/>
        </p:nvSpPr>
        <p:spPr>
          <a:xfrm>
            <a:off x="8659368" y="2164842"/>
            <a:ext cx="2624328" cy="292608"/>
          </a:xfrm>
          <a:prstGeom prst="rect">
            <a:avLst/>
          </a:prstGeom>
          <a:noFill/>
          <a:ln/>
        </p:spPr>
        <p:txBody>
          <a:bodyPr wrap="square" lIns="0" tIns="0" rIns="0" bIns="0" rtlCol="0" anchor="ctr"/>
          <a:lstStyle/>
          <a:p>
            <a:pPr marL="0" indent="0">
              <a:buNone/>
            </a:pPr>
            <a:r>
              <a:rPr lang="en-US" sz="1600" b="1" dirty="0">
                <a:solidFill>
                  <a:srgbClr val="17365D"/>
                </a:solidFill>
                <a:latin typeface="Arial" pitchFamily="34" charset="0"/>
                <a:ea typeface="Arial" pitchFamily="34" charset="-122"/>
                <a:cs typeface="Arial" pitchFamily="34" charset="-120"/>
              </a:rPr>
              <a:t>SOURCE TRACEABILITY</a:t>
            </a:r>
            <a:endParaRPr lang="en-US" sz="1600" dirty="0"/>
          </a:p>
        </p:txBody>
      </p:sp>
      <p:sp>
        <p:nvSpPr>
          <p:cNvPr id="18" name="Text 16"/>
          <p:cNvSpPr/>
          <p:nvPr/>
        </p:nvSpPr>
        <p:spPr>
          <a:xfrm>
            <a:off x="8659368" y="2221992"/>
            <a:ext cx="2624328" cy="2907792"/>
          </a:xfrm>
          <a:prstGeom prst="rect">
            <a:avLst/>
          </a:prstGeom>
          <a:noFill/>
          <a:ln/>
        </p:spPr>
        <p:txBody>
          <a:bodyPr wrap="square" lIns="254" tIns="254" rIns="254" bIns="254" rtlCol="0" anchor="ctr">
            <a:normAutofit/>
          </a:bodyPr>
          <a:lstStyle/>
          <a:p>
            <a:r>
              <a:rPr lang="en-US" sz="1600" b="1" dirty="0">
                <a:solidFill>
                  <a:srgbClr val="25364A"/>
                </a:solidFill>
                <a:latin typeface="Arial" pitchFamily="34" charset="0"/>
                <a:ea typeface="Arial" pitchFamily="34" charset="-122"/>
                <a:cs typeface="Arial" pitchFamily="34" charset="-120"/>
              </a:rPr>
              <a:t>Group 1 Assets</a:t>
            </a:r>
            <a:endParaRPr lang="en-US" sz="1600" b="1" dirty="0"/>
          </a:p>
          <a:p>
            <a:r>
              <a:rPr lang="en-US" sz="1600">
                <a:solidFill>
                  <a:srgbClr val="25364A"/>
                </a:solidFill>
                <a:latin typeface="Arial" pitchFamily="34" charset="0"/>
                <a:ea typeface="Arial" pitchFamily="34" charset="-122"/>
                <a:cs typeface="Arial" pitchFamily="34" charset="-120"/>
              </a:rPr>
              <a:t>• Knowledge Base</a:t>
            </a:r>
            <a:endParaRPr lang="en-US" sz="1600" dirty="0"/>
          </a:p>
          <a:p>
            <a:r>
              <a:rPr lang="en-US" sz="1600" dirty="0">
                <a:solidFill>
                  <a:srgbClr val="25364A"/>
                </a:solidFill>
                <a:latin typeface="Arial" pitchFamily="34" charset="0"/>
                <a:ea typeface="Arial" pitchFamily="34" charset="-122"/>
                <a:cs typeface="Arial" pitchFamily="34" charset="-120"/>
              </a:rPr>
              <a:t>• Service Profile Solar</a:t>
            </a:r>
            <a:endParaRPr lang="en-US" sz="1600" dirty="0"/>
          </a:p>
          <a:p>
            <a:r>
              <a:rPr lang="en-US" sz="1600">
                <a:solidFill>
                  <a:srgbClr val="25364A"/>
                </a:solidFill>
                <a:latin typeface="Arial" pitchFamily="34" charset="0"/>
                <a:ea typeface="Arial" pitchFamily="34" charset="-122"/>
                <a:cs typeface="Arial" pitchFamily="34" charset="-120"/>
              </a:rPr>
              <a:t>• SOP</a:t>
            </a:r>
            <a:endParaRPr lang="en-US" sz="1600" dirty="0"/>
          </a:p>
          <a:p>
            <a:r>
              <a:rPr lang="en-US" sz="1600" b="1" dirty="0" err="1">
                <a:solidFill>
                  <a:srgbClr val="25364A"/>
                </a:solidFill>
                <a:latin typeface="Arial" pitchFamily="34" charset="0"/>
                <a:ea typeface="Arial" pitchFamily="34" charset="-122"/>
                <a:cs typeface="Arial" pitchFamily="34" charset="-120"/>
              </a:rPr>
              <a:t>Nguồn</a:t>
            </a:r>
            <a:r>
              <a:rPr lang="en-US" sz="1600" b="1" dirty="0">
                <a:solidFill>
                  <a:srgbClr val="25364A"/>
                </a:solidFill>
                <a:latin typeface="Arial" pitchFamily="34" charset="0"/>
                <a:ea typeface="Arial" pitchFamily="34" charset="-122"/>
                <a:cs typeface="Arial" pitchFamily="34" charset="-120"/>
              </a:rPr>
              <a:t> </a:t>
            </a:r>
            <a:r>
              <a:rPr lang="en-US" sz="1600" b="1" dirty="0" err="1">
                <a:solidFill>
                  <a:srgbClr val="25364A"/>
                </a:solidFill>
                <a:latin typeface="Arial" pitchFamily="34" charset="0"/>
                <a:ea typeface="Arial" pitchFamily="34" charset="-122"/>
                <a:cs typeface="Arial" pitchFamily="34" charset="-120"/>
              </a:rPr>
              <a:t>gốc</a:t>
            </a:r>
            <a:endParaRPr lang="en-US" sz="1600" b="1" dirty="0"/>
          </a:p>
          <a:p>
            <a:r>
              <a:rPr lang="en-US" sz="1600">
                <a:solidFill>
                  <a:srgbClr val="25364A"/>
                </a:solidFill>
                <a:latin typeface="Arial" pitchFamily="34" charset="0"/>
                <a:ea typeface="Arial" pitchFamily="34" charset="-122"/>
                <a:cs typeface="Arial" pitchFamily="34" charset="-120"/>
              </a:rPr>
              <a:t>• </a:t>
            </a:r>
            <a:r>
              <a:rPr lang="en-US" sz="1600">
                <a:solidFill>
                  <a:srgbClr val="25364A"/>
                </a:solidFill>
                <a:latin typeface="Arial" pitchFamily="34" charset="0"/>
                <a:cs typeface="Arial" pitchFamily="34" charset="-120"/>
              </a:rPr>
              <a:t>Nghị định 180/2026/NĐ-CP &amp; NĐ 288/2025/NĐ-CP</a:t>
            </a:r>
          </a:p>
          <a:p>
            <a:r>
              <a:rPr lang="en-US" sz="1600">
                <a:solidFill>
                  <a:srgbClr val="25364A"/>
                </a:solidFill>
                <a:latin typeface="Arial" pitchFamily="34" charset="0"/>
                <a:ea typeface="Arial" pitchFamily="34" charset="-122"/>
                <a:cs typeface="Arial" pitchFamily="34" charset="-120"/>
              </a:rPr>
              <a:t>•</a:t>
            </a:r>
            <a:r>
              <a:rPr lang="en-US" sz="1600">
                <a:solidFill>
                  <a:srgbClr val="25364A"/>
                </a:solidFill>
                <a:latin typeface="Arial" pitchFamily="34" charset="0"/>
                <a:cs typeface="Arial" pitchFamily="34" charset="-120"/>
              </a:rPr>
              <a:t> </a:t>
            </a:r>
            <a:r>
              <a:rPr lang="en-US" sz="1600"/>
              <a:t>Khung đơn giá tham chiếu UAV LiDAR</a:t>
            </a:r>
            <a:endParaRPr lang="en-US" sz="1600" dirty="0"/>
          </a:p>
        </p:txBody>
      </p:sp>
      <p:sp>
        <p:nvSpPr>
          <p:cNvPr id="19" name="Text 17"/>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Sales Kit phải truy ngược được về Group 1/Research Workbook.</a:t>
            </a:r>
            <a:endParaRPr lang="en-US" sz="850" dirty="0"/>
          </a:p>
        </p:txBody>
      </p:sp>
      <p:sp>
        <p:nvSpPr>
          <p:cNvPr id="25"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530352"/>
            <a:ext cx="11018520" cy="457200"/>
          </a:xfrm>
          <a:prstGeom prst="rect">
            <a:avLst/>
          </a:prstGeom>
          <a:noFill/>
          <a:ln/>
        </p:spPr>
        <p:txBody>
          <a:bodyPr wrap="square" lIns="0" tIns="0" rIns="0" bIns="0" rtlCol="0" anchor="ctr"/>
          <a:lstStyle/>
          <a:p>
            <a:pPr marL="0" indent="0">
              <a:buNone/>
            </a:pPr>
            <a:r>
              <a:rPr lang="en-US" sz="2300" b="1" dirty="0">
                <a:solidFill>
                  <a:srgbClr val="17365D"/>
                </a:solidFill>
                <a:latin typeface="Arial" pitchFamily="34" charset="0"/>
                <a:ea typeface="Arial" pitchFamily="34" charset="-122"/>
                <a:cs typeface="Arial" pitchFamily="34" charset="-120"/>
              </a:rPr>
              <a:t>12. CHECKLIST TRƯỚC KHI NỘP</a:t>
            </a:r>
            <a:endParaRPr lang="en-US" sz="2300" dirty="0"/>
          </a:p>
        </p:txBody>
      </p:sp>
      <p:sp>
        <p:nvSpPr>
          <p:cNvPr id="3" name="Text 1"/>
          <p:cNvSpPr/>
          <p:nvPr/>
        </p:nvSpPr>
        <p:spPr>
          <a:xfrm>
            <a:off x="585216" y="987552"/>
            <a:ext cx="10881360" cy="347472"/>
          </a:xfrm>
          <a:prstGeom prst="rect">
            <a:avLst/>
          </a:prstGeom>
          <a:noFill/>
          <a:ln/>
        </p:spPr>
        <p:txBody>
          <a:bodyPr wrap="square" lIns="0" tIns="0" rIns="0" bIns="0" rtlCol="0" anchor="ctr">
            <a:normAutofit/>
          </a:bodyPr>
          <a:lstStyle/>
          <a:p>
            <a:endParaRPr/>
          </a:p>
        </p:txBody>
      </p:sp>
      <p:sp>
        <p:nvSpPr>
          <p:cNvPr id="4" name="Text 2"/>
          <p:cNvSpPr/>
          <p:nvPr/>
        </p:nvSpPr>
        <p:spPr>
          <a:xfrm>
            <a:off x="731520" y="1794837"/>
            <a:ext cx="320040" cy="274320"/>
          </a:xfrm>
          <a:prstGeom prst="rect">
            <a:avLst/>
          </a:prstGeom>
          <a:noFill/>
          <a:ln/>
        </p:spPr>
        <p:txBody>
          <a:bodyPr wrap="square" lIns="0" tIns="0" rIns="0" bIns="0" rtlCol="0" anchor="ctr">
            <a:noAutofit/>
          </a:bodyPr>
          <a:lstStyle/>
          <a:p>
            <a:r>
              <a:rPr sz="3600"/>
              <a:t>☑</a:t>
            </a:r>
          </a:p>
        </p:txBody>
      </p:sp>
      <p:sp>
        <p:nvSpPr>
          <p:cNvPr id="5" name="Text 3"/>
          <p:cNvSpPr/>
          <p:nvPr/>
        </p:nvSpPr>
        <p:spPr>
          <a:xfrm>
            <a:off x="1295400" y="1755648"/>
            <a:ext cx="4800600" cy="411480"/>
          </a:xfrm>
          <a:prstGeom prst="rect">
            <a:avLst/>
          </a:prstGeom>
          <a:noFill/>
          <a:ln/>
        </p:spPr>
        <p:txBody>
          <a:bodyPr wrap="square" lIns="0" tIns="0" rIns="0" bIns="0" rtlCol="0" anchor="ctr"/>
          <a:lstStyle/>
          <a:p>
            <a:pPr marL="0" indent="0">
              <a:buNone/>
            </a:pPr>
            <a:r>
              <a:rPr lang="en-US" dirty="0">
                <a:solidFill>
                  <a:srgbClr val="25364A"/>
                </a:solidFill>
              </a:rPr>
              <a:t>Đúng Service ID / tên service</a:t>
            </a:r>
            <a:endParaRPr lang="en-US" dirty="0"/>
          </a:p>
        </p:txBody>
      </p:sp>
      <p:sp>
        <p:nvSpPr>
          <p:cNvPr id="6" name="Text 4"/>
          <p:cNvSpPr/>
          <p:nvPr/>
        </p:nvSpPr>
        <p:spPr>
          <a:xfrm>
            <a:off x="731520" y="2453205"/>
            <a:ext cx="320040" cy="274320"/>
          </a:xfrm>
          <a:prstGeom prst="rect">
            <a:avLst/>
          </a:prstGeom>
          <a:noFill/>
          <a:ln/>
        </p:spPr>
        <p:txBody>
          <a:bodyPr wrap="square" lIns="0" tIns="0" rIns="0" bIns="0" rtlCol="0" anchor="ctr">
            <a:noAutofit/>
          </a:bodyPr>
          <a:lstStyle/>
          <a:p>
            <a:r>
              <a:rPr sz="3600"/>
              <a:t>☑</a:t>
            </a:r>
          </a:p>
        </p:txBody>
      </p:sp>
      <p:sp>
        <p:nvSpPr>
          <p:cNvPr id="7" name="Text 5"/>
          <p:cNvSpPr/>
          <p:nvPr/>
        </p:nvSpPr>
        <p:spPr>
          <a:xfrm>
            <a:off x="1295400" y="2414016"/>
            <a:ext cx="4800600" cy="411480"/>
          </a:xfrm>
          <a:prstGeom prst="rect">
            <a:avLst/>
          </a:prstGeom>
          <a:noFill/>
          <a:ln/>
        </p:spPr>
        <p:txBody>
          <a:bodyPr wrap="square" lIns="0" tIns="0" rIns="0" bIns="0" rtlCol="0" anchor="ctr"/>
          <a:lstStyle/>
          <a:p>
            <a:pPr marL="0" indent="0">
              <a:buNone/>
            </a:pPr>
            <a:r>
              <a:rPr lang="en-US" dirty="0">
                <a:solidFill>
                  <a:srgbClr val="25364A"/>
                </a:solidFill>
              </a:rPr>
              <a:t>Target Customer có căn cứ</a:t>
            </a:r>
            <a:endParaRPr lang="en-US" dirty="0"/>
          </a:p>
        </p:txBody>
      </p:sp>
      <p:sp>
        <p:nvSpPr>
          <p:cNvPr id="8" name="Text 6"/>
          <p:cNvSpPr/>
          <p:nvPr/>
        </p:nvSpPr>
        <p:spPr>
          <a:xfrm>
            <a:off x="731520" y="3111573"/>
            <a:ext cx="320040" cy="274320"/>
          </a:xfrm>
          <a:prstGeom prst="rect">
            <a:avLst/>
          </a:prstGeom>
          <a:noFill/>
          <a:ln/>
        </p:spPr>
        <p:txBody>
          <a:bodyPr wrap="square" lIns="0" tIns="0" rIns="0" bIns="0" rtlCol="0" anchor="ctr">
            <a:noAutofit/>
          </a:bodyPr>
          <a:lstStyle/>
          <a:p>
            <a:r>
              <a:rPr sz="3600"/>
              <a:t>☑</a:t>
            </a:r>
          </a:p>
        </p:txBody>
      </p:sp>
      <p:sp>
        <p:nvSpPr>
          <p:cNvPr id="9" name="Text 7"/>
          <p:cNvSpPr/>
          <p:nvPr/>
        </p:nvSpPr>
        <p:spPr>
          <a:xfrm>
            <a:off x="1295400" y="3072384"/>
            <a:ext cx="4800600" cy="411480"/>
          </a:xfrm>
          <a:prstGeom prst="rect">
            <a:avLst/>
          </a:prstGeom>
          <a:noFill/>
          <a:ln/>
        </p:spPr>
        <p:txBody>
          <a:bodyPr wrap="square" lIns="0" tIns="0" rIns="0" bIns="0" rtlCol="0" anchor="ctr"/>
          <a:lstStyle/>
          <a:p>
            <a:pPr marL="0" indent="0">
              <a:buNone/>
            </a:pPr>
            <a:r>
              <a:rPr lang="en-US" dirty="0">
                <a:solidFill>
                  <a:srgbClr val="25364A"/>
                </a:solidFill>
              </a:rPr>
              <a:t>Problem và Value Proposition thống nhất Group 1</a:t>
            </a:r>
            <a:endParaRPr lang="en-US" dirty="0"/>
          </a:p>
        </p:txBody>
      </p:sp>
      <p:sp>
        <p:nvSpPr>
          <p:cNvPr id="10" name="Text 8"/>
          <p:cNvSpPr/>
          <p:nvPr/>
        </p:nvSpPr>
        <p:spPr>
          <a:xfrm>
            <a:off x="731520" y="3769941"/>
            <a:ext cx="320040" cy="274320"/>
          </a:xfrm>
          <a:prstGeom prst="rect">
            <a:avLst/>
          </a:prstGeom>
          <a:noFill/>
          <a:ln/>
        </p:spPr>
        <p:txBody>
          <a:bodyPr wrap="square" lIns="0" tIns="0" rIns="0" bIns="0" rtlCol="0" anchor="ctr">
            <a:noAutofit/>
          </a:bodyPr>
          <a:lstStyle/>
          <a:p>
            <a:r>
              <a:rPr sz="3600"/>
              <a:t>☑</a:t>
            </a:r>
          </a:p>
        </p:txBody>
      </p:sp>
      <p:sp>
        <p:nvSpPr>
          <p:cNvPr id="11" name="Text 9"/>
          <p:cNvSpPr/>
          <p:nvPr/>
        </p:nvSpPr>
        <p:spPr>
          <a:xfrm>
            <a:off x="1295400" y="3730752"/>
            <a:ext cx="4800600" cy="411480"/>
          </a:xfrm>
          <a:prstGeom prst="rect">
            <a:avLst/>
          </a:prstGeom>
          <a:noFill/>
          <a:ln/>
        </p:spPr>
        <p:txBody>
          <a:bodyPr wrap="square" lIns="0" tIns="0" rIns="0" bIns="0" rtlCol="0" anchor="ctr"/>
          <a:lstStyle/>
          <a:p>
            <a:pPr marL="0" indent="0">
              <a:buNone/>
            </a:pPr>
            <a:r>
              <a:rPr lang="en-US" dirty="0">
                <a:solidFill>
                  <a:srgbClr val="25364A"/>
                </a:solidFill>
              </a:rPr>
              <a:t>Use Case / Level / Deliverables không tự tạo</a:t>
            </a:r>
            <a:endParaRPr lang="en-US" dirty="0"/>
          </a:p>
        </p:txBody>
      </p:sp>
      <p:sp>
        <p:nvSpPr>
          <p:cNvPr id="12" name="Text 10"/>
          <p:cNvSpPr/>
          <p:nvPr/>
        </p:nvSpPr>
        <p:spPr>
          <a:xfrm>
            <a:off x="731520" y="4428309"/>
            <a:ext cx="320040" cy="274320"/>
          </a:xfrm>
          <a:prstGeom prst="rect">
            <a:avLst/>
          </a:prstGeom>
          <a:noFill/>
          <a:ln/>
        </p:spPr>
        <p:txBody>
          <a:bodyPr wrap="square" lIns="0" tIns="0" rIns="0" bIns="0" rtlCol="0" anchor="ctr">
            <a:noAutofit/>
          </a:bodyPr>
          <a:lstStyle/>
          <a:p>
            <a:r>
              <a:rPr sz="3600"/>
              <a:t>☑</a:t>
            </a:r>
          </a:p>
        </p:txBody>
      </p:sp>
      <p:sp>
        <p:nvSpPr>
          <p:cNvPr id="13" name="Text 11"/>
          <p:cNvSpPr/>
          <p:nvPr/>
        </p:nvSpPr>
        <p:spPr>
          <a:xfrm>
            <a:off x="1295400" y="4389120"/>
            <a:ext cx="4800600" cy="411480"/>
          </a:xfrm>
          <a:prstGeom prst="rect">
            <a:avLst/>
          </a:prstGeom>
          <a:noFill/>
          <a:ln/>
        </p:spPr>
        <p:txBody>
          <a:bodyPr wrap="square" lIns="0" tIns="0" rIns="0" bIns="0" rtlCol="0" anchor="ctr"/>
          <a:lstStyle/>
          <a:p>
            <a:pPr marL="0" indent="0">
              <a:buNone/>
            </a:pPr>
            <a:r>
              <a:rPr lang="en-US" dirty="0">
                <a:solidFill>
                  <a:srgbClr val="25364A"/>
                </a:solidFill>
              </a:rPr>
              <a:t>Không đưa giá chi tiết vào Sales Kit</a:t>
            </a:r>
            <a:endParaRPr lang="en-US" dirty="0"/>
          </a:p>
        </p:txBody>
      </p:sp>
      <p:sp>
        <p:nvSpPr>
          <p:cNvPr id="14" name="Text 12"/>
          <p:cNvSpPr/>
          <p:nvPr/>
        </p:nvSpPr>
        <p:spPr>
          <a:xfrm>
            <a:off x="731520" y="5086677"/>
            <a:ext cx="320040" cy="274320"/>
          </a:xfrm>
          <a:prstGeom prst="rect">
            <a:avLst/>
          </a:prstGeom>
          <a:noFill/>
          <a:ln/>
        </p:spPr>
        <p:txBody>
          <a:bodyPr wrap="square" lIns="0" tIns="0" rIns="0" bIns="0" rtlCol="0" anchor="ctr">
            <a:noAutofit/>
          </a:bodyPr>
          <a:lstStyle/>
          <a:p>
            <a:r>
              <a:rPr sz="3600"/>
              <a:t>☑</a:t>
            </a:r>
          </a:p>
        </p:txBody>
      </p:sp>
      <p:sp>
        <p:nvSpPr>
          <p:cNvPr id="15" name="Text 13"/>
          <p:cNvSpPr/>
          <p:nvPr/>
        </p:nvSpPr>
        <p:spPr>
          <a:xfrm>
            <a:off x="1295400" y="5065776"/>
            <a:ext cx="4800600" cy="411480"/>
          </a:xfrm>
          <a:prstGeom prst="rect">
            <a:avLst/>
          </a:prstGeom>
          <a:noFill/>
          <a:ln/>
        </p:spPr>
        <p:txBody>
          <a:bodyPr wrap="square" lIns="0" tIns="0" rIns="0" bIns="0" rtlCol="0" anchor="ctr"/>
          <a:lstStyle/>
          <a:p>
            <a:pPr marL="0" indent="0">
              <a:buNone/>
            </a:pPr>
            <a:r>
              <a:rPr lang="en-US" dirty="0">
                <a:solidFill>
                  <a:srgbClr val="25364A"/>
                </a:solidFill>
              </a:rPr>
              <a:t>Positioning / Core Competency có nguồn</a:t>
            </a:r>
            <a:endParaRPr lang="en-US" dirty="0"/>
          </a:p>
        </p:txBody>
      </p:sp>
      <p:sp>
        <p:nvSpPr>
          <p:cNvPr id="16" name="Text 14"/>
          <p:cNvSpPr/>
          <p:nvPr/>
        </p:nvSpPr>
        <p:spPr>
          <a:xfrm>
            <a:off x="6263640" y="1794837"/>
            <a:ext cx="320040" cy="274320"/>
          </a:xfrm>
          <a:prstGeom prst="rect">
            <a:avLst/>
          </a:prstGeom>
          <a:noFill/>
          <a:ln/>
        </p:spPr>
        <p:txBody>
          <a:bodyPr wrap="square" lIns="0" tIns="0" rIns="0" bIns="0" rtlCol="0" anchor="ctr">
            <a:noAutofit/>
          </a:bodyPr>
          <a:lstStyle/>
          <a:p>
            <a:r>
              <a:rPr sz="3600"/>
              <a:t>☑</a:t>
            </a:r>
          </a:p>
        </p:txBody>
      </p:sp>
      <p:sp>
        <p:nvSpPr>
          <p:cNvPr id="17" name="Text 15"/>
          <p:cNvSpPr/>
          <p:nvPr/>
        </p:nvSpPr>
        <p:spPr>
          <a:xfrm>
            <a:off x="6827520" y="1755648"/>
            <a:ext cx="3977329" cy="411480"/>
          </a:xfrm>
          <a:prstGeom prst="rect">
            <a:avLst/>
          </a:prstGeom>
          <a:noFill/>
          <a:ln/>
        </p:spPr>
        <p:txBody>
          <a:bodyPr wrap="square" lIns="0" tIns="0" rIns="0" bIns="0" rtlCol="0" anchor="ctr"/>
          <a:lstStyle/>
          <a:p>
            <a:pPr marL="0" indent="0">
              <a:buNone/>
            </a:pPr>
            <a:r>
              <a:rPr lang="en-US" dirty="0">
                <a:solidFill>
                  <a:srgbClr val="25364A"/>
                </a:solidFill>
              </a:rPr>
              <a:t>DMU / Buying Journey chưa rõ được đánh dấu xác minh</a:t>
            </a:r>
            <a:endParaRPr lang="en-US" dirty="0"/>
          </a:p>
        </p:txBody>
      </p:sp>
      <p:sp>
        <p:nvSpPr>
          <p:cNvPr id="18" name="Text 16"/>
          <p:cNvSpPr/>
          <p:nvPr/>
        </p:nvSpPr>
        <p:spPr>
          <a:xfrm>
            <a:off x="6263640" y="2453205"/>
            <a:ext cx="320040" cy="274320"/>
          </a:xfrm>
          <a:prstGeom prst="rect">
            <a:avLst/>
          </a:prstGeom>
          <a:noFill/>
          <a:ln/>
        </p:spPr>
        <p:txBody>
          <a:bodyPr wrap="square" lIns="0" tIns="0" rIns="0" bIns="0" rtlCol="0" anchor="ctr">
            <a:noAutofit/>
          </a:bodyPr>
          <a:lstStyle/>
          <a:p>
            <a:r>
              <a:rPr sz="3600"/>
              <a:t>☑</a:t>
            </a:r>
          </a:p>
        </p:txBody>
      </p:sp>
      <p:sp>
        <p:nvSpPr>
          <p:cNvPr id="19" name="Text 17"/>
          <p:cNvSpPr/>
          <p:nvPr/>
        </p:nvSpPr>
        <p:spPr>
          <a:xfrm>
            <a:off x="6827520" y="2414016"/>
            <a:ext cx="4800600" cy="411480"/>
          </a:xfrm>
          <a:prstGeom prst="rect">
            <a:avLst/>
          </a:prstGeom>
          <a:noFill/>
          <a:ln/>
        </p:spPr>
        <p:txBody>
          <a:bodyPr wrap="square" lIns="0" tIns="0" rIns="0" bIns="0" rtlCol="0" anchor="ctr"/>
          <a:lstStyle/>
          <a:p>
            <a:pPr marL="0" indent="0">
              <a:buNone/>
            </a:pPr>
            <a:r>
              <a:rPr lang="en-US" dirty="0">
                <a:solidFill>
                  <a:srgbClr val="25364A"/>
                </a:solidFill>
              </a:rPr>
              <a:t>FAQ không tự bịa</a:t>
            </a:r>
            <a:endParaRPr lang="en-US" dirty="0"/>
          </a:p>
        </p:txBody>
      </p:sp>
      <p:sp>
        <p:nvSpPr>
          <p:cNvPr id="20" name="Text 18"/>
          <p:cNvSpPr/>
          <p:nvPr/>
        </p:nvSpPr>
        <p:spPr>
          <a:xfrm>
            <a:off x="6263640" y="3111573"/>
            <a:ext cx="320040" cy="274320"/>
          </a:xfrm>
          <a:prstGeom prst="rect">
            <a:avLst/>
          </a:prstGeom>
          <a:noFill/>
          <a:ln/>
        </p:spPr>
        <p:txBody>
          <a:bodyPr wrap="square" lIns="0" tIns="0" rIns="0" bIns="0" rtlCol="0" anchor="ctr">
            <a:noAutofit/>
          </a:bodyPr>
          <a:lstStyle/>
          <a:p>
            <a:r>
              <a:rPr sz="3600"/>
              <a:t>☑</a:t>
            </a:r>
          </a:p>
        </p:txBody>
      </p:sp>
      <p:sp>
        <p:nvSpPr>
          <p:cNvPr id="21" name="Text 19"/>
          <p:cNvSpPr/>
          <p:nvPr/>
        </p:nvSpPr>
        <p:spPr>
          <a:xfrm>
            <a:off x="6827520" y="3072384"/>
            <a:ext cx="4800600" cy="411480"/>
          </a:xfrm>
          <a:prstGeom prst="rect">
            <a:avLst/>
          </a:prstGeom>
          <a:noFill/>
          <a:ln/>
        </p:spPr>
        <p:txBody>
          <a:bodyPr wrap="square" lIns="0" tIns="0" rIns="0" bIns="0" rtlCol="0" anchor="ctr"/>
          <a:lstStyle/>
          <a:p>
            <a:pPr marL="0" indent="0">
              <a:buNone/>
            </a:pPr>
            <a:r>
              <a:rPr lang="en-US" dirty="0">
                <a:solidFill>
                  <a:srgbClr val="25364A"/>
                </a:solidFill>
              </a:rPr>
              <a:t>Không có claim định lượng chưa duyệt</a:t>
            </a:r>
            <a:endParaRPr lang="en-US" dirty="0"/>
          </a:p>
        </p:txBody>
      </p:sp>
      <p:sp>
        <p:nvSpPr>
          <p:cNvPr id="22" name="Text 20"/>
          <p:cNvSpPr/>
          <p:nvPr/>
        </p:nvSpPr>
        <p:spPr>
          <a:xfrm>
            <a:off x="6263640" y="3769941"/>
            <a:ext cx="320040" cy="274320"/>
          </a:xfrm>
          <a:prstGeom prst="rect">
            <a:avLst/>
          </a:prstGeom>
          <a:noFill/>
          <a:ln/>
        </p:spPr>
        <p:txBody>
          <a:bodyPr wrap="square" lIns="0" tIns="0" rIns="0" bIns="0" rtlCol="0" anchor="ctr">
            <a:noAutofit/>
          </a:bodyPr>
          <a:lstStyle/>
          <a:p>
            <a:r>
              <a:rPr sz="3600"/>
              <a:t>☑</a:t>
            </a:r>
          </a:p>
        </p:txBody>
      </p:sp>
      <p:sp>
        <p:nvSpPr>
          <p:cNvPr id="23" name="Text 21"/>
          <p:cNvSpPr/>
          <p:nvPr/>
        </p:nvSpPr>
        <p:spPr>
          <a:xfrm>
            <a:off x="6827520" y="3730752"/>
            <a:ext cx="4800600" cy="411480"/>
          </a:xfrm>
          <a:prstGeom prst="rect">
            <a:avLst/>
          </a:prstGeom>
          <a:noFill/>
          <a:ln/>
        </p:spPr>
        <p:txBody>
          <a:bodyPr wrap="square" lIns="0" tIns="0" rIns="0" bIns="0" rtlCol="0" anchor="ctr"/>
          <a:lstStyle/>
          <a:p>
            <a:pPr marL="0" indent="0">
              <a:buNone/>
            </a:pPr>
            <a:r>
              <a:rPr lang="en-US" dirty="0">
                <a:solidFill>
                  <a:srgbClr val="25364A"/>
                </a:solidFill>
              </a:rPr>
              <a:t>Có Source Traceability</a:t>
            </a:r>
            <a:endParaRPr lang="en-US" dirty="0"/>
          </a:p>
        </p:txBody>
      </p:sp>
      <p:sp>
        <p:nvSpPr>
          <p:cNvPr id="24" name="Text 22"/>
          <p:cNvSpPr/>
          <p:nvPr/>
        </p:nvSpPr>
        <p:spPr>
          <a:xfrm>
            <a:off x="6263640" y="4428309"/>
            <a:ext cx="320040" cy="274320"/>
          </a:xfrm>
          <a:prstGeom prst="rect">
            <a:avLst/>
          </a:prstGeom>
          <a:noFill/>
          <a:ln/>
        </p:spPr>
        <p:txBody>
          <a:bodyPr wrap="square" lIns="0" tIns="0" rIns="0" bIns="0" rtlCol="0" anchor="ctr">
            <a:noAutofit/>
          </a:bodyPr>
          <a:lstStyle/>
          <a:p>
            <a:r>
              <a:rPr sz="3600"/>
              <a:t>☑</a:t>
            </a:r>
          </a:p>
        </p:txBody>
      </p:sp>
      <p:sp>
        <p:nvSpPr>
          <p:cNvPr id="25" name="Text 23"/>
          <p:cNvSpPr/>
          <p:nvPr/>
        </p:nvSpPr>
        <p:spPr>
          <a:xfrm>
            <a:off x="6827520" y="4389120"/>
            <a:ext cx="3716072" cy="411480"/>
          </a:xfrm>
          <a:prstGeom prst="rect">
            <a:avLst/>
          </a:prstGeom>
          <a:noFill/>
          <a:ln/>
        </p:spPr>
        <p:txBody>
          <a:bodyPr wrap="square" lIns="0" tIns="0" rIns="0" bIns="0" rtlCol="0" anchor="ctr"/>
          <a:lstStyle/>
          <a:p>
            <a:pPr marL="0" indent="0">
              <a:buNone/>
            </a:pPr>
            <a:r>
              <a:rPr lang="en-US" dirty="0">
                <a:solidFill>
                  <a:srgbClr val="25364A"/>
                </a:solidFill>
              </a:rPr>
              <a:t>Slide ngắn gọn, dễ đọc, không copy toàn bộ KB/SOP</a:t>
            </a:r>
            <a:endParaRPr lang="en-US" dirty="0"/>
          </a:p>
        </p:txBody>
      </p:sp>
      <p:sp>
        <p:nvSpPr>
          <p:cNvPr id="26" name="Text 24"/>
          <p:cNvSpPr/>
          <p:nvPr/>
        </p:nvSpPr>
        <p:spPr>
          <a:xfrm>
            <a:off x="594360" y="5989320"/>
            <a:ext cx="10972800" cy="347472"/>
          </a:xfrm>
          <a:prstGeom prst="rect">
            <a:avLst/>
          </a:prstGeom>
          <a:solidFill>
            <a:srgbClr val="FFF4D6"/>
          </a:solidFill>
          <a:ln>
            <a:solidFill>
              <a:srgbClr val="E8D18A"/>
            </a:solidFill>
          </a:ln>
        </p:spPr>
        <p:txBody>
          <a:bodyPr wrap="square" lIns="1016" tIns="1016" rIns="1016" bIns="1016" rtlCol="0" anchor="ctr"/>
          <a:lstStyle/>
          <a:p>
            <a:pPr marL="0" indent="0">
              <a:buNone/>
            </a:pPr>
            <a:r>
              <a:rPr lang="en-US" sz="850" i="1" dirty="0">
                <a:solidFill>
                  <a:srgbClr val="7F6000"/>
                </a:solidFill>
                <a:latin typeface="Arial" pitchFamily="34" charset="0"/>
                <a:ea typeface="Arial" pitchFamily="34" charset="-122"/>
                <a:cs typeface="Arial" pitchFamily="34" charset="-120"/>
              </a:rPr>
              <a:t>QUY TẮC CHO SINH VIÊN: Nếu chưa đạt checklist, không nộp.</a:t>
            </a:r>
            <a:endParaRPr lang="en-US" sz="850" dirty="0"/>
          </a:p>
        </p:txBody>
      </p:sp>
      <p:sp>
        <p:nvSpPr>
          <p:cNvPr id="27" name="Slide Number Placeholder 0"/>
          <p:cNvSpPr>
            <a:spLocks noGrp="1"/>
          </p:cNvSpPr>
          <p:nvPr>
            <p:ph type="sldNum" sz="quarter" idx="4294967295"/>
          </p:nvPr>
        </p:nvSpPr>
        <p:spPr>
          <a:xfrm>
            <a:off x="11384280" y="6583680"/>
            <a:ext cx="27432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B8794"/>
                </a:solidFill>
                <a:latin typeface="Arial"/>
                <a:ea typeface="Arial"/>
                <a:cs typeface="Arial"/>
              </a:defRPr>
            </a:lvl1pPr>
          </a:lstStyle>
          <a:p>
            <a:pPr algn="l"/>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2565</Words>
  <Application>Microsoft Office PowerPoint</Application>
  <PresentationFormat>Widescreen</PresentationFormat>
  <Paragraphs>223</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GASCOLAE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06 GASCOLAE Service Sales Kit</dc:title>
  <dc:subject>Service Sales Kit</dc:subject>
  <dc:creator>GASCOLAE Platform</dc:creator>
  <cp:lastModifiedBy>danh vo</cp:lastModifiedBy>
  <cp:revision>5</cp:revision>
  <dcterms:created xsi:type="dcterms:W3CDTF">2026-08-19T11:14:15Z</dcterms:created>
  <dcterms:modified xsi:type="dcterms:W3CDTF">2026-09-03T09:18:44Z</dcterms:modified>
</cp:coreProperties>
</file>