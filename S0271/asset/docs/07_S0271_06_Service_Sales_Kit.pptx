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32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953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3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GASCOLAE PLATFORM  |  GROUP 2 — BUSINESS ASSETS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3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SERVICE SALES KIT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0058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</a:rPr>
              <a:t>06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612648" y="19659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SERVICE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SALES KIT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D9EA"/>
                </a:solidFill>
              </a:rPr>
              <a:t>GROUP 2 — BUSINESS ASSETS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43400" y="1280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70832" y="20116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/>
              <a:t>ĐO HIỆU QUẢ GIẢM PHÁT THẢI CO₂ </a:t>
            </a:r>
          </a:p>
          <a:p>
            <a:r>
              <a:rPr lang="en-US" sz="1800">
                <a:solidFill>
                  <a:srgbClr val="25364A"/>
                </a:solidFill>
              </a:rPr>
              <a:t>Service </a:t>
            </a:r>
            <a:r>
              <a:rPr lang="en-US" sz="1800" dirty="0">
                <a:solidFill>
                  <a:srgbClr val="25364A"/>
                </a:solidFill>
              </a:rPr>
              <a:t>ID</a:t>
            </a:r>
            <a:r>
              <a:rPr lang="en-US" sz="1800">
                <a:solidFill>
                  <a:srgbClr val="25364A"/>
                </a:solidFill>
              </a:rPr>
              <a:t>: S0271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89120" y="3154680"/>
            <a:ext cx="6720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Sales Kit trả lời: “Bán cho AI? Họ có VẤN ĐỀ gì? Vì sao nên chọn GIẢI PHÁP này? Ai QUYẾT ĐỊNH và bước tiếp theo là gì?”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0" y="4434840"/>
            <a:ext cx="6720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083"/>
                </a:solidFill>
              </a:rPr>
              <a:t>Không phải Brochure thiết kế hoàn chỉnh. Sinh viên tập trung vào nội dung bán hàng có căn cứ; GASCOLAE có thể tái sử dụng để trình bày, xuất PDF hoặc phát triển brochure/marketing sau.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0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083"/>
                </a:solidFill>
              </a:rPr>
              <a:t>Version 1.0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TARGET MARKET &amp; CUSTOMER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85216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là khách hàng phù hợp nhất với service này?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1920240" cy="292608"/>
          </a:xfrm>
          <a:prstGeom prst="rect">
            <a:avLst/>
          </a:prstGeom>
          <a:solidFill>
            <a:srgbClr val="EAF2F8"/>
          </a:solidFill>
          <a:ln>
            <a:solidFill>
              <a:srgbClr val="C7D9E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TO SELL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383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64008" cy="141732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93392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khúc mục tiêu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2359152"/>
            <a:ext cx="303580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just"/>
            <a:r>
              <a:rPr lang="vi-VN" sz="1200"/>
              <a:t>Chủ và đơn vị vận hành bãi chôn lấp chất thải rắn; công ty môi trường đô thị; dự án thu hồi khí bãi rác và phát điện.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383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828800"/>
            <a:ext cx="64008" cy="141732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993392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 sử dụng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44568" y="2359152"/>
            <a:ext cx="303580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vi-VN" sz="1200"/>
              <a:t>Đội môi trường, đội vận hành bãi, HSE, kỹ thuật hệ thống thu khí và bộ phận GIS.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383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828800"/>
            <a:ext cx="64008" cy="141732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993392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Beachhead</a:t>
            </a:r>
            <a:r>
              <a:rPr lang="en-US" sz="12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Market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525780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611880"/>
            <a:ext cx="64008" cy="146304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776472"/>
            <a:ext cx="4910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sơ khách hàng mục tiêu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4142232"/>
            <a:ext cx="4910328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just"/>
            <a:r>
              <a:rPr lang="en-US" sz="12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- </a:t>
            </a:r>
            <a:r>
              <a:rPr lang="vi-VN" sz="12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Có kế hoạch khắc phục hoặc đầu tư hệ thống thu khí</a:t>
            </a:r>
            <a:endParaRPr lang="en-US" sz="1200">
              <a:solidFill>
                <a:srgbClr val="25364A"/>
              </a:solidFill>
              <a:ea typeface="Arial" pitchFamily="34" charset="-122"/>
              <a:cs typeface="Arial" pitchFamily="34" charset="-120"/>
            </a:endParaRPr>
          </a:p>
          <a:p>
            <a:pPr algn="just"/>
            <a:r>
              <a:rPr lang="en-US" sz="12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- C</a:t>
            </a:r>
            <a:r>
              <a:rPr lang="vi-VN" sz="12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ó nghĩa vụ báo cáo kiểm kê</a:t>
            </a:r>
            <a:endParaRPr lang="en-US" sz="1200">
              <a:solidFill>
                <a:srgbClr val="25364A"/>
              </a:solidFill>
              <a:ea typeface="Arial" pitchFamily="34" charset="-122"/>
              <a:cs typeface="Arial" pitchFamily="34" charset="-120"/>
            </a:endParaRPr>
          </a:p>
          <a:p>
            <a:pPr algn="just"/>
            <a:r>
              <a:rPr lang="en-US" sz="12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- C</a:t>
            </a:r>
            <a:r>
              <a:rPr lang="vi-VN" sz="12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ần bằng chứng cho bên thứ ba thẩm định.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611880"/>
            <a:ext cx="52120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611880"/>
            <a:ext cx="64008" cy="1463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3776472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yêu cầu SV làm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19088" y="4142232"/>
            <a:ext cx="4864608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200" dirty="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tự tính TAM. Không tự tạo danh </a:t>
            </a:r>
            <a:r>
              <a:rPr lang="en-US" sz="12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sách khách hang. Ưu tiên dùng Customer/Role đã có trong Knowledge Base và Service Profile.. 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5989320"/>
            <a:ext cx="10972800" cy="347472"/>
          </a:xfrm>
          <a:prstGeom prst="rect">
            <a:avLst/>
          </a:prstGeom>
          <a:solidFill>
            <a:srgbClr val="FFF4D6"/>
          </a:solidFill>
          <a:ln>
            <a:solidFill>
              <a:srgbClr val="E8D18A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CHO SINH VIÊN: Lấy từ Group 1 + nguồn được giao. Không tự mở rộng thị trường nếu chưa có căn cứ.</a:t>
            </a:r>
            <a:endParaRPr lang="en-US" sz="8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BF418BD2-45CC-41E1-9F20-6CDD0BBA893D}"/>
              </a:ext>
            </a:extLst>
          </p:cNvPr>
          <p:cNvSpPr/>
          <p:nvPr/>
        </p:nvSpPr>
        <p:spPr>
          <a:xfrm>
            <a:off x="8247888" y="2337362"/>
            <a:ext cx="303580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just"/>
            <a:r>
              <a:rPr lang="en-US" sz="12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Bãi có hệ thống thu khí đang vận hành, hoặc bãi thuộc diện phải kiểm kê khí nhà kính theo quy định. (SRC-13)</a:t>
            </a:r>
            <a:br>
              <a:rPr lang="en-US" sz="12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2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[CẦN BD XÁC NHẬN]</a:t>
            </a:r>
          </a:p>
          <a:p>
            <a:pPr algn="just"/>
            <a:endParaRPr lang="en-US" sz="1200" dirty="0">
              <a:solidFill>
                <a:srgbClr val="2536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CUSTOMER PROBLEMS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85216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 đang gặp vấn đề gì và tác động ra sao?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1920240" cy="292608"/>
          </a:xfrm>
          <a:prstGeom prst="rect">
            <a:avLst/>
          </a:prstGeom>
          <a:solidFill>
            <a:srgbClr val="EAF2F8"/>
          </a:solidFill>
          <a:ln>
            <a:solidFill>
              <a:srgbClr val="C7D9E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BUY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85800" y="1926856"/>
            <a:ext cx="5166360" cy="1097281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26856"/>
            <a:ext cx="64008" cy="1097281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091448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METHANE PHÂN TÁN DIỆN RỘNG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2457208"/>
            <a:ext cx="481888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vi-VN" sz="13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Bề mặt bãi không có ống dẫn nên khó bố trí điểm đo cố định và khó xác định khu vực ưu tiên.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926856"/>
            <a:ext cx="5166360" cy="1097281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926856"/>
            <a:ext cx="64008" cy="1097281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2091448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KHẢO SÁT MẶT ĐẤT CHỈ ĐO TẠI ĐIỂM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19088" y="2457208"/>
            <a:ext cx="481888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3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21 cần đi bộ theo tuyến, thực hiện theo quý và dễ sai sót thao tác.</a:t>
            </a:r>
          </a:p>
          <a:p>
            <a:endParaRPr lang="en-US" sz="1300" dirty="0">
              <a:solidFill>
                <a:srgbClr val="2536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85800" y="3328416"/>
            <a:ext cx="5166360" cy="1097281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328416"/>
            <a:ext cx="64008" cy="1097281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493008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1400" b="1">
                <a:solidFill>
                  <a:srgbClr val="17365D"/>
                </a:solidFill>
                <a:ea typeface="Arial" pitchFamily="34" charset="-122"/>
                <a:cs typeface="Arial" pitchFamily="34" charset="-120"/>
              </a:rPr>
              <a:t>KHÔNG ĐỊNH VỊ ĐƯỢC ĐIỂM RÒ RỈ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6968" y="3858768"/>
            <a:ext cx="481888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vi-VN" sz="13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Thiếu tọa độ điểm phát thải cao để xếp thứ tự sửa chữa giếng, đường ống hoặc bề mặt.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328416"/>
            <a:ext cx="5166360" cy="1097281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328416"/>
            <a:ext cx="64008" cy="1097281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3493008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1400" b="1">
                <a:solidFill>
                  <a:srgbClr val="17365D"/>
                </a:solidFill>
                <a:ea typeface="Arial" pitchFamily="34" charset="-122"/>
                <a:cs typeface="Arial" pitchFamily="34" charset="-120"/>
              </a:rPr>
              <a:t>THIẾU BẰNG CHỨNG TRƯỚC–SAU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19088" y="3858768"/>
            <a:ext cx="481888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vi-VN" sz="125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Khó chứng minh hiệu quả sau khi đã đầu tư biện pháp khắc phục.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" y="5989320"/>
            <a:ext cx="10972800" cy="347472"/>
          </a:xfrm>
          <a:prstGeom prst="rect">
            <a:avLst/>
          </a:prstGeom>
          <a:solidFill>
            <a:srgbClr val="FFF4D6"/>
          </a:solidFill>
          <a:ln>
            <a:solidFill>
              <a:srgbClr val="E8D18A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CHO SINH VIÊN: Chỉ chọn 3–5 problem quan trọng nhất từ Knowledge Base / Service Profile.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959396DD-5BCC-4377-9158-A75294A4F001}"/>
              </a:ext>
            </a:extLst>
          </p:cNvPr>
          <p:cNvSpPr/>
          <p:nvPr/>
        </p:nvSpPr>
        <p:spPr>
          <a:xfrm>
            <a:off x="3195828" y="4722099"/>
            <a:ext cx="5166360" cy="1097281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6109D943-8730-41A8-8693-D98EC66EC861}"/>
              </a:ext>
            </a:extLst>
          </p:cNvPr>
          <p:cNvSpPr/>
          <p:nvPr/>
        </p:nvSpPr>
        <p:spPr>
          <a:xfrm>
            <a:off x="3195828" y="4722099"/>
            <a:ext cx="64008" cy="1097281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AA53AB65-F7DC-4010-9E93-3F1AD87AFBAB}"/>
              </a:ext>
            </a:extLst>
          </p:cNvPr>
          <p:cNvSpPr/>
          <p:nvPr/>
        </p:nvSpPr>
        <p:spPr>
          <a:xfrm>
            <a:off x="3396996" y="4886691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1400" b="1">
                <a:solidFill>
                  <a:srgbClr val="17365D"/>
                </a:solidFill>
                <a:ea typeface="Arial" pitchFamily="34" charset="-122"/>
                <a:cs typeface="Arial" pitchFamily="34" charset="-120"/>
              </a:rPr>
              <a:t>SỐ LIỆU TỰ KHAI CHƯA ĐỦ CĂN CỨ</a:t>
            </a:r>
            <a:endParaRPr lang="en-US" sz="1400" dirty="0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4496E5C0-95CD-47D0-B5BB-8D8D5C23BEEC}"/>
              </a:ext>
            </a:extLst>
          </p:cNvPr>
          <p:cNvSpPr/>
          <p:nvPr/>
        </p:nvSpPr>
        <p:spPr>
          <a:xfrm>
            <a:off x="3396996" y="5252451"/>
            <a:ext cx="481888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vi-VN" sz="13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Cần dữ liệu có truy vết cho kiểm kê khí nhà kính và thẩm định bên thứ ba.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VALUE PROPOSITION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85216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GASCOLAE tạo ra giá trị gì để giải quyết các vấn đề trên?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1920240" cy="292608"/>
          </a:xfrm>
          <a:prstGeom prst="rect">
            <a:avLst/>
          </a:prstGeom>
          <a:solidFill>
            <a:srgbClr val="EAF2F8"/>
          </a:solidFill>
          <a:ln>
            <a:solidFill>
              <a:srgbClr val="C7D9E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→ VALUE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2659134" cy="352044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83080"/>
            <a:ext cx="64008" cy="352044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947671"/>
            <a:ext cx="2382293" cy="71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PHÁT HIỆN TRÊN DIỆN RỘNG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" y="2665378"/>
            <a:ext cx="2382293" cy="2510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just"/>
            <a:r>
              <a:rPr lang="vi-VN" sz="1500"/>
              <a:t>Nguồn methane phân tán và không định vị được điểm rò rỉ </a:t>
            </a:r>
            <a:endParaRPr lang="en-US" sz="1500"/>
          </a:p>
          <a:p>
            <a:pPr algn="just"/>
            <a:r>
              <a:rPr lang="vi-VN" sz="1500"/>
              <a:t>→ </a:t>
            </a:r>
            <a:r>
              <a:rPr lang="en-US" sz="1500"/>
              <a:t>K</a:t>
            </a:r>
            <a:r>
              <a:rPr lang="vi-VN" sz="1500"/>
              <a:t>hảo sát UAV đồng bộ CH₄, gió và GNSS/RTK trên toàn bề mặt </a:t>
            </a:r>
            <a:endParaRPr lang="en-US" sz="1500"/>
          </a:p>
          <a:p>
            <a:pPr algn="just"/>
            <a:r>
              <a:rPr lang="vi-VN" sz="1500"/>
              <a:t>→ </a:t>
            </a:r>
            <a:r>
              <a:rPr lang="en-US" sz="1500"/>
              <a:t>H</a:t>
            </a:r>
            <a:r>
              <a:rPr lang="vi-VN" sz="1500"/>
              <a:t>ỗ trợ phát hiện và định vị nguồn mà khảo sát theo điểm khó bao phủ.</a:t>
            </a:r>
            <a:endParaRPr lang="vi-VN" sz="1500">
              <a:solidFill>
                <a:srgbClr val="25364A"/>
              </a:solidFill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532239" y="1783080"/>
            <a:ext cx="2563761" cy="352044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32239" y="1783080"/>
            <a:ext cx="49168" cy="352044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3407" y="1947672"/>
            <a:ext cx="2296849" cy="71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BẰNG CHỨNG HIỆU QUẢ KHẮC PHỤC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33407" y="2665378"/>
            <a:ext cx="2296849" cy="2510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vi-VN" sz="1500"/>
              <a:t>Không chứng minh được hiệu quả khắc phục </a:t>
            </a:r>
            <a:endParaRPr lang="en-US" sz="1500"/>
          </a:p>
          <a:p>
            <a:r>
              <a:rPr lang="vi-VN" sz="1500"/>
              <a:t>→ </a:t>
            </a:r>
            <a:r>
              <a:rPr lang="en-US" sz="1500"/>
              <a:t>Đ</a:t>
            </a:r>
            <a:r>
              <a:rPr lang="vi-VN" sz="1500"/>
              <a:t>o kỳ nền và kỳ xác nhận trong điều kiện tương đương </a:t>
            </a:r>
            <a:endParaRPr lang="en-US" sz="1500"/>
          </a:p>
          <a:p>
            <a:r>
              <a:rPr lang="vi-VN" sz="1500"/>
              <a:t>→ </a:t>
            </a:r>
            <a:r>
              <a:rPr lang="en-US" sz="1500"/>
              <a:t>S</a:t>
            </a:r>
            <a:r>
              <a:rPr lang="vi-VN" sz="1500"/>
              <a:t>o sánh trước–sau, lượng CH₄ giảm và quy </a:t>
            </a:r>
          </a:p>
          <a:p>
            <a:r>
              <a:rPr lang="en-US" sz="1500"/>
              <a:t>đ</a:t>
            </a:r>
            <a:r>
              <a:rPr lang="vi-VN" sz="1500"/>
              <a:t>ổi CO₂e khi đủ điều kiện.</a:t>
            </a:r>
          </a:p>
        </p:txBody>
      </p:sp>
      <p:sp>
        <p:nvSpPr>
          <p:cNvPr id="13" name="Shape 11"/>
          <p:cNvSpPr/>
          <p:nvPr/>
        </p:nvSpPr>
        <p:spPr>
          <a:xfrm>
            <a:off x="6283305" y="1783080"/>
            <a:ext cx="2563761" cy="352044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83305" y="1783080"/>
            <a:ext cx="49168" cy="352044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4473" y="2665378"/>
            <a:ext cx="2296849" cy="2510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just"/>
            <a:r>
              <a:rPr lang="vi-VN" sz="15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Khảo sát mặt đất chỉ đo tại điểm nên không biết hệ thống giếng thu giữ được bao nhiêu </a:t>
            </a:r>
            <a:endParaRPr lang="en-US" sz="1500">
              <a:solidFill>
                <a:srgbClr val="25364A"/>
              </a:solidFill>
              <a:ea typeface="Arial" pitchFamily="34" charset="-122"/>
              <a:cs typeface="Arial" pitchFamily="34" charset="-120"/>
            </a:endParaRPr>
          </a:p>
          <a:p>
            <a:pPr algn="just"/>
            <a:r>
              <a:rPr lang="vi-VN" sz="15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→ </a:t>
            </a:r>
            <a:r>
              <a:rPr lang="en-US" sz="15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Đ</a:t>
            </a:r>
            <a:r>
              <a:rPr lang="vi-VN" sz="15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ối chiếu lượng khí đã thu hồi với lượng thoát bề mặt đo được </a:t>
            </a:r>
            <a:endParaRPr lang="en-US" sz="1500">
              <a:solidFill>
                <a:srgbClr val="25364A"/>
              </a:solidFill>
              <a:ea typeface="Arial" pitchFamily="34" charset="-122"/>
              <a:cs typeface="Arial" pitchFamily="34" charset="-120"/>
            </a:endParaRPr>
          </a:p>
          <a:p>
            <a:pPr algn="just"/>
            <a:r>
              <a:rPr lang="vi-VN" sz="15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→ </a:t>
            </a:r>
            <a:r>
              <a:rPr lang="en-US" sz="15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Ước</a:t>
            </a:r>
            <a:r>
              <a:rPr lang="vi-VN" sz="15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 tính hiệu suất thu gom khi có dữ liệu khí thu hồi.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5989320"/>
            <a:ext cx="10972800" cy="347472"/>
          </a:xfrm>
          <a:prstGeom prst="rect">
            <a:avLst/>
          </a:prstGeom>
          <a:solidFill>
            <a:srgbClr val="FFF4D6"/>
          </a:solidFill>
          <a:ln>
            <a:solidFill>
              <a:srgbClr val="E8D18A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CHO SINH VIÊN: Không tự tạo claim % tiết kiệm, tăng năng suất hoặc ROI nếu chưa được GASCOLAE xác minh.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608E32D6-A01D-4587-A92C-E67FDF262D2C}"/>
              </a:ext>
            </a:extLst>
          </p:cNvPr>
          <p:cNvSpPr/>
          <p:nvPr/>
        </p:nvSpPr>
        <p:spPr>
          <a:xfrm>
            <a:off x="6484473" y="1944428"/>
            <a:ext cx="2296849" cy="71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HỖ TRỢ ĐÁNH GIÁ THU GOM KHÍ</a:t>
            </a:r>
            <a:endParaRPr lang="en-US" sz="1500" dirty="0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BDE87431-8AD1-4381-B370-4E14A715DF84}"/>
              </a:ext>
            </a:extLst>
          </p:cNvPr>
          <p:cNvSpPr/>
          <p:nvPr/>
        </p:nvSpPr>
        <p:spPr>
          <a:xfrm>
            <a:off x="9034371" y="1783080"/>
            <a:ext cx="2563761" cy="352044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77326DA1-797B-42E3-ADA1-CC0DD6523292}"/>
              </a:ext>
            </a:extLst>
          </p:cNvPr>
          <p:cNvSpPr/>
          <p:nvPr/>
        </p:nvSpPr>
        <p:spPr>
          <a:xfrm>
            <a:off x="9034371" y="1783080"/>
            <a:ext cx="49168" cy="352044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FD9A5431-D9A7-405F-BC44-333037511C6D}"/>
              </a:ext>
            </a:extLst>
          </p:cNvPr>
          <p:cNvSpPr/>
          <p:nvPr/>
        </p:nvSpPr>
        <p:spPr>
          <a:xfrm>
            <a:off x="9235539" y="2665378"/>
            <a:ext cx="2296849" cy="2510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just"/>
            <a:r>
              <a:rPr lang="vi-VN" sz="15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Số liệu tự khai chưa đủ căn cứ khi kiểm kê hoặc thẩm định </a:t>
            </a:r>
            <a:endParaRPr lang="en-US" sz="1500">
              <a:solidFill>
                <a:srgbClr val="25364A"/>
              </a:solidFill>
              <a:ea typeface="Arial" pitchFamily="34" charset="-122"/>
              <a:cs typeface="Arial" pitchFamily="34" charset="-120"/>
            </a:endParaRPr>
          </a:p>
          <a:p>
            <a:pPr algn="just"/>
            <a:r>
              <a:rPr lang="vi-VN" sz="15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→ </a:t>
            </a:r>
            <a:r>
              <a:rPr lang="en-US" sz="15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H</a:t>
            </a:r>
            <a:r>
              <a:rPr lang="vi-VN" sz="15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ồ sơ đường bay, dữ liệu gió, hiệu chuẩn và QA/QC </a:t>
            </a:r>
            <a:endParaRPr lang="en-US" sz="1500">
              <a:solidFill>
                <a:srgbClr val="25364A"/>
              </a:solidFill>
              <a:ea typeface="Arial" pitchFamily="34" charset="-122"/>
              <a:cs typeface="Arial" pitchFamily="34" charset="-120"/>
            </a:endParaRPr>
          </a:p>
          <a:p>
            <a:pPr algn="just"/>
            <a:r>
              <a:rPr lang="vi-VN" sz="15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→ </a:t>
            </a:r>
            <a:r>
              <a:rPr lang="en-US" sz="15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D</a:t>
            </a:r>
            <a:r>
              <a:rPr lang="vi-VN" sz="15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ữ liệu tọa độ và nhật ký bay phục vụ kiểm kê, rà soát và thẩm định.</a:t>
            </a:r>
            <a:endParaRPr lang="en-US" sz="15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0B2BFA09-AC7F-4339-81E8-CA3F276CFC29}"/>
              </a:ext>
            </a:extLst>
          </p:cNvPr>
          <p:cNvSpPr/>
          <p:nvPr/>
        </p:nvSpPr>
        <p:spPr>
          <a:xfrm>
            <a:off x="9235539" y="1944428"/>
            <a:ext cx="2296849" cy="71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DỮ LIỆU CÓ TRUY VẾT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SOLUTION &amp; KEY CAPABILITIES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85216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 gồm những thành phần/năng lực gì?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1920240" cy="292608"/>
          </a:xfrm>
          <a:prstGeom prst="rect">
            <a:avLst/>
          </a:prstGeom>
          <a:solidFill>
            <a:srgbClr val="EAF2F8"/>
          </a:solidFill>
          <a:ln>
            <a:solidFill>
              <a:srgbClr val="C7D9E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OFFER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34290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55648"/>
            <a:ext cx="64008" cy="141732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2024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Khảo sát CH₄ bằng UAV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2286000"/>
            <a:ext cx="308152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2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chuỗi nồng độ methane trên bề mặt bãi với phạm vi rộng.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25696" y="1755648"/>
            <a:ext cx="34290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5696" y="1755648"/>
            <a:ext cx="64008" cy="141732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92024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1400" b="1">
                <a:solidFill>
                  <a:srgbClr val="17365D"/>
                </a:solidFill>
                <a:ea typeface="Arial" pitchFamily="34" charset="-122"/>
                <a:cs typeface="Arial" pitchFamily="34" charset="-120"/>
              </a:rPr>
              <a:t>Đồng bộ không gian và khí tượng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26864" y="2286000"/>
            <a:ext cx="308152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2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Ghép CH₄ với GNSS/RTK, thời gian, độ cao và dữ liệu gió.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93024" y="1755648"/>
            <a:ext cx="34290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3987" y="3584448"/>
            <a:ext cx="64008" cy="141732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4192" y="192024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bản đồ và định vị nguồn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94192" y="2286000"/>
            <a:ext cx="308152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vi-VN" sz="12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Khoanh điểm phát thải cao, gắn tọa độ và mức ưu tiên kiểm tra.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" y="3584448"/>
            <a:ext cx="34290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584448"/>
            <a:ext cx="64008" cy="141732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74904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QA/QC và hiệu chuẩn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9536" y="4114800"/>
            <a:ext cx="308152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vi-VN" sz="12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Kiểm tra độ trôi, độ trễ cảm biến, nhiễu cánh quạt và độ phủ đường bay.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25696" y="3584448"/>
            <a:ext cx="34290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25696" y="3584448"/>
            <a:ext cx="64008" cy="141732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374904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1500" b="1">
                <a:solidFill>
                  <a:srgbClr val="17365D"/>
                </a:solidFill>
                <a:ea typeface="Arial" pitchFamily="34" charset="-122"/>
                <a:cs typeface="Arial" pitchFamily="34" charset="-120"/>
              </a:rPr>
              <a:t>Định lượng và so sánh trước–sau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26864" y="4114800"/>
            <a:ext cx="308152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vi-VN" sz="12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Ước tính flux khi đủ điều kiện; tính CH₄ giảm và quy đổi CO₂e kèm bất định.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93024" y="3584448"/>
            <a:ext cx="34290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61020" y="1755648"/>
            <a:ext cx="64008" cy="141732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94192" y="374904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vi-VN" sz="1600" b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</a:t>
            </a:r>
            <a:r>
              <a:rPr lang="en-US" sz="1600" b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Ý: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8394192" y="4114800"/>
            <a:ext cx="308152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vi-VN" sz="12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Model cảm biến, ngưỡng gió và phương pháp flux: Cần GASCOLAE xác nhận.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5989320"/>
            <a:ext cx="10972800" cy="347472"/>
          </a:xfrm>
          <a:prstGeom prst="rect">
            <a:avLst/>
          </a:prstGeom>
          <a:solidFill>
            <a:srgbClr val="FFF4D6"/>
          </a:solidFill>
          <a:ln>
            <a:solidFill>
              <a:srgbClr val="E8D18A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CHO SINH VIÊN: Capability phải có nguồn. AI capability chưa xác minh phải ghi rõ trạng thái.</a:t>
            </a:r>
            <a:endParaRPr lang="en-US" sz="8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USE CASES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85216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 sử dụng dịch vụ trong những tình huống nào?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1920240" cy="292608"/>
          </a:xfrm>
          <a:prstGeom prst="rect">
            <a:avLst/>
          </a:prstGeom>
          <a:solidFill>
            <a:srgbClr val="EAF2F8"/>
          </a:solidFill>
          <a:ln>
            <a:solidFill>
              <a:srgbClr val="C7D9E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8"/>
                </a:solidFill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7647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1400" b="1">
                <a:solidFill>
                  <a:srgbClr val="17365D"/>
                </a:solidFill>
              </a:rPr>
              <a:t>KHẢO SÁT NỀN TRƯỚC CAN THIỆP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815084"/>
            <a:ext cx="662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25364A"/>
                </a:solidFill>
              </a:rPr>
              <a:t>Bản đồ nồng độ và danh sách điểm kiểm tra làm kỳ nền.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17320" y="2359152"/>
            <a:ext cx="9601200" cy="0"/>
          </a:xfrm>
          <a:prstGeom prst="line">
            <a:avLst/>
          </a:prstGeom>
          <a:noFill/>
          <a:ln w="12700">
            <a:solidFill>
              <a:srgbClr val="DD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8"/>
                </a:solidFill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8529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17365D"/>
                </a:solidFill>
              </a:rPr>
              <a:t>ĐỊNH VỊ ĐIỂM PHÁT THẢI CAO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17714" y="2759425"/>
            <a:ext cx="662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1000">
                <a:solidFill>
                  <a:srgbClr val="25364A"/>
                </a:solidFill>
              </a:rPr>
              <a:t>Danh sách điểm có tọa độ, xếp theo mức ưu tiên sửa chữa.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17320" y="3319272"/>
            <a:ext cx="9601200" cy="0"/>
          </a:xfrm>
          <a:prstGeom prst="line">
            <a:avLst/>
          </a:prstGeom>
          <a:noFill/>
          <a:ln w="12700">
            <a:solidFill>
              <a:srgbClr val="DD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9152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8"/>
                </a:solidFill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78532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17365D"/>
                </a:solidFill>
              </a:rPr>
              <a:t>BAY XÁC NHẬN SAU KHẮC PHỤC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3679133"/>
            <a:ext cx="662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1000">
                <a:solidFill>
                  <a:srgbClr val="25364A"/>
                </a:solidFill>
              </a:rPr>
              <a:t>So sánh trước–sau, lượng CH₄ giảm và quy đổi tCO₂e.</a:t>
            </a:r>
          </a:p>
        </p:txBody>
      </p:sp>
      <p:sp>
        <p:nvSpPr>
          <p:cNvPr id="16" name="Shape 14"/>
          <p:cNvSpPr/>
          <p:nvPr/>
        </p:nvSpPr>
        <p:spPr>
          <a:xfrm>
            <a:off x="1417320" y="4279392"/>
            <a:ext cx="9601200" cy="0"/>
          </a:xfrm>
          <a:prstGeom prst="line">
            <a:avLst/>
          </a:prstGeom>
          <a:noFill/>
          <a:ln w="12700">
            <a:solidFill>
              <a:srgbClr val="DDE4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65164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8"/>
                </a:solidFill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74544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1400" b="1">
                <a:solidFill>
                  <a:srgbClr val="17365D"/>
                </a:solidFill>
              </a:rPr>
              <a:t>ƯỚC TÍNH HIỆU SUẤT THU GOM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9160" y="4639253"/>
            <a:ext cx="662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1000">
                <a:solidFill>
                  <a:srgbClr val="25364A"/>
                </a:solidFill>
              </a:rPr>
              <a:t>Đối chiếu khí đã thu hồi với lượng thoát bề mặt khi khách hàng có dữ liệu đồng hồ đo.</a:t>
            </a:r>
          </a:p>
        </p:txBody>
      </p:sp>
      <p:sp>
        <p:nvSpPr>
          <p:cNvPr id="20" name="Shape 18"/>
          <p:cNvSpPr/>
          <p:nvPr/>
        </p:nvSpPr>
        <p:spPr>
          <a:xfrm>
            <a:off x="1417320" y="5239512"/>
            <a:ext cx="9601200" cy="0"/>
          </a:xfrm>
          <a:prstGeom prst="line">
            <a:avLst/>
          </a:prstGeom>
          <a:noFill/>
          <a:ln w="12700">
            <a:solidFill>
              <a:srgbClr val="DDE4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5989320"/>
            <a:ext cx="10972800" cy="347472"/>
          </a:xfrm>
          <a:prstGeom prst="rect">
            <a:avLst/>
          </a:prstGeom>
          <a:solidFill>
            <a:srgbClr val="FFF4D6"/>
          </a:solidFill>
          <a:ln>
            <a:solidFill>
              <a:srgbClr val="E8D18A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CHO SINH VIÊN: Use Case lấy từ Group 1, không tạo tình huống bán hàng không có căn cứ.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SERVICE LEVELS / OPTIONS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85216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 có thể lựa chọn cấu hình dịch vụ nào?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1920240" cy="292608"/>
          </a:xfrm>
          <a:prstGeom prst="rect">
            <a:avLst/>
          </a:prstGeom>
          <a:solidFill>
            <a:srgbClr val="EAF2F8"/>
          </a:solidFill>
          <a:ln>
            <a:solidFill>
              <a:srgbClr val="C7D9E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337560" cy="3337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74520"/>
            <a:ext cx="64008" cy="333756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039112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</a:p>
          <a:p>
            <a:pPr algn="ctr"/>
            <a:r>
              <a:rPr lang="en-US" sz="1200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Emission Screening &amp; </a:t>
            </a:r>
          </a:p>
          <a:p>
            <a:pPr algn="ctr"/>
            <a:r>
              <a:rPr lang="en-US" sz="1200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Mapping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" y="2601614"/>
            <a:ext cx="2990088" cy="248244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just"/>
            <a:r>
              <a:rPr lang="en-US" sz="14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khu vực, một kỳ đo; UAV CH₄ kết hợp cảm biến gió và GNSS/RTK.</a:t>
            </a:r>
          </a:p>
          <a:p>
            <a:pPr algn="just"/>
            <a:r>
              <a:rPr lang="vi-VN" sz="1400"/>
              <a:t>→</a:t>
            </a:r>
            <a:r>
              <a:rPr lang="en-US" sz="1400"/>
              <a:t> Bản đồ nồng độ, danh sách điểm cần kiểm tra, báo cáo QA/QC; không quy đổi tCO₂e.</a:t>
            </a:r>
            <a:endParaRPr lang="en-US" sz="1400">
              <a:solidFill>
                <a:srgbClr val="2536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just"/>
            <a:endParaRPr lang="en-US" sz="1400">
              <a:solidFill>
                <a:srgbClr val="2536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just"/>
            <a:endParaRPr lang="en-US" sz="1400" dirty="0">
              <a:solidFill>
                <a:srgbClr val="2536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34840" y="1874520"/>
            <a:ext cx="3337560" cy="3337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874520"/>
            <a:ext cx="64008" cy="33375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2039112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</a:p>
          <a:p>
            <a:pPr algn="ctr"/>
            <a:r>
              <a:rPr lang="en-US" sz="1200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Quantification &amp; Before–After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36008" y="2601614"/>
            <a:ext cx="2990088" cy="248244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just"/>
            <a:r>
              <a:rPr lang="vi-VN" sz="14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Toàn bãi; kỳ nền và kỳ xác nhận; kiểm chứng mặt đất và mô hình định lượng.</a:t>
            </a:r>
          </a:p>
          <a:p>
            <a:pPr algn="just"/>
            <a:r>
              <a:rPr lang="vi-VN" sz="1400"/>
              <a:t>→</a:t>
            </a:r>
            <a:r>
              <a:rPr lang="en-US" sz="1400"/>
              <a:t> </a:t>
            </a:r>
            <a:r>
              <a:rPr lang="vi-VN" sz="14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Flux, hiệu suất thu gom, lượng CH₄ giảm và tCO₂e theo kỳ.</a:t>
            </a:r>
          </a:p>
          <a:p>
            <a:pPr algn="just"/>
            <a:endParaRPr lang="vi-VN" sz="1400" dirty="0">
              <a:solidFill>
                <a:srgbClr val="25364A"/>
              </a:solidFill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83880" y="1874520"/>
            <a:ext cx="3337560" cy="3337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874520"/>
            <a:ext cx="64008" cy="333756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2039112"/>
            <a:ext cx="3258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</a:p>
          <a:p>
            <a:pPr algn="ctr"/>
            <a:r>
              <a:rPr lang="en-US" sz="1200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Multi-site Monitoring &amp; </a:t>
            </a:r>
          </a:p>
          <a:p>
            <a:pPr algn="ctr"/>
            <a:r>
              <a:rPr lang="en-US" sz="1200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Support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85048" y="2601614"/>
            <a:ext cx="2990088" cy="24824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just"/>
            <a:r>
              <a:rPr lang="vi-VN" sz="14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Nhiều bãi; giám sát định kỳ; tích hợp đồng hồ đo khí thu hồi và SCADA.</a:t>
            </a:r>
          </a:p>
          <a:p>
            <a:pPr algn="just"/>
            <a:r>
              <a:rPr lang="vi-VN" sz="1400"/>
              <a:t>→</a:t>
            </a:r>
            <a:r>
              <a:rPr lang="en-US" sz="1400"/>
              <a:t> </a:t>
            </a:r>
            <a:r>
              <a:rPr lang="vi-VN" sz="14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Bộ bằng chứng hỗ trợ thẩm định và cảnh báo bất thường theo kỳ.</a:t>
            </a:r>
          </a:p>
          <a:p>
            <a:pPr algn="just"/>
            <a:endParaRPr lang="vi-VN" sz="1400" dirty="0">
              <a:solidFill>
                <a:srgbClr val="25364A"/>
              </a:solidFill>
              <a:ea typeface="Arial" pitchFamily="34" charset="-122"/>
              <a:cs typeface="Arial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4360" y="5989320"/>
            <a:ext cx="10972800" cy="347472"/>
          </a:xfrm>
          <a:prstGeom prst="rect">
            <a:avLst/>
          </a:prstGeom>
          <a:solidFill>
            <a:srgbClr val="FFF4D6"/>
          </a:solidFill>
          <a:ln>
            <a:solidFill>
              <a:srgbClr val="E8D18A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CHO SINH VIÊN: Không đưa giá chi tiết vào Sales Kit; tham chiếu File 07 Pricing.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HOW IT WORKS &amp; DELIVERABLES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85216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Dịch vụ vận hành ở mức khách hàng cần hiểu như thế nào?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1920240" cy="292608"/>
          </a:xfrm>
          <a:prstGeom prst="rect">
            <a:avLst/>
          </a:prstGeom>
          <a:solidFill>
            <a:srgbClr val="EAF2F8"/>
          </a:solidFill>
          <a:ln>
            <a:solidFill>
              <a:srgbClr val="C7D9E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40080" y="1877464"/>
            <a:ext cx="15087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08526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17365D"/>
                </a:solidFill>
              </a:rPr>
              <a:t>Khoanh vùng bãi và chốt mốc can thiệp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06752" y="21091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4E78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14600" y="1877464"/>
            <a:ext cx="15087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1572" y="2078898"/>
            <a:ext cx="1222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17365D"/>
                </a:solidFill>
              </a:rPr>
              <a:t>Xin phép bay và thiết kế mission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81272" y="21091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4E7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89120" y="1877464"/>
            <a:ext cx="15087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2080156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7365D"/>
                </a:solidFill>
              </a:rPr>
              <a:t>Bay UAV đo kỳ nền / kỳ khắc phục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55792" y="21091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4E78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63640" y="1877464"/>
            <a:ext cx="15087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5372" y="2080156"/>
            <a:ext cx="12146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vi-VN" sz="1000" b="1">
                <a:solidFill>
                  <a:srgbClr val="17365D"/>
                </a:solidFill>
              </a:rPr>
              <a:t>Xử lý dữ liệu, QA/QC, lập bản đồ và định lượng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30312" y="21091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4E78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138160" y="1877464"/>
            <a:ext cx="15087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2087776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vi-VN" sz="1000" b="1">
                <a:solidFill>
                  <a:srgbClr val="17365D"/>
                </a:solidFill>
              </a:rPr>
              <a:t>So sánh trước–sau, quy đổi CO₂e kèm dải bất định.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704832" y="21091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4E78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012680" y="1877464"/>
            <a:ext cx="1508760" cy="731520"/>
          </a:xfrm>
          <a:prstGeom prst="round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85832" y="2080156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Đóng gói / bàn giao.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" y="297180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2971800"/>
            <a:ext cx="64008" cy="96012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3136392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đồ CH₄ và điểm phát thải cao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6968" y="3502152"/>
            <a:ext cx="481888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2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bố nồng độ trên bề mặt kèm tọa độ điểm nghi ngờ.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297180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971800"/>
            <a:ext cx="64008" cy="96012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3136392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1600" b="1">
                <a:solidFill>
                  <a:srgbClr val="17365D"/>
                </a:solidFill>
                <a:ea typeface="Arial" pitchFamily="34" charset="-122"/>
                <a:cs typeface="Arial" pitchFamily="34" charset="-120"/>
              </a:rPr>
              <a:t>Danh sách điểm và hồ sơ truy vết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19088" y="3502152"/>
            <a:ext cx="481888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vi-VN" sz="12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Điểm ưu tiên kiểm tra; vết bay, hướng gió và nhật ký bay.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" y="42062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4206240"/>
            <a:ext cx="64008" cy="96012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" y="4370832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QA/QC và hiệu chuẩn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86968" y="4736592"/>
            <a:ext cx="481888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2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phủ tuyến, hiệu chuẩn và tính đầy đủ dữ liệu gió.</a:t>
            </a:r>
          </a:p>
        </p:txBody>
      </p:sp>
      <p:sp>
        <p:nvSpPr>
          <p:cNvPr id="34" name="Shape 32"/>
          <p:cNvSpPr/>
          <p:nvPr/>
        </p:nvSpPr>
        <p:spPr>
          <a:xfrm>
            <a:off x="6217920" y="42062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4206240"/>
            <a:ext cx="64008" cy="96012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19088" y="4370832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1600" b="1">
                <a:solidFill>
                  <a:srgbClr val="17365D"/>
                </a:solidFill>
                <a:ea typeface="Arial" pitchFamily="34" charset="-122"/>
                <a:cs typeface="Arial" pitchFamily="34" charset="-120"/>
              </a:rPr>
              <a:t>Báo cáo trước–sau và CO₂e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19088" y="4736592"/>
            <a:ext cx="481888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2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Chênh lệch kỳ nền và kỳ xác nhận kèm bất định; chỉ từ Level 2.</a:t>
            </a:r>
          </a:p>
        </p:txBody>
      </p:sp>
      <p:sp>
        <p:nvSpPr>
          <p:cNvPr id="38" name="Text 36"/>
          <p:cNvSpPr/>
          <p:nvPr/>
        </p:nvSpPr>
        <p:spPr>
          <a:xfrm>
            <a:off x="594360" y="5989320"/>
            <a:ext cx="10972800" cy="347472"/>
          </a:xfrm>
          <a:prstGeom prst="rect">
            <a:avLst/>
          </a:prstGeom>
          <a:solidFill>
            <a:srgbClr val="FFF4D6"/>
          </a:solidFill>
          <a:ln>
            <a:solidFill>
              <a:srgbClr val="E8D18A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CHO SINH VIÊN: Không copy SOP chi tiết vào Sales Kit; chỉ trình bày customer-facing flow.</a:t>
            </a:r>
            <a:endParaRPr lang="en-US" sz="85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POSITIONING &amp; WHY GASCOLAE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85216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khách hàng nên cân nhắc GASCOLAE?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1920240" cy="292608"/>
          </a:xfrm>
          <a:prstGeom prst="rect">
            <a:avLst/>
          </a:prstGeom>
          <a:solidFill>
            <a:srgbClr val="EAF2F8"/>
          </a:solidFill>
          <a:ln>
            <a:solidFill>
              <a:srgbClr val="C7D9E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" y="5989320"/>
            <a:ext cx="10972800" cy="347472"/>
          </a:xfrm>
          <a:prstGeom prst="rect">
            <a:avLst/>
          </a:prstGeom>
          <a:solidFill>
            <a:srgbClr val="FFF4D6"/>
          </a:solidFill>
          <a:ln>
            <a:solidFill>
              <a:srgbClr val="E8D18A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CHO SINH VIÊN: Không tự viết “số 1”, “tốt nhất”, “duy nhất”, hoặc claim cạnh tranh nếu nguồn không chứng minh.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63F5274A-EDD7-4831-80A6-B2A7A0A77147}"/>
              </a:ext>
            </a:extLst>
          </p:cNvPr>
          <p:cNvSpPr/>
          <p:nvPr/>
        </p:nvSpPr>
        <p:spPr>
          <a:xfrm>
            <a:off x="685800" y="1783080"/>
            <a:ext cx="2659134" cy="352044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C8E3E404-A1FD-4AEB-8A1C-33C44D3EF231}"/>
              </a:ext>
            </a:extLst>
          </p:cNvPr>
          <p:cNvSpPr/>
          <p:nvPr/>
        </p:nvSpPr>
        <p:spPr>
          <a:xfrm>
            <a:off x="685800" y="1783080"/>
            <a:ext cx="64008" cy="352044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2961DDCC-B5C8-4382-8DD0-ECDDA80EE562}"/>
              </a:ext>
            </a:extLst>
          </p:cNvPr>
          <p:cNvSpPr/>
          <p:nvPr/>
        </p:nvSpPr>
        <p:spPr>
          <a:xfrm>
            <a:off x="886968" y="1947671"/>
            <a:ext cx="2382293" cy="26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VỊ</a:t>
            </a:r>
            <a:endParaRPr lang="en-US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9C034E7A-2433-4DD1-ABA6-D15B95E4882A}"/>
              </a:ext>
            </a:extLst>
          </p:cNvPr>
          <p:cNvSpPr/>
          <p:nvPr/>
        </p:nvSpPr>
        <p:spPr>
          <a:xfrm>
            <a:off x="886968" y="2665378"/>
            <a:ext cx="2382293" cy="2510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just"/>
            <a:r>
              <a:rPr lang="vi-VN" sz="1500"/>
              <a:t>Dịch vụ đo lường theo chuỗi phát hiện → định vị → khắc phục → bay xác nhận → lượng hóa thay đổi; tách rõ sản phẩm sàng lọc khỏi sản phẩm định lượng.</a:t>
            </a:r>
            <a:endParaRPr lang="vi-VN" sz="1500">
              <a:solidFill>
                <a:srgbClr val="25364A"/>
              </a:solidFill>
              <a:ea typeface="Arial" pitchFamily="34" charset="-122"/>
              <a:cs typeface="Arial" pitchFamily="34" charset="-120"/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5550E1D9-6E7E-4F43-8A49-1F7242D24544}"/>
              </a:ext>
            </a:extLst>
          </p:cNvPr>
          <p:cNvSpPr/>
          <p:nvPr/>
        </p:nvSpPr>
        <p:spPr>
          <a:xfrm>
            <a:off x="3532239" y="1783080"/>
            <a:ext cx="2563761" cy="352044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3524A040-B94E-4D49-AF1B-E63C28FF23E8}"/>
              </a:ext>
            </a:extLst>
          </p:cNvPr>
          <p:cNvSpPr/>
          <p:nvPr/>
        </p:nvSpPr>
        <p:spPr>
          <a:xfrm>
            <a:off x="3532239" y="1783080"/>
            <a:ext cx="49168" cy="352044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A5D1D27A-197D-435E-998F-74652583245F}"/>
              </a:ext>
            </a:extLst>
          </p:cNvPr>
          <p:cNvSpPr/>
          <p:nvPr/>
        </p:nvSpPr>
        <p:spPr>
          <a:xfrm>
            <a:off x="3733407" y="1947672"/>
            <a:ext cx="2296849" cy="34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COMPETENCY</a:t>
            </a:r>
            <a:endParaRPr lang="en-US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D123182-886D-4AEC-950E-360A0A13E773}"/>
              </a:ext>
            </a:extLst>
          </p:cNvPr>
          <p:cNvSpPr/>
          <p:nvPr/>
        </p:nvSpPr>
        <p:spPr>
          <a:xfrm>
            <a:off x="3733407" y="2665378"/>
            <a:ext cx="2296849" cy="2510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AutoNum type="arabicPeriod"/>
            </a:pPr>
            <a:r>
              <a:rPr lang="vi-VN" sz="1500"/>
              <a:t>Kết hợp dữ liệu không gian, dữ liệu gió và dữ liệu vận hành</a:t>
            </a:r>
            <a:endParaRPr lang="en-US" sz="1500"/>
          </a:p>
          <a:p>
            <a:pPr marL="342900" indent="-342900">
              <a:buAutoNum type="arabicPeriod"/>
            </a:pPr>
            <a:r>
              <a:rPr lang="en-US" sz="1500"/>
              <a:t>D</a:t>
            </a:r>
            <a:r>
              <a:rPr lang="vi-VN" sz="1500"/>
              <a:t>uy trì nhật ký truy vết cho từng chuyến bay</a:t>
            </a:r>
            <a:endParaRPr lang="en-US" sz="1500"/>
          </a:p>
          <a:p>
            <a:pPr marL="342900" indent="-342900">
              <a:buAutoNum type="arabicPeriod"/>
            </a:pPr>
            <a:r>
              <a:rPr lang="en-US" sz="1500"/>
              <a:t>U</a:t>
            </a:r>
            <a:r>
              <a:rPr lang="vi-VN" sz="1500"/>
              <a:t>ớc tính hiệu suất thu gom khi có dữ liệu khí thu hồi.</a:t>
            </a:r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F1DFDEA6-CD95-4AFC-9215-48C23A5AAB39}"/>
              </a:ext>
            </a:extLst>
          </p:cNvPr>
          <p:cNvSpPr/>
          <p:nvPr/>
        </p:nvSpPr>
        <p:spPr>
          <a:xfrm>
            <a:off x="6283305" y="1783080"/>
            <a:ext cx="2563761" cy="352044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F61B5EB-5833-43DF-9906-5F92B7572EC4}"/>
              </a:ext>
            </a:extLst>
          </p:cNvPr>
          <p:cNvSpPr/>
          <p:nvPr/>
        </p:nvSpPr>
        <p:spPr>
          <a:xfrm>
            <a:off x="6283305" y="1783080"/>
            <a:ext cx="49168" cy="352044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4CD2D3F6-535B-4691-993D-89533E2A12AB}"/>
              </a:ext>
            </a:extLst>
          </p:cNvPr>
          <p:cNvSpPr/>
          <p:nvPr/>
        </p:nvSpPr>
        <p:spPr>
          <a:xfrm>
            <a:off x="6484473" y="2665378"/>
            <a:ext cx="2296849" cy="2510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just"/>
            <a:r>
              <a:rPr lang="vi-VN" sz="1500"/>
              <a:t>Hỗ trợ kiểm kê và thẩm định nhưng không thay khảo sát tuân thủ theo Method 21, không cấp chứng thư xác minh và không phát hành tín chỉ carbon.</a:t>
            </a:r>
            <a:endParaRPr lang="en-US" sz="150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381C33E-C94F-46CF-9847-8EC796A5356E}"/>
              </a:ext>
            </a:extLst>
          </p:cNvPr>
          <p:cNvSpPr/>
          <p:nvPr/>
        </p:nvSpPr>
        <p:spPr>
          <a:xfrm>
            <a:off x="6484473" y="1944428"/>
            <a:ext cx="2296849" cy="363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RANH GIỚI ĐÃ </a:t>
            </a:r>
          </a:p>
          <a:p>
            <a:r>
              <a:rPr lang="en-US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LẬP</a:t>
            </a:r>
            <a:endParaRPr lang="en-US" dirty="0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9262D9CE-1DF5-433D-898C-DBDC04AB4A8D}"/>
              </a:ext>
            </a:extLst>
          </p:cNvPr>
          <p:cNvSpPr/>
          <p:nvPr/>
        </p:nvSpPr>
        <p:spPr>
          <a:xfrm>
            <a:off x="9034371" y="1783080"/>
            <a:ext cx="2563761" cy="352044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F489FD30-099F-414B-8C91-33090D91937D}"/>
              </a:ext>
            </a:extLst>
          </p:cNvPr>
          <p:cNvSpPr/>
          <p:nvPr/>
        </p:nvSpPr>
        <p:spPr>
          <a:xfrm>
            <a:off x="9034371" y="1783080"/>
            <a:ext cx="49168" cy="352044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17ADB8E4-07B9-4F2B-AAC2-B1E8D5EB169B}"/>
              </a:ext>
            </a:extLst>
          </p:cNvPr>
          <p:cNvSpPr/>
          <p:nvPr/>
        </p:nvSpPr>
        <p:spPr>
          <a:xfrm>
            <a:off x="9235539" y="2665378"/>
            <a:ext cx="2296849" cy="2510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just"/>
            <a:r>
              <a:rPr lang="vi-VN" sz="1500"/>
              <a:t>So sánh mức độ chính xác với phương pháp khác chưa có thử nghiệm đối chứng.</a:t>
            </a:r>
            <a:r>
              <a:rPr lang="en-US" sz="1500"/>
              <a:t> </a:t>
            </a:r>
            <a:r>
              <a:rPr lang="en-US" sz="1500" i="1"/>
              <a:t>(Cần GASCOLAE xác nhận)</a:t>
            </a:r>
            <a:endParaRPr lang="en-US" sz="1500" i="1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ECD9D773-2C1B-4C8E-9867-933444B637E2}"/>
              </a:ext>
            </a:extLst>
          </p:cNvPr>
          <p:cNvSpPr/>
          <p:nvPr/>
        </p:nvSpPr>
        <p:spPr>
          <a:xfrm>
            <a:off x="9235539" y="1944427"/>
            <a:ext cx="2296849" cy="390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CẦN </a:t>
            </a:r>
          </a:p>
          <a:p>
            <a:r>
              <a:rPr lang="en-US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MINH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DECISION MAKING UNIT &amp; BUYING JOURNEY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85216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dùng, ai ảnh hưởng, ai phê duyệt và khách hàng đi qua các bước nào?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1920240" cy="292608"/>
          </a:xfrm>
          <a:prstGeom prst="rect">
            <a:avLst/>
          </a:prstGeom>
          <a:solidFill>
            <a:srgbClr val="EAF2F8"/>
          </a:solidFill>
          <a:ln>
            <a:solidFill>
              <a:srgbClr val="C7D9E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THEY BUY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333756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83080"/>
            <a:ext cx="64008" cy="150876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9476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/ Technical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86968" y="2313432"/>
            <a:ext cx="2990088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just"/>
            <a:r>
              <a:rPr lang="vi-VN" sz="13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Đội môi trường, đội vận hành bãi, kỹ thuật hệ thống thu khí và bộ phận GIS.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33756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783080"/>
            <a:ext cx="64008" cy="150876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9476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36008" y="2313432"/>
            <a:ext cx="2990088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vi-VN" sz="13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HSE, tư vấn carbon, tổ chức thẩm định độc lập và chính quyền địa phương.</a:t>
            </a:r>
          </a:p>
        </p:txBody>
      </p:sp>
      <p:sp>
        <p:nvSpPr>
          <p:cNvPr id="13" name="Shape 11"/>
          <p:cNvSpPr/>
          <p:nvPr/>
        </p:nvSpPr>
        <p:spPr>
          <a:xfrm>
            <a:off x="8183880" y="1783080"/>
            <a:ext cx="333756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783080"/>
            <a:ext cx="64008" cy="15087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9476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Buyer / Approver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385048" y="2313432"/>
            <a:ext cx="2990088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3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quản lý bãi hoặc chủ dự án.</a:t>
            </a:r>
          </a:p>
          <a:p>
            <a:r>
              <a:rPr lang="en-US" sz="13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[CẦN </a:t>
            </a:r>
            <a:r>
              <a:rPr lang="en-US" sz="1300" dirty="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BD/SALES XÁC NHẬN]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886200"/>
            <a:ext cx="365760" cy="365760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2999" y="3886200"/>
            <a:ext cx="1555813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300" b="1">
                <a:solidFill>
                  <a:srgbClr val="17365D"/>
                </a:solidFill>
              </a:rPr>
              <a:t>Khách hàng xác định nhu cầu phát hiện rò rỉ hoặc nghĩa vụ báo cáo kiểm kê.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3886200"/>
            <a:ext cx="365760" cy="365760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37560" y="3884780"/>
            <a:ext cx="1555813" cy="2021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300" b="1">
                <a:solidFill>
                  <a:srgbClr val="17365D"/>
                </a:solidFill>
              </a:rPr>
              <a:t>T</a:t>
            </a:r>
            <a:r>
              <a:rPr lang="vi-VN" sz="1300" b="1">
                <a:solidFill>
                  <a:srgbClr val="17365D"/>
                </a:solidFill>
              </a:rPr>
              <a:t>rao đổi phương pháp, điều kiện gió, hiệu chuẩn và giới hạn định lượng.</a:t>
            </a:r>
            <a:endParaRPr lang="vi-VN" sz="1300" b="1" dirty="0">
              <a:solidFill>
                <a:srgbClr val="17365D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5120640" y="3886200"/>
            <a:ext cx="365760" cy="365760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3886200"/>
            <a:ext cx="1555813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300" b="1">
                <a:solidFill>
                  <a:srgbClr val="17365D"/>
                </a:solidFill>
              </a:rPr>
              <a:t>Chốt Level, ranh giới bãi, số kỳ đo và dữ liệu khách hàng cung cấp.</a:t>
            </a:r>
          </a:p>
        </p:txBody>
      </p:sp>
      <p:sp>
        <p:nvSpPr>
          <p:cNvPr id="23" name="Text 21"/>
          <p:cNvSpPr/>
          <p:nvPr/>
        </p:nvSpPr>
        <p:spPr>
          <a:xfrm>
            <a:off x="7315200" y="3886200"/>
            <a:ext cx="365760" cy="365760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26680" y="3886200"/>
            <a:ext cx="1555813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300" b="1">
                <a:solidFill>
                  <a:srgbClr val="17365D"/>
                </a:solidFill>
              </a:rPr>
              <a:t>Đề xuất phạm vi, tiến độ và điều kiện phối hợp.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509760" y="3886200"/>
            <a:ext cx="365760" cy="365760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21240" y="3886200"/>
            <a:ext cx="16002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300" b="1">
                <a:solidFill>
                  <a:srgbClr val="17365D"/>
                </a:solidFill>
              </a:rPr>
              <a:t>P</a:t>
            </a:r>
            <a:r>
              <a:rPr lang="vi-VN" sz="1300" b="1">
                <a:solidFill>
                  <a:srgbClr val="17365D"/>
                </a:solidFill>
              </a:rPr>
              <a:t>hê duyệt phương pháp, hệ số quy đổi, giấy phép bay và thương mại.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5989320"/>
            <a:ext cx="10972800" cy="347472"/>
          </a:xfrm>
          <a:prstGeom prst="rect">
            <a:avLst/>
          </a:prstGeom>
          <a:solidFill>
            <a:srgbClr val="FFF4D6"/>
          </a:solidFill>
          <a:ln>
            <a:solidFill>
              <a:srgbClr val="E8D18A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CHO SINH VIÊN: DMU và Buying Journey là nội dung bổ sung từ Quy trình 24 bước; nếu chưa có dữ liệu thực tế thì đánh dấu cần BD/Sales xác minh.</a:t>
            </a:r>
            <a:endParaRPr lang="en-US" sz="8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SALES FAQ / OBJECTION HANDLING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85216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Những câu hỏi khách hàng thường cần được làm rõ trước khi đi tiếp?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1920240" cy="292608"/>
          </a:xfrm>
          <a:prstGeom prst="rect">
            <a:avLst/>
          </a:prstGeom>
          <a:solidFill>
            <a:srgbClr val="EAF2F8"/>
          </a:solidFill>
          <a:ln>
            <a:solidFill>
              <a:srgbClr val="C7D9E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QUESTIONS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49224" y="1737360"/>
            <a:ext cx="5202936" cy="128930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1737360"/>
            <a:ext cx="64008" cy="1289304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" y="1901952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1650" b="1">
                <a:solidFill>
                  <a:srgbClr val="17365D"/>
                </a:solidFill>
                <a:ea typeface="Arial" pitchFamily="34" charset="-122"/>
                <a:cs typeface="Arial" pitchFamily="34" charset="-120"/>
              </a:rPr>
              <a:t>Giá trị ppm có phải lượng phát thải không?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86968" y="2285468"/>
            <a:ext cx="4818888" cy="55538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vi-VN" sz="13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Không. ppm là nồng độ tại thời điểm đo; muốn ra lượng phát thải phải qua mô hình định lượng và dữ liệu gió.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166360" cy="128930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737360"/>
            <a:ext cx="64008" cy="1289304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901952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1550" b="1">
                <a:solidFill>
                  <a:srgbClr val="17365D"/>
                </a:solidFill>
                <a:ea typeface="Arial" pitchFamily="34" charset="-122"/>
                <a:cs typeface="Arial" pitchFamily="34" charset="-120"/>
              </a:rPr>
              <a:t>Dịch vụ có thay được khảo sát Method 21 không?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19088" y="2285468"/>
            <a:ext cx="4818888" cy="55538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vi-VN" sz="13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Không. Method 21 là phép đo phục vụ tuân thủ; dịch vụ này bổ trợ bằng cách xếp thứ tự ưu tiên vị trí khảo sát.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" y="3184414"/>
            <a:ext cx="5202936" cy="128930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" y="3184414"/>
            <a:ext cx="64008" cy="1289304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349006"/>
            <a:ext cx="4818888" cy="266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1600" b="1">
                <a:solidFill>
                  <a:srgbClr val="17365D"/>
                </a:solidFill>
                <a:ea typeface="Arial" pitchFamily="34" charset="-122"/>
                <a:cs typeface="Arial" pitchFamily="34" charset="-120"/>
              </a:rPr>
              <a:t>Kết quả có dùng xin tín chỉ carbon được không?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6968" y="3714766"/>
            <a:ext cx="4818888" cy="69040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vi-VN" sz="13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Dịch vụ cung cấp bộ bằng chứng hỗ trợ thẩm định, không phải chứng thư xác minh và không phát hành tín chỉ.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184414"/>
            <a:ext cx="5166360" cy="12692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184414"/>
            <a:ext cx="64008" cy="1269284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3349006"/>
            <a:ext cx="4818888" cy="262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Dịch vụ có đo hiệu suất đốt của flare không?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19088" y="3714766"/>
            <a:ext cx="4818888" cy="67968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vi-VN" sz="1300">
                <a:solidFill>
                  <a:srgbClr val="25364A"/>
                </a:solidFill>
                <a:ea typeface="Arial" pitchFamily="34" charset="-122"/>
                <a:cs typeface="Arial" pitchFamily="34" charset="-120"/>
              </a:rPr>
              <a:t>Không đo bằng UAV. Hệ số hiệu suất đốt lấy từ dữ liệu vận hành và tài liệu phương pháp, dùng làm dữ liệu đầu vào.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5989320"/>
            <a:ext cx="10972800" cy="347472"/>
          </a:xfrm>
          <a:prstGeom prst="rect">
            <a:avLst/>
          </a:prstGeom>
          <a:solidFill>
            <a:srgbClr val="FFF4D6"/>
          </a:solidFill>
          <a:ln>
            <a:solidFill>
              <a:srgbClr val="E8D18A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CHO SINH VIÊN: Nếu không có câu trả lời chắc chắn: ghi [CẦN GASCOLAE XÁC NHẬN], không tự trả lời.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67C4FA7-9A66-418B-A522-1F2C79B08066}"/>
              </a:ext>
            </a:extLst>
          </p:cNvPr>
          <p:cNvSpPr/>
          <p:nvPr/>
        </p:nvSpPr>
        <p:spPr>
          <a:xfrm>
            <a:off x="3616452" y="4638310"/>
            <a:ext cx="5202936" cy="116520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68793B17-A177-4B8B-A82F-131D0773C1E7}"/>
              </a:ext>
            </a:extLst>
          </p:cNvPr>
          <p:cNvSpPr/>
          <p:nvPr/>
        </p:nvSpPr>
        <p:spPr>
          <a:xfrm>
            <a:off x="3552444" y="4638310"/>
            <a:ext cx="64008" cy="1165202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DB979EFB-96BC-4E3E-B2A9-D8728DF786D4}"/>
              </a:ext>
            </a:extLst>
          </p:cNvPr>
          <p:cNvSpPr/>
          <p:nvPr/>
        </p:nvSpPr>
        <p:spPr>
          <a:xfrm>
            <a:off x="3854196" y="4771394"/>
            <a:ext cx="4818888" cy="240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Dịch vụ có giá cả phải chăng không?</a:t>
            </a:r>
            <a:endParaRPr lang="en-US" sz="160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C2595A13-A24C-43A6-80BB-A157C378AD6D}"/>
              </a:ext>
            </a:extLst>
          </p:cNvPr>
          <p:cNvSpPr/>
          <p:nvPr/>
        </p:nvSpPr>
        <p:spPr>
          <a:xfrm>
            <a:off x="3854196" y="5075430"/>
            <a:ext cx="4818888" cy="6239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3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cụ thể cần đ</a:t>
            </a:r>
            <a:r>
              <a:rPr lang="vi-VN" sz="13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</a:t>
            </a:r>
            <a:r>
              <a:rPr lang="en-US" sz="13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ợc t</a:t>
            </a:r>
            <a:r>
              <a:rPr lang="vi-VN" sz="13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</a:t>
            </a:r>
            <a:r>
              <a:rPr lang="en-US" sz="13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vấn kỹ càng h</a:t>
            </a:r>
            <a:r>
              <a:rPr lang="vi-VN" sz="13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ơ</a:t>
            </a:r>
            <a:r>
              <a:rPr lang="en-US" sz="13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bởi đội ngũ Finance/Sales.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NEXT STEP / CALL TO ACTION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85216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 và GASCOLAE cần làm gì tiếp theo?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1920240" cy="292608"/>
          </a:xfrm>
          <a:prstGeom prst="rect">
            <a:avLst/>
          </a:prstGeom>
          <a:solidFill>
            <a:srgbClr val="EAF2F8"/>
          </a:solidFill>
          <a:ln>
            <a:solidFill>
              <a:srgbClr val="C7D9E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FORWARD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1860321"/>
            <a:ext cx="411480" cy="411480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923265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17365D"/>
                </a:solidFill>
              </a:rPr>
              <a:t>Khách hàng cung cấp brief, ranh giới bãi, dữ liệu hạ tầng và mục tiêu đo.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610129"/>
            <a:ext cx="411480" cy="411480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673073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17365D"/>
                </a:solidFill>
              </a:rPr>
              <a:t>Hai bên chốt Level, phạm vi, dữ liệu, HSE và tiêu chí nghiệm thu.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359937"/>
            <a:ext cx="411480" cy="411480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422881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1200">
                <a:solidFill>
                  <a:srgbClr val="17365D"/>
                </a:solidFill>
              </a:rPr>
              <a:t>GASCOLAE chốt cảm biến, phương pháp định lượng và hệ số quy đổi.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109745"/>
            <a:ext cx="411480" cy="411480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4172689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1200">
                <a:solidFill>
                  <a:srgbClr val="17365D"/>
                </a:solidFill>
              </a:rPr>
              <a:t>Hoàn tất hồ sơ cấp phép bay và kế hoạch an toàn hiện trường.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859553"/>
            <a:ext cx="411480" cy="411480"/>
          </a:xfrm>
          <a:prstGeom prst="rect">
            <a:avLst/>
          </a:prstGeom>
          <a:solidFill>
            <a:srgbClr val="C89B3C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922497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1200" b="1">
                <a:solidFill>
                  <a:srgbClr val="17365D"/>
                </a:solidFill>
              </a:rPr>
              <a:t>Chốt timeline và báo giá được phê duyệt, ký Proposal.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58200" y="1691640"/>
            <a:ext cx="297180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1691640"/>
            <a:ext cx="64008" cy="356616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59368" y="1856232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TRACEABILITY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59368" y="2221992"/>
            <a:ext cx="2624328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2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</a:t>
            </a:r>
          </a:p>
          <a:p>
            <a:r>
              <a:rPr lang="en-US" sz="12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Workbook</a:t>
            </a:r>
            <a:endParaRPr lang="en-US" sz="1200" dirty="0"/>
          </a:p>
          <a:p>
            <a:r>
              <a:rPr lang="en-US" sz="1200" dirty="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Knowledge Base</a:t>
            </a:r>
            <a:endParaRPr lang="en-US" sz="1200" dirty="0"/>
          </a:p>
          <a:p>
            <a:r>
              <a:rPr lang="en-US" sz="1200" dirty="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 Profile</a:t>
            </a:r>
            <a:endParaRPr lang="en-US" sz="1200" dirty="0"/>
          </a:p>
          <a:p>
            <a:r>
              <a:rPr lang="en-US" sz="12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SOP</a:t>
            </a:r>
          </a:p>
          <a:p>
            <a:r>
              <a:rPr lang="en-US" sz="120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Proposal</a:t>
            </a:r>
            <a:endParaRPr lang="en-US" sz="1200" dirty="0"/>
          </a:p>
          <a:p>
            <a:r>
              <a:rPr lang="en-US" sz="1200" dirty="0">
                <a:solidFill>
                  <a:srgbClr val="253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Nguồn được GASCOLAE giao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5989320"/>
            <a:ext cx="10972800" cy="347472"/>
          </a:xfrm>
          <a:prstGeom prst="rect">
            <a:avLst/>
          </a:prstGeom>
          <a:solidFill>
            <a:srgbClr val="FFF4D6"/>
          </a:solidFill>
          <a:ln>
            <a:solidFill>
              <a:srgbClr val="E8D18A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CHO SINH VIÊN: Sales Kit phải truy ngược được về Group 1/Research Workbook.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CHECKLIST TRƯỚC KHI NỘP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85216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viên tự kiểm tra Sales Kit trước khi submit.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4E78"/>
                </a:solidFill>
              </a:rPr>
              <a:t>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25364A"/>
                </a:solidFill>
              </a:rPr>
              <a:t>Đúng Service ID / tên service</a:t>
            </a:r>
            <a:endParaRPr lang="en-US" sz="970" dirty="0"/>
          </a:p>
        </p:txBody>
      </p:sp>
      <p:sp>
        <p:nvSpPr>
          <p:cNvPr id="6" name="Text 4"/>
          <p:cNvSpPr/>
          <p:nvPr/>
        </p:nvSpPr>
        <p:spPr>
          <a:xfrm>
            <a:off x="731520" y="21671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4E78"/>
                </a:solidFill>
              </a:rPr>
              <a:t>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1671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25364A"/>
                </a:solidFill>
              </a:rPr>
              <a:t>Target Customer có căn cứ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731520" y="28254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4E78"/>
                </a:solidFill>
              </a:rPr>
              <a:t>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82549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25364A"/>
                </a:solidFill>
              </a:rPr>
              <a:t>Problem và Value Proposition thống nhất Group 1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731520" y="34838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4E78"/>
                </a:solidFill>
              </a:rPr>
              <a:t>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48386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25364A"/>
                </a:solidFill>
              </a:rPr>
              <a:t>Use Case / Level / Deliverables không tự tạo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731520" y="41422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4E78"/>
                </a:solidFill>
              </a:rPr>
              <a:t>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41422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25364A"/>
                </a:solidFill>
              </a:rPr>
              <a:t>Không đưa giá chi tiết vào Sales Kit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4E78"/>
                </a:solidFill>
              </a:rPr>
              <a:t>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8006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25364A"/>
                </a:solidFill>
              </a:rPr>
              <a:t>Positioning / Core Competency có nguồn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6263640" y="15087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4E78"/>
                </a:solidFill>
              </a:rPr>
              <a:t>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9400" y="15087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25364A"/>
                </a:solidFill>
              </a:rPr>
              <a:t>DMU / Buying Journey chưa rõ được đánh dấu xác minh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6263640" y="21671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4E78"/>
                </a:solidFill>
              </a:rPr>
              <a:t>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21671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25364A"/>
                </a:solidFill>
              </a:rPr>
              <a:t>FAQ không tự bịa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6263640" y="28254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4E78"/>
                </a:solidFill>
              </a:rPr>
              <a:t>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29400" y="282549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25364A"/>
                </a:solidFill>
              </a:rPr>
              <a:t>Không có claim định lượng chưa duyệt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6263640" y="34838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4E78"/>
                </a:solidFill>
              </a:rPr>
              <a:t>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29400" y="348386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25364A"/>
                </a:solidFill>
              </a:rPr>
              <a:t>Có Source Traceability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6263640" y="41422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4E78"/>
                </a:solidFill>
              </a:rPr>
              <a:t>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41422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25364A"/>
                </a:solidFill>
              </a:rPr>
              <a:t>Slide ngắn gọn, dễ đọc, không copy toàn bộ KB/SOP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594360" y="5989320"/>
            <a:ext cx="10972800" cy="347472"/>
          </a:xfrm>
          <a:prstGeom prst="rect">
            <a:avLst/>
          </a:prstGeom>
          <a:solidFill>
            <a:srgbClr val="FFF4D6"/>
          </a:solidFill>
          <a:ln>
            <a:solidFill>
              <a:srgbClr val="E8D18A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CHO SINH VIÊN: Nếu chưa đạt checklist, không nộp.</a:t>
            </a:r>
            <a:endParaRPr lang="en-US" sz="8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2419</Words>
  <Application>Microsoft Office PowerPoint</Application>
  <PresentationFormat>Widescreen</PresentationFormat>
  <Paragraphs>257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GASCOLAE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06 GASCOLAE Service Sales Kit</dc:title>
  <dc:subject>Service Sales Kit</dc:subject>
  <dc:creator>GASCOLAE Platform</dc:creator>
  <cp:lastModifiedBy>Đông Dương</cp:lastModifiedBy>
  <cp:revision>12</cp:revision>
  <dcterms:created xsi:type="dcterms:W3CDTF">2026-08-19T11:14:15Z</dcterms:created>
  <dcterms:modified xsi:type="dcterms:W3CDTF">2026-09-11T07:17:24Z</dcterms:modified>
</cp:coreProperties>
</file>