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hry1o5D+YhP57si87ek3V8pC3f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9FC"/>
        </a:solidFill>
      </p:bgPr>
    </p:bg>
    <p:spTree>
      <p:nvGrpSpPr>
        <p:cNvPr id="11" name="Shape 11"/>
        <p:cNvGrpSpPr/>
        <p:nvPr/>
      </p:nvGrpSpPr>
      <p:grpSpPr>
        <a:xfrm>
          <a:off x="0" y="0"/>
          <a:ext cx="0" cy="0"/>
          <a:chOff x="0" y="0"/>
          <a:chExt cx="0" cy="0"/>
        </a:xfrm>
      </p:grpSpPr>
      <p:sp>
        <p:nvSpPr>
          <p:cNvPr id="12" name="Google Shape;12;p15"/>
          <p:cNvSpPr/>
          <p:nvPr/>
        </p:nvSpPr>
        <p:spPr>
          <a:xfrm>
            <a:off x="0" y="0"/>
            <a:ext cx="12191695" cy="109728"/>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5"/>
          <p:cNvSpPr/>
          <p:nvPr/>
        </p:nvSpPr>
        <p:spPr>
          <a:xfrm>
            <a:off x="502920" y="164592"/>
            <a:ext cx="6400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37083"/>
              </a:buClr>
              <a:buSzPts val="800"/>
              <a:buFont typeface="Arial"/>
              <a:buNone/>
            </a:pPr>
            <a:r>
              <a:rPr b="1" i="0" lang="en-US" sz="800" u="none" cap="none" strike="noStrike">
                <a:solidFill>
                  <a:srgbClr val="637083"/>
                </a:solidFill>
                <a:latin typeface="Arial"/>
                <a:ea typeface="Arial"/>
                <a:cs typeface="Arial"/>
                <a:sym typeface="Arial"/>
              </a:rPr>
              <a:t>GASCOLAE PLATFORM  |  GROUP 2 — BUSINESS ASSETS</a:t>
            </a:r>
            <a:endParaRPr b="0" i="0" sz="800" u="none" cap="none" strike="noStrike">
              <a:solidFill>
                <a:schemeClr val="dk1"/>
              </a:solidFill>
              <a:latin typeface="Arial"/>
              <a:ea typeface="Arial"/>
              <a:cs typeface="Arial"/>
              <a:sym typeface="Arial"/>
            </a:endParaRPr>
          </a:p>
        </p:txBody>
      </p:sp>
      <p:sp>
        <p:nvSpPr>
          <p:cNvPr id="14" name="Google Shape;14;p15"/>
          <p:cNvSpPr/>
          <p:nvPr/>
        </p:nvSpPr>
        <p:spPr>
          <a:xfrm>
            <a:off x="9326880" y="164592"/>
            <a:ext cx="233172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37083"/>
              </a:buClr>
              <a:buSzPts val="800"/>
              <a:buFont typeface="Arial"/>
              <a:buNone/>
            </a:pPr>
            <a:r>
              <a:rPr b="0" i="0" lang="en-US" sz="800" u="none" cap="none" strike="noStrike">
                <a:solidFill>
                  <a:srgbClr val="637083"/>
                </a:solidFill>
                <a:latin typeface="Arial"/>
                <a:ea typeface="Arial"/>
                <a:cs typeface="Arial"/>
                <a:sym typeface="Arial"/>
              </a:rPr>
              <a:t>06 — SERVICE SALES KIT</a:t>
            </a:r>
            <a:endParaRPr b="0" i="0" sz="800" u="none" cap="none" strike="noStrike">
              <a:solidFill>
                <a:schemeClr val="dk1"/>
              </a:solidFill>
              <a:latin typeface="Arial"/>
              <a:ea typeface="Arial"/>
              <a:cs typeface="Arial"/>
              <a:sym typeface="Arial"/>
            </a:endParaRPr>
          </a:p>
        </p:txBody>
      </p:sp>
      <p:cxnSp>
        <p:nvCxnSpPr>
          <p:cNvPr id="15" name="Google Shape;15;p15"/>
          <p:cNvCxnSpPr/>
          <p:nvPr/>
        </p:nvCxnSpPr>
        <p:spPr>
          <a:xfrm>
            <a:off x="502920" y="6537960"/>
            <a:ext cx="11155680" cy="0"/>
          </a:xfrm>
          <a:prstGeom prst="straightConnector1">
            <a:avLst/>
          </a:prstGeom>
          <a:noFill/>
          <a:ln cap="flat" cmpd="sng" w="12700">
            <a:solidFill>
              <a:srgbClr val="D8E0EA"/>
            </a:solidFill>
            <a:prstDash val="solid"/>
            <a:round/>
            <a:headEnd len="sm" w="sm" type="none"/>
            <a:tailEnd len="sm" w="sm" type="none"/>
          </a:ln>
        </p:spPr>
      </p:cxnSp>
      <p:sp>
        <p:nvSpPr>
          <p:cNvPr id="16" name="Google Shape;16;p15"/>
          <p:cNvSpPr txBox="1"/>
          <p:nvPr>
            <p:ph idx="12"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800" u="none" cap="none" strike="noStrike">
                <a:solidFill>
                  <a:srgbClr val="7B8794"/>
                </a:solidFill>
                <a:latin typeface="Arial"/>
                <a:ea typeface="Arial"/>
                <a:cs typeface="Arial"/>
                <a:sym typeface="Arial"/>
              </a:defRPr>
            </a:lvl1pPr>
            <a:lvl2pPr indent="0" lvl="1" marL="0" marR="0" algn="l">
              <a:spcBef>
                <a:spcPts val="0"/>
              </a:spcBef>
              <a:buNone/>
              <a:defRPr b="0" i="0" sz="800" u="none" cap="none" strike="noStrike">
                <a:solidFill>
                  <a:srgbClr val="7B8794"/>
                </a:solidFill>
                <a:latin typeface="Arial"/>
                <a:ea typeface="Arial"/>
                <a:cs typeface="Arial"/>
                <a:sym typeface="Arial"/>
              </a:defRPr>
            </a:lvl2pPr>
            <a:lvl3pPr indent="0" lvl="2" marL="0" marR="0" algn="l">
              <a:spcBef>
                <a:spcPts val="0"/>
              </a:spcBef>
              <a:buNone/>
              <a:defRPr b="0" i="0" sz="800" u="none" cap="none" strike="noStrike">
                <a:solidFill>
                  <a:srgbClr val="7B8794"/>
                </a:solidFill>
                <a:latin typeface="Arial"/>
                <a:ea typeface="Arial"/>
                <a:cs typeface="Arial"/>
                <a:sym typeface="Arial"/>
              </a:defRPr>
            </a:lvl3pPr>
            <a:lvl4pPr indent="0" lvl="3" marL="0" marR="0" algn="l">
              <a:spcBef>
                <a:spcPts val="0"/>
              </a:spcBef>
              <a:buNone/>
              <a:defRPr b="0" i="0" sz="800" u="none" cap="none" strike="noStrike">
                <a:solidFill>
                  <a:srgbClr val="7B8794"/>
                </a:solidFill>
                <a:latin typeface="Arial"/>
                <a:ea typeface="Arial"/>
                <a:cs typeface="Arial"/>
                <a:sym typeface="Arial"/>
              </a:defRPr>
            </a:lvl4pPr>
            <a:lvl5pPr indent="0" lvl="4" marL="0" marR="0" algn="l">
              <a:spcBef>
                <a:spcPts val="0"/>
              </a:spcBef>
              <a:buNone/>
              <a:defRPr b="0" i="0" sz="800" u="none" cap="none" strike="noStrike">
                <a:solidFill>
                  <a:srgbClr val="7B8794"/>
                </a:solidFill>
                <a:latin typeface="Arial"/>
                <a:ea typeface="Arial"/>
                <a:cs typeface="Arial"/>
                <a:sym typeface="Arial"/>
              </a:defRPr>
            </a:lvl5pPr>
            <a:lvl6pPr indent="0" lvl="5" marL="0" marR="0" algn="l">
              <a:spcBef>
                <a:spcPts val="0"/>
              </a:spcBef>
              <a:buNone/>
              <a:defRPr b="0" i="0" sz="800" u="none" cap="none" strike="noStrike">
                <a:solidFill>
                  <a:srgbClr val="7B8794"/>
                </a:solidFill>
                <a:latin typeface="Arial"/>
                <a:ea typeface="Arial"/>
                <a:cs typeface="Arial"/>
                <a:sym typeface="Arial"/>
              </a:defRPr>
            </a:lvl6pPr>
            <a:lvl7pPr indent="0" lvl="6" marL="0" marR="0" algn="l">
              <a:spcBef>
                <a:spcPts val="0"/>
              </a:spcBef>
              <a:buNone/>
              <a:defRPr b="0" i="0" sz="800" u="none" cap="none" strike="noStrike">
                <a:solidFill>
                  <a:srgbClr val="7B8794"/>
                </a:solidFill>
                <a:latin typeface="Arial"/>
                <a:ea typeface="Arial"/>
                <a:cs typeface="Arial"/>
                <a:sym typeface="Arial"/>
              </a:defRPr>
            </a:lvl7pPr>
            <a:lvl8pPr indent="0" lvl="7" marL="0" marR="0" algn="l">
              <a:spcBef>
                <a:spcPts val="0"/>
              </a:spcBef>
              <a:buNone/>
              <a:defRPr b="0" i="0" sz="800" u="none" cap="none" strike="noStrike">
                <a:solidFill>
                  <a:srgbClr val="7B8794"/>
                </a:solidFill>
                <a:latin typeface="Arial"/>
                <a:ea typeface="Arial"/>
                <a:cs typeface="Arial"/>
                <a:sym typeface="Arial"/>
              </a:defRPr>
            </a:lvl8pPr>
            <a:lvl9pPr indent="0" lvl="8" marL="0" marR="0" algn="l">
              <a:spcBef>
                <a:spcPts val="0"/>
              </a:spcBef>
              <a:buNone/>
              <a:defRPr b="0" i="0" sz="800" u="none" cap="none" strike="noStrike">
                <a:solidFill>
                  <a:srgbClr val="7B879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4"/>
          <p:cNvSpPr txBox="1"/>
          <p:nvPr>
            <p:ph idx="12"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800" u="none" cap="none" strike="noStrike">
                <a:solidFill>
                  <a:srgbClr val="7B8794"/>
                </a:solidFill>
                <a:latin typeface="Arial"/>
                <a:ea typeface="Arial"/>
                <a:cs typeface="Arial"/>
                <a:sym typeface="Arial"/>
              </a:defRPr>
            </a:lvl1pPr>
            <a:lvl2pPr indent="0" lvl="1" marL="0" marR="0" rtl="0" algn="l">
              <a:spcBef>
                <a:spcPts val="0"/>
              </a:spcBef>
              <a:buNone/>
              <a:defRPr b="0" i="0" sz="800" u="none" cap="none" strike="noStrike">
                <a:solidFill>
                  <a:srgbClr val="7B8794"/>
                </a:solidFill>
                <a:latin typeface="Arial"/>
                <a:ea typeface="Arial"/>
                <a:cs typeface="Arial"/>
                <a:sym typeface="Arial"/>
              </a:defRPr>
            </a:lvl2pPr>
            <a:lvl3pPr indent="0" lvl="2" marL="0" marR="0" rtl="0" algn="l">
              <a:spcBef>
                <a:spcPts val="0"/>
              </a:spcBef>
              <a:buNone/>
              <a:defRPr b="0" i="0" sz="800" u="none" cap="none" strike="noStrike">
                <a:solidFill>
                  <a:srgbClr val="7B8794"/>
                </a:solidFill>
                <a:latin typeface="Arial"/>
                <a:ea typeface="Arial"/>
                <a:cs typeface="Arial"/>
                <a:sym typeface="Arial"/>
              </a:defRPr>
            </a:lvl3pPr>
            <a:lvl4pPr indent="0" lvl="3" marL="0" marR="0" rtl="0" algn="l">
              <a:spcBef>
                <a:spcPts val="0"/>
              </a:spcBef>
              <a:buNone/>
              <a:defRPr b="0" i="0" sz="800" u="none" cap="none" strike="noStrike">
                <a:solidFill>
                  <a:srgbClr val="7B8794"/>
                </a:solidFill>
                <a:latin typeface="Arial"/>
                <a:ea typeface="Arial"/>
                <a:cs typeface="Arial"/>
                <a:sym typeface="Arial"/>
              </a:defRPr>
            </a:lvl4pPr>
            <a:lvl5pPr indent="0" lvl="4" marL="0" marR="0" rtl="0" algn="l">
              <a:spcBef>
                <a:spcPts val="0"/>
              </a:spcBef>
              <a:buNone/>
              <a:defRPr b="0" i="0" sz="800" u="none" cap="none" strike="noStrike">
                <a:solidFill>
                  <a:srgbClr val="7B8794"/>
                </a:solidFill>
                <a:latin typeface="Arial"/>
                <a:ea typeface="Arial"/>
                <a:cs typeface="Arial"/>
                <a:sym typeface="Arial"/>
              </a:defRPr>
            </a:lvl5pPr>
            <a:lvl6pPr indent="0" lvl="5" marL="0" marR="0" rtl="0" algn="l">
              <a:spcBef>
                <a:spcPts val="0"/>
              </a:spcBef>
              <a:buNone/>
              <a:defRPr b="0" i="0" sz="800" u="none" cap="none" strike="noStrike">
                <a:solidFill>
                  <a:srgbClr val="7B8794"/>
                </a:solidFill>
                <a:latin typeface="Arial"/>
                <a:ea typeface="Arial"/>
                <a:cs typeface="Arial"/>
                <a:sym typeface="Arial"/>
              </a:defRPr>
            </a:lvl6pPr>
            <a:lvl7pPr indent="0" lvl="6" marL="0" marR="0" rtl="0" algn="l">
              <a:spcBef>
                <a:spcPts val="0"/>
              </a:spcBef>
              <a:buNone/>
              <a:defRPr b="0" i="0" sz="800" u="none" cap="none" strike="noStrike">
                <a:solidFill>
                  <a:srgbClr val="7B8794"/>
                </a:solidFill>
                <a:latin typeface="Arial"/>
                <a:ea typeface="Arial"/>
                <a:cs typeface="Arial"/>
                <a:sym typeface="Arial"/>
              </a:defRPr>
            </a:lvl7pPr>
            <a:lvl8pPr indent="0" lvl="7" marL="0" marR="0" rtl="0" algn="l">
              <a:spcBef>
                <a:spcPts val="0"/>
              </a:spcBef>
              <a:buNone/>
              <a:defRPr b="0" i="0" sz="800" u="none" cap="none" strike="noStrike">
                <a:solidFill>
                  <a:srgbClr val="7B8794"/>
                </a:solidFill>
                <a:latin typeface="Arial"/>
                <a:ea typeface="Arial"/>
                <a:cs typeface="Arial"/>
                <a:sym typeface="Arial"/>
              </a:defRPr>
            </a:lvl8pPr>
            <a:lvl9pPr indent="0" lvl="8" marL="0" marR="0" rtl="0" algn="l">
              <a:spcBef>
                <a:spcPts val="0"/>
              </a:spcBef>
              <a:buNone/>
              <a:defRPr b="0" i="0" sz="800" u="none" cap="none" strike="noStrike">
                <a:solidFill>
                  <a:srgbClr val="7B879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2" name="Shape 22"/>
        <p:cNvGrpSpPr/>
        <p:nvPr/>
      </p:nvGrpSpPr>
      <p:grpSpPr>
        <a:xfrm>
          <a:off x="0" y="0"/>
          <a:ext cx="0" cy="0"/>
          <a:chOff x="0" y="0"/>
          <a:chExt cx="0" cy="0"/>
        </a:xfrm>
      </p:grpSpPr>
      <p:sp>
        <p:nvSpPr>
          <p:cNvPr id="23" name="Google Shape;23;p1"/>
          <p:cNvSpPr/>
          <p:nvPr/>
        </p:nvSpPr>
        <p:spPr>
          <a:xfrm>
            <a:off x="0" y="0"/>
            <a:ext cx="3749040" cy="6858000"/>
          </a:xfrm>
          <a:prstGeom prst="rect">
            <a:avLst/>
          </a:prstGeom>
          <a:solidFill>
            <a:srgbClr val="17365D"/>
          </a:solidFill>
          <a:ln cap="flat" cmpd="sng" w="12700">
            <a:solidFill>
              <a:srgbClr val="17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594360" y="1005840"/>
            <a:ext cx="22860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800"/>
              <a:buFont typeface="Arial"/>
              <a:buNone/>
            </a:pPr>
            <a:r>
              <a:rPr b="1" i="0" lang="en-US" sz="5800" u="none" cap="none" strike="noStrike">
                <a:solidFill>
                  <a:srgbClr val="FFFFFF"/>
                </a:solidFill>
                <a:latin typeface="Arial"/>
                <a:ea typeface="Arial"/>
                <a:cs typeface="Arial"/>
                <a:sym typeface="Arial"/>
              </a:rPr>
              <a:t>06</a:t>
            </a:r>
            <a:endParaRPr b="0" i="0" sz="5800" u="none" cap="none" strike="noStrike">
              <a:solidFill>
                <a:schemeClr val="dk1"/>
              </a:solidFill>
              <a:latin typeface="Arial"/>
              <a:ea typeface="Arial"/>
              <a:cs typeface="Arial"/>
              <a:sym typeface="Arial"/>
            </a:endParaRPr>
          </a:p>
        </p:txBody>
      </p:sp>
      <p:sp>
        <p:nvSpPr>
          <p:cNvPr id="25" name="Google Shape;25;p1"/>
          <p:cNvSpPr/>
          <p:nvPr/>
        </p:nvSpPr>
        <p:spPr>
          <a:xfrm>
            <a:off x="612648" y="1965960"/>
            <a:ext cx="25603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SERVICE</a:t>
            </a:r>
            <a:endParaRPr b="0" i="0" sz="2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SALES KIT</a:t>
            </a:r>
            <a:endParaRPr b="0" i="0" sz="2500" u="none" cap="none" strike="noStrike">
              <a:solidFill>
                <a:schemeClr val="dk1"/>
              </a:solidFill>
              <a:latin typeface="Arial"/>
              <a:ea typeface="Arial"/>
              <a:cs typeface="Arial"/>
              <a:sym typeface="Arial"/>
            </a:endParaRPr>
          </a:p>
        </p:txBody>
      </p:sp>
      <p:sp>
        <p:nvSpPr>
          <p:cNvPr id="26" name="Google Shape;26;p1"/>
          <p:cNvSpPr/>
          <p:nvPr/>
        </p:nvSpPr>
        <p:spPr>
          <a:xfrm>
            <a:off x="640080" y="3291840"/>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9EA"/>
              </a:buClr>
              <a:buSzPts val="1000"/>
              <a:buFont typeface="Arial"/>
              <a:buNone/>
            </a:pPr>
            <a:r>
              <a:rPr b="1" i="0" lang="en-US" sz="1000" u="none" cap="none" strike="noStrike">
                <a:solidFill>
                  <a:srgbClr val="C7D9EA"/>
                </a:solidFill>
                <a:latin typeface="Arial"/>
                <a:ea typeface="Arial"/>
                <a:cs typeface="Arial"/>
                <a:sym typeface="Arial"/>
              </a:rPr>
              <a:t>GROUP 2 — BUSINESS ASSETS</a:t>
            </a:r>
            <a:endParaRPr b="0" i="0" sz="1000" u="none" cap="none" strike="noStrike">
              <a:solidFill>
                <a:schemeClr val="dk1"/>
              </a:solidFill>
              <a:latin typeface="Arial"/>
              <a:ea typeface="Arial"/>
              <a:cs typeface="Arial"/>
              <a:sym typeface="Arial"/>
            </a:endParaRPr>
          </a:p>
        </p:txBody>
      </p:sp>
      <p:sp>
        <p:nvSpPr>
          <p:cNvPr id="27" name="Google Shape;27;p1"/>
          <p:cNvSpPr/>
          <p:nvPr/>
        </p:nvSpPr>
        <p:spPr>
          <a:xfrm>
            <a:off x="4343400" y="1280160"/>
            <a:ext cx="6858000" cy="54864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2400">
                <a:solidFill>
                  <a:srgbClr val="17365D"/>
                </a:solidFill>
              </a:rPr>
              <a:t>GIẢI PHÁP GIÁM SÁT THẢM THỰC VẬT BẰNG UAV</a:t>
            </a:r>
            <a:endParaRPr b="1" sz="2400">
              <a:solidFill>
                <a:srgbClr val="17365D"/>
              </a:solidFill>
            </a:endParaRPr>
          </a:p>
        </p:txBody>
      </p:sp>
      <p:sp>
        <p:nvSpPr>
          <p:cNvPr id="28" name="Google Shape;28;p1"/>
          <p:cNvSpPr/>
          <p:nvPr/>
        </p:nvSpPr>
        <p:spPr>
          <a:xfrm>
            <a:off x="4370832" y="2011680"/>
            <a:ext cx="6675120" cy="82296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25364A"/>
                </a:solidFill>
              </a:rPr>
              <a:t>THEO DÕI SỰ THAY ĐỔI THẢM THỰC VẬT</a:t>
            </a:r>
            <a:endParaRPr sz="1800">
              <a:solidFill>
                <a:srgbClr val="25364A"/>
              </a:solidFill>
            </a:endParaRPr>
          </a:p>
          <a:p>
            <a:pPr indent="0" lvl="0" marL="0" marR="0" rtl="0" algn="l">
              <a:spcBef>
                <a:spcPts val="0"/>
              </a:spcBef>
              <a:spcAft>
                <a:spcPts val="0"/>
              </a:spcAft>
              <a:buClr>
                <a:srgbClr val="25364A"/>
              </a:buClr>
              <a:buSzPts val="1800"/>
              <a:buFont typeface="Arial"/>
              <a:buNone/>
            </a:pPr>
            <a:r>
              <a:rPr b="0" i="0" lang="en-US" sz="1800" u="none" cap="none" strike="noStrike">
                <a:solidFill>
                  <a:srgbClr val="25364A"/>
                </a:solidFill>
                <a:latin typeface="Arial"/>
                <a:ea typeface="Arial"/>
                <a:cs typeface="Arial"/>
                <a:sym typeface="Arial"/>
              </a:rPr>
              <a:t>Service ID: </a:t>
            </a:r>
            <a:r>
              <a:rPr lang="en-US" sz="1800">
                <a:solidFill>
                  <a:srgbClr val="25364A"/>
                </a:solidFill>
              </a:rPr>
              <a:t>S0283</a:t>
            </a:r>
            <a:r>
              <a:rPr lang="en-US" sz="1100">
                <a:solidFill>
                  <a:schemeClr val="dk1"/>
                </a:solidFill>
              </a:rPr>
              <a:t> </a:t>
            </a:r>
            <a:endParaRPr b="0" i="0" sz="1800" u="none" cap="none" strike="noStrike">
              <a:solidFill>
                <a:schemeClr val="dk1"/>
              </a:solidFill>
              <a:latin typeface="Arial"/>
              <a:ea typeface="Arial"/>
              <a:cs typeface="Arial"/>
              <a:sym typeface="Arial"/>
            </a:endParaRPr>
          </a:p>
        </p:txBody>
      </p:sp>
      <p:sp>
        <p:nvSpPr>
          <p:cNvPr id="29" name="Google Shape;29;p1"/>
          <p:cNvSpPr/>
          <p:nvPr/>
        </p:nvSpPr>
        <p:spPr>
          <a:xfrm>
            <a:off x="4389120" y="3154680"/>
            <a:ext cx="6720840" cy="96012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a:solidFill>
                  <a:srgbClr val="1F4E78"/>
                </a:solidFill>
              </a:rPr>
              <a:t>Dữ liệu UAV đa thời gian giúp phát hiện, khoanh vùng và định lượng biến động thảm thực vật ở độ phân giải cao.</a:t>
            </a:r>
            <a:endParaRPr b="1">
              <a:solidFill>
                <a:srgbClr val="1F4E78"/>
              </a:solidFill>
            </a:endParaRPr>
          </a:p>
        </p:txBody>
      </p:sp>
      <p:sp>
        <p:nvSpPr>
          <p:cNvPr id="30" name="Google Shape;30;p1"/>
          <p:cNvSpPr/>
          <p:nvPr/>
        </p:nvSpPr>
        <p:spPr>
          <a:xfrm>
            <a:off x="4389120" y="4434840"/>
            <a:ext cx="6720840" cy="82296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rgbClr val="637083"/>
                </a:solidFill>
              </a:rPr>
              <a:t>Bộ Sales Kit phục vụ trao đổi nhu cầu, lựa chọn cấp độ dịch vụ và khởi động khảo sát thử nghiệm. Các chỉ tiêu kỹ thuật và giá được xác nhận theo từng AOI.</a:t>
            </a:r>
            <a:endParaRPr sz="1100">
              <a:solidFill>
                <a:srgbClr val="637083"/>
              </a:solidFill>
            </a:endParaRPr>
          </a:p>
        </p:txBody>
      </p:sp>
      <p:sp>
        <p:nvSpPr>
          <p:cNvPr id="31" name="Google Shape;31;p1"/>
          <p:cNvSpPr/>
          <p:nvPr/>
        </p:nvSpPr>
        <p:spPr>
          <a:xfrm>
            <a:off x="4389120" y="557784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900"/>
              <a:buFont typeface="Arial"/>
              <a:buNone/>
            </a:pPr>
            <a:r>
              <a:rPr b="0" i="0" lang="en-US" sz="900" u="none" cap="none" strike="noStrike">
                <a:solidFill>
                  <a:srgbClr val="637083"/>
                </a:solidFill>
                <a:latin typeface="Arial"/>
                <a:ea typeface="Arial"/>
                <a:cs typeface="Arial"/>
                <a:sym typeface="Arial"/>
              </a:rPr>
              <a:t>Version 1.0</a:t>
            </a:r>
            <a:endParaRPr b="0" i="0" sz="900" u="none" cap="none" strike="noStrike">
              <a:solidFill>
                <a:schemeClr val="dk1"/>
              </a:solidFill>
              <a:latin typeface="Arial"/>
              <a:ea typeface="Arial"/>
              <a:cs typeface="Arial"/>
              <a:sym typeface="Arial"/>
            </a:endParaRPr>
          </a:p>
        </p:txBody>
      </p:sp>
      <p:sp>
        <p:nvSpPr>
          <p:cNvPr id="32" name="Google Shape;32;p1"/>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B8794"/>
                </a:solidFill>
                <a:latin typeface="Arial"/>
                <a:ea typeface="Arial"/>
                <a:cs typeface="Arial"/>
                <a:sym typeface="Arial"/>
              </a:rPr>
              <a:t>‹#›</a:t>
            </a:fld>
            <a:endParaRPr b="0" i="0" sz="800" u="none" cap="none" strike="noStrike">
              <a:solidFill>
                <a:srgbClr val="7B8794"/>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2"/>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i="0" lang="en-US" sz="2300" u="none" cap="none" strike="noStrike">
                <a:solidFill>
                  <a:srgbClr val="17365D"/>
                </a:solidFill>
                <a:latin typeface="Arial"/>
                <a:ea typeface="Arial"/>
                <a:cs typeface="Arial"/>
                <a:sym typeface="Arial"/>
              </a:rPr>
              <a:t>01. TARGET MARKET &amp; CUSTOMER</a:t>
            </a:r>
            <a:endParaRPr b="0" i="0" sz="2300" u="none" cap="none" strike="noStrike">
              <a:solidFill>
                <a:schemeClr val="dk1"/>
              </a:solidFill>
              <a:latin typeface="Arial"/>
              <a:ea typeface="Arial"/>
              <a:cs typeface="Arial"/>
              <a:sym typeface="Arial"/>
            </a:endParaRPr>
          </a:p>
        </p:txBody>
      </p:sp>
      <p:sp>
        <p:nvSpPr>
          <p:cNvPr id="39" name="Google Shape;39;p2"/>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b="0" i="0" lang="en-US" sz="1050" u="none" cap="none" strike="noStrike">
                <a:solidFill>
                  <a:srgbClr val="637083"/>
                </a:solidFill>
                <a:latin typeface="Arial"/>
                <a:ea typeface="Arial"/>
                <a:cs typeface="Arial"/>
                <a:sym typeface="Arial"/>
              </a:rPr>
              <a:t>Ai là khách hàng phù hợp nhất với service này?</a:t>
            </a:r>
            <a:endParaRPr b="0" i="0" sz="1050" u="none" cap="none" strike="noStrike">
              <a:solidFill>
                <a:schemeClr val="dk1"/>
              </a:solidFill>
              <a:latin typeface="Arial"/>
              <a:ea typeface="Arial"/>
              <a:cs typeface="Arial"/>
              <a:sym typeface="Arial"/>
            </a:endParaRPr>
          </a:p>
        </p:txBody>
      </p:sp>
      <p:sp>
        <p:nvSpPr>
          <p:cNvPr id="40" name="Google Shape;40;p2"/>
          <p:cNvSpPr/>
          <p:nvPr/>
        </p:nvSpPr>
        <p:spPr>
          <a:xfrm>
            <a:off x="594360" y="1389888"/>
            <a:ext cx="1920240" cy="292608"/>
          </a:xfrm>
          <a:prstGeom prst="rect">
            <a:avLst/>
          </a:prstGeom>
          <a:solidFill>
            <a:srgbClr val="EAF2F8"/>
          </a:solidFill>
          <a:ln cap="flat" cmpd="sng" w="9525">
            <a:solidFill>
              <a:srgbClr val="C7D9E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F4E78"/>
              </a:buClr>
              <a:buSzPts val="850"/>
              <a:buFont typeface="Arial"/>
              <a:buNone/>
            </a:pPr>
            <a:r>
              <a:rPr b="1" i="0" lang="en-US" sz="850" u="none" cap="none" strike="noStrike">
                <a:solidFill>
                  <a:srgbClr val="1F4E78"/>
                </a:solidFill>
                <a:latin typeface="Arial"/>
                <a:ea typeface="Arial"/>
                <a:cs typeface="Arial"/>
                <a:sym typeface="Arial"/>
              </a:rPr>
              <a:t>WHO TO SELL</a:t>
            </a:r>
            <a:endParaRPr b="0" i="0" sz="850" u="none" cap="none" strike="noStrike">
              <a:solidFill>
                <a:schemeClr val="dk1"/>
              </a:solidFill>
              <a:latin typeface="Arial"/>
              <a:ea typeface="Arial"/>
              <a:cs typeface="Arial"/>
              <a:sym typeface="Arial"/>
            </a:endParaRPr>
          </a:p>
        </p:txBody>
      </p:sp>
      <p:sp>
        <p:nvSpPr>
          <p:cNvPr id="41" name="Google Shape;41;p2"/>
          <p:cNvSpPr/>
          <p:nvPr/>
        </p:nvSpPr>
        <p:spPr>
          <a:xfrm>
            <a:off x="640080" y="1828800"/>
            <a:ext cx="338328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40080" y="1828800"/>
            <a:ext cx="64008" cy="14173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841248" y="1993392"/>
            <a:ext cx="303580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i="0" lang="en-US" sz="1200" u="none" cap="none" strike="noStrike">
                <a:solidFill>
                  <a:srgbClr val="17365D"/>
                </a:solidFill>
                <a:latin typeface="Arial"/>
                <a:ea typeface="Arial"/>
                <a:cs typeface="Arial"/>
                <a:sym typeface="Arial"/>
              </a:rPr>
              <a:t>Phân khúc mục tiêu</a:t>
            </a:r>
            <a:endParaRPr b="0" i="0" sz="1200" u="none" cap="none" strike="noStrike">
              <a:solidFill>
                <a:schemeClr val="dk1"/>
              </a:solidFill>
              <a:latin typeface="Arial"/>
              <a:ea typeface="Arial"/>
              <a:cs typeface="Arial"/>
              <a:sym typeface="Arial"/>
            </a:endParaRPr>
          </a:p>
        </p:txBody>
      </p:sp>
      <p:sp>
        <p:nvSpPr>
          <p:cNvPr id="44" name="Google Shape;44;p2"/>
          <p:cNvSpPr/>
          <p:nvPr/>
        </p:nvSpPr>
        <p:spPr>
          <a:xfrm>
            <a:off x="841248" y="2359152"/>
            <a:ext cx="303580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Chủ rừng, rừng trồng; khu bảo tồn; doanh nghiệp nông–lâm nghiệp; dự án phục hồi, hoàn nguyên và carbon</a:t>
            </a:r>
            <a:endParaRPr sz="950">
              <a:solidFill>
                <a:srgbClr val="25364A"/>
              </a:solidFill>
            </a:endParaRPr>
          </a:p>
        </p:txBody>
      </p:sp>
      <p:sp>
        <p:nvSpPr>
          <p:cNvPr id="45" name="Google Shape;45;p2"/>
          <p:cNvSpPr/>
          <p:nvPr/>
        </p:nvSpPr>
        <p:spPr>
          <a:xfrm>
            <a:off x="4343400" y="1828800"/>
            <a:ext cx="338328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4343400" y="1828800"/>
            <a:ext cx="64008" cy="14173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4544568" y="1993392"/>
            <a:ext cx="303580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i="0" lang="en-US" sz="1200" u="none" cap="none" strike="noStrike">
                <a:solidFill>
                  <a:srgbClr val="17365D"/>
                </a:solidFill>
                <a:latin typeface="Arial"/>
                <a:ea typeface="Arial"/>
                <a:cs typeface="Arial"/>
                <a:sym typeface="Arial"/>
              </a:rPr>
              <a:t>Vai trò sử dụng</a:t>
            </a:r>
            <a:endParaRPr b="0" i="0" sz="1200" u="none" cap="none" strike="noStrike">
              <a:solidFill>
                <a:schemeClr val="dk1"/>
              </a:solidFill>
              <a:latin typeface="Arial"/>
              <a:ea typeface="Arial"/>
              <a:cs typeface="Arial"/>
              <a:sym typeface="Arial"/>
            </a:endParaRPr>
          </a:p>
        </p:txBody>
      </p:sp>
      <p:sp>
        <p:nvSpPr>
          <p:cNvPr id="48" name="Google Shape;48;p2"/>
          <p:cNvSpPr/>
          <p:nvPr/>
        </p:nvSpPr>
        <p:spPr>
          <a:xfrm>
            <a:off x="4544568" y="2359152"/>
            <a:ext cx="303580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GIS/viễn thám; lâm nghiệp/nông học; môi trường–ESG; quản lý hiện trường</a:t>
            </a:r>
            <a:endParaRPr sz="950">
              <a:solidFill>
                <a:srgbClr val="25364A"/>
              </a:solidFill>
            </a:endParaRPr>
          </a:p>
        </p:txBody>
      </p:sp>
      <p:sp>
        <p:nvSpPr>
          <p:cNvPr id="49" name="Google Shape;49;p2"/>
          <p:cNvSpPr/>
          <p:nvPr/>
        </p:nvSpPr>
        <p:spPr>
          <a:xfrm>
            <a:off x="8046720" y="1828800"/>
            <a:ext cx="338328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8046720" y="1828800"/>
            <a:ext cx="64008" cy="14173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8247888" y="1993392"/>
            <a:ext cx="303580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i="0" lang="en-US" sz="1200" u="none" cap="none" strike="noStrike">
                <a:solidFill>
                  <a:srgbClr val="17365D"/>
                </a:solidFill>
                <a:latin typeface="Arial"/>
                <a:ea typeface="Arial"/>
                <a:cs typeface="Arial"/>
                <a:sym typeface="Arial"/>
              </a:rPr>
              <a:t>Beachhead Market</a:t>
            </a:r>
            <a:endParaRPr b="0" i="0" sz="1200" u="none" cap="none" strike="noStrike">
              <a:solidFill>
                <a:schemeClr val="dk1"/>
              </a:solidFill>
              <a:latin typeface="Arial"/>
              <a:ea typeface="Arial"/>
              <a:cs typeface="Arial"/>
              <a:sym typeface="Arial"/>
            </a:endParaRPr>
          </a:p>
        </p:txBody>
      </p:sp>
      <p:sp>
        <p:nvSpPr>
          <p:cNvPr id="52" name="Google Shape;52;p2"/>
          <p:cNvSpPr/>
          <p:nvPr/>
        </p:nvSpPr>
        <p:spPr>
          <a:xfrm>
            <a:off x="8247888" y="2359152"/>
            <a:ext cx="3035808" cy="7589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None/>
            </a:pPr>
            <a:r>
              <a:rPr lang="en-US" sz="950">
                <a:solidFill>
                  <a:srgbClr val="25364A"/>
                </a:solidFill>
                <a:latin typeface="Arial"/>
                <a:ea typeface="Arial"/>
                <a:cs typeface="Arial"/>
                <a:sym typeface="Arial"/>
              </a:rPr>
              <a:t>CẦN BD XÁC NHẬN</a:t>
            </a:r>
            <a:endParaRPr sz="950">
              <a:solidFill>
                <a:schemeClr val="dk1"/>
              </a:solidFill>
              <a:latin typeface="Arial"/>
              <a:ea typeface="Arial"/>
              <a:cs typeface="Arial"/>
              <a:sym typeface="Arial"/>
            </a:endParaRPr>
          </a:p>
        </p:txBody>
      </p:sp>
      <p:sp>
        <p:nvSpPr>
          <p:cNvPr id="53" name="Google Shape;53;p2"/>
          <p:cNvSpPr/>
          <p:nvPr/>
        </p:nvSpPr>
        <p:spPr>
          <a:xfrm>
            <a:off x="640080" y="3611880"/>
            <a:ext cx="5257800" cy="1463040"/>
          </a:xfrm>
          <a:prstGeom prst="roundRect">
            <a:avLst>
              <a:gd fmla="val 3125"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640080" y="3611880"/>
            <a:ext cx="64008" cy="146304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841248" y="3776472"/>
            <a:ext cx="491032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Hồ sơ khách hàng mục tiêu</a:t>
            </a:r>
            <a:endParaRPr sz="1200">
              <a:solidFill>
                <a:schemeClr val="dk1"/>
              </a:solidFill>
              <a:latin typeface="Arial"/>
              <a:ea typeface="Arial"/>
              <a:cs typeface="Arial"/>
              <a:sym typeface="Arial"/>
            </a:endParaRPr>
          </a:p>
        </p:txBody>
      </p:sp>
      <p:sp>
        <p:nvSpPr>
          <p:cNvPr id="56" name="Google Shape;56;p2"/>
          <p:cNvSpPr/>
          <p:nvPr/>
        </p:nvSpPr>
        <p:spPr>
          <a:xfrm>
            <a:off x="841248" y="4142232"/>
            <a:ext cx="4910328" cy="80467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Có AOI rõ ràng, cần so sánh nhiều kỳ, cần dữ liệu GIS truy vết và có khả năng hỗ trợ kiểm tra thực địa.</a:t>
            </a:r>
            <a:endParaRPr sz="950">
              <a:solidFill>
                <a:srgbClr val="25364A"/>
              </a:solidFill>
            </a:endParaRPr>
          </a:p>
        </p:txBody>
      </p:sp>
      <p:sp>
        <p:nvSpPr>
          <p:cNvPr id="57" name="Google Shape;57;p2"/>
          <p:cNvSpPr/>
          <p:nvPr/>
        </p:nvSpPr>
        <p:spPr>
          <a:xfrm>
            <a:off x="6217920" y="3611880"/>
            <a:ext cx="5212080" cy="1463040"/>
          </a:xfrm>
          <a:prstGeom prst="roundRect">
            <a:avLst>
              <a:gd fmla="val 3125"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6217920" y="3611880"/>
            <a:ext cx="64008" cy="1463040"/>
          </a:xfrm>
          <a:prstGeom prst="rect">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419088" y="3776472"/>
            <a:ext cx="486460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Không yêu cầu SV làm</a:t>
            </a:r>
            <a:endParaRPr sz="1200">
              <a:solidFill>
                <a:schemeClr val="dk1"/>
              </a:solidFill>
              <a:latin typeface="Arial"/>
              <a:ea typeface="Arial"/>
              <a:cs typeface="Arial"/>
              <a:sym typeface="Arial"/>
            </a:endParaRPr>
          </a:p>
        </p:txBody>
      </p:sp>
      <p:sp>
        <p:nvSpPr>
          <p:cNvPr id="60" name="Google Shape;60;p2"/>
          <p:cNvSpPr/>
          <p:nvPr/>
        </p:nvSpPr>
        <p:spPr>
          <a:xfrm>
            <a:off x="6419088" y="4142232"/>
            <a:ext cx="4864608" cy="80467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Chủ dự án, giám đốc vận hành, chủ rừng hoặc ban quản lý. Người mua kinh tế thực tế cần BD/Sales xác nhận.</a:t>
            </a:r>
            <a:endParaRPr sz="950">
              <a:solidFill>
                <a:srgbClr val="25364A"/>
              </a:solidFill>
            </a:endParaRPr>
          </a:p>
        </p:txBody>
      </p:sp>
      <p:sp>
        <p:nvSpPr>
          <p:cNvPr id="61" name="Google Shape;61;p2"/>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Lấy từ Group 1 + nguồn được giao. Không tự mở rộng thị trường nếu chưa có căn cứ.</a:t>
            </a:r>
            <a:endParaRPr sz="850">
              <a:solidFill>
                <a:schemeClr val="dk1"/>
              </a:solidFill>
              <a:latin typeface="Arial"/>
              <a:ea typeface="Arial"/>
              <a:cs typeface="Arial"/>
              <a:sym typeface="Arial"/>
            </a:endParaRPr>
          </a:p>
        </p:txBody>
      </p:sp>
      <p:sp>
        <p:nvSpPr>
          <p:cNvPr id="62" name="Google Shape;62;p2"/>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800" u="none" cap="none" strike="noStrike">
                <a:solidFill>
                  <a:srgbClr val="7B8794"/>
                </a:solidFill>
                <a:latin typeface="Arial"/>
                <a:ea typeface="Arial"/>
                <a:cs typeface="Arial"/>
                <a:sym typeface="Arial"/>
              </a:rPr>
              <a:t>‹#›</a:t>
            </a:fld>
            <a:endParaRPr b="0" i="0" sz="800" u="none" cap="none" strike="noStrike">
              <a:solidFill>
                <a:srgbClr val="7B8794"/>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lang="en-US" sz="2300">
                <a:solidFill>
                  <a:srgbClr val="17365D"/>
                </a:solidFill>
                <a:latin typeface="Arial"/>
                <a:ea typeface="Arial"/>
                <a:cs typeface="Arial"/>
                <a:sym typeface="Arial"/>
              </a:rPr>
              <a:t>02. CUSTOMER PROBLEMS</a:t>
            </a:r>
            <a:endParaRPr sz="2300">
              <a:solidFill>
                <a:schemeClr val="dk1"/>
              </a:solidFill>
              <a:latin typeface="Arial"/>
              <a:ea typeface="Arial"/>
              <a:cs typeface="Arial"/>
              <a:sym typeface="Arial"/>
            </a:endParaRPr>
          </a:p>
        </p:txBody>
      </p:sp>
      <p:sp>
        <p:nvSpPr>
          <p:cNvPr id="69" name="Google Shape;69;p3"/>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lang="en-US" sz="1050">
                <a:solidFill>
                  <a:srgbClr val="637083"/>
                </a:solidFill>
                <a:latin typeface="Arial"/>
                <a:ea typeface="Arial"/>
                <a:cs typeface="Arial"/>
                <a:sym typeface="Arial"/>
              </a:rPr>
              <a:t>Khách hàng đang gặp vấn đề gì và tác động ra sao?</a:t>
            </a:r>
            <a:endParaRPr sz="1050">
              <a:solidFill>
                <a:schemeClr val="dk1"/>
              </a:solidFill>
              <a:latin typeface="Arial"/>
              <a:ea typeface="Arial"/>
              <a:cs typeface="Arial"/>
              <a:sym typeface="Arial"/>
            </a:endParaRPr>
          </a:p>
        </p:txBody>
      </p:sp>
      <p:sp>
        <p:nvSpPr>
          <p:cNvPr id="70" name="Google Shape;70;p3"/>
          <p:cNvSpPr/>
          <p:nvPr/>
        </p:nvSpPr>
        <p:spPr>
          <a:xfrm>
            <a:off x="594360" y="1389888"/>
            <a:ext cx="1920240" cy="292608"/>
          </a:xfrm>
          <a:prstGeom prst="rect">
            <a:avLst/>
          </a:prstGeom>
          <a:solidFill>
            <a:srgbClr val="EAF2F8"/>
          </a:solidFill>
          <a:ln cap="flat" cmpd="sng" w="9525">
            <a:solidFill>
              <a:srgbClr val="C7D9E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F4E78"/>
              </a:buClr>
              <a:buSzPts val="850"/>
              <a:buFont typeface="Arial"/>
              <a:buNone/>
            </a:pPr>
            <a:r>
              <a:rPr b="1" lang="en-US" sz="850">
                <a:solidFill>
                  <a:srgbClr val="1F4E78"/>
                </a:solidFill>
                <a:latin typeface="Arial"/>
                <a:ea typeface="Arial"/>
                <a:cs typeface="Arial"/>
                <a:sym typeface="Arial"/>
              </a:rPr>
              <a:t>WHY BUY</a:t>
            </a:r>
            <a:endParaRPr sz="850">
              <a:solidFill>
                <a:schemeClr val="dk1"/>
              </a:solidFill>
              <a:latin typeface="Arial"/>
              <a:ea typeface="Arial"/>
              <a:cs typeface="Arial"/>
              <a:sym typeface="Arial"/>
            </a:endParaRPr>
          </a:p>
        </p:txBody>
      </p:sp>
      <p:sp>
        <p:nvSpPr>
          <p:cNvPr id="71" name="Google Shape;71;p3"/>
          <p:cNvSpPr/>
          <p:nvPr/>
        </p:nvSpPr>
        <p:spPr>
          <a:xfrm>
            <a:off x="685800" y="1783080"/>
            <a:ext cx="5166360" cy="1325880"/>
          </a:xfrm>
          <a:prstGeom prst="roundRect">
            <a:avLst>
              <a:gd fmla="val 3448"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685800" y="1783080"/>
            <a:ext cx="64008" cy="132588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886968" y="194767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Problem 1</a:t>
            </a:r>
            <a:endParaRPr sz="1200">
              <a:solidFill>
                <a:schemeClr val="dk1"/>
              </a:solidFill>
              <a:latin typeface="Arial"/>
              <a:ea typeface="Arial"/>
              <a:cs typeface="Arial"/>
              <a:sym typeface="Arial"/>
            </a:endParaRPr>
          </a:p>
        </p:txBody>
      </p:sp>
      <p:sp>
        <p:nvSpPr>
          <p:cNvPr id="74" name="Google Shape;74;p3"/>
          <p:cNvSpPr/>
          <p:nvPr/>
        </p:nvSpPr>
        <p:spPr>
          <a:xfrm>
            <a:off x="886968" y="2313432"/>
            <a:ext cx="4818888" cy="66751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Khảo sát không đều làm khó nhận biết biến động sớm và xu hướng theo lô/AOI.</a:t>
            </a:r>
            <a:endParaRPr sz="950">
              <a:solidFill>
                <a:srgbClr val="25364A"/>
              </a:solidFill>
            </a:endParaRPr>
          </a:p>
        </p:txBody>
      </p:sp>
      <p:sp>
        <p:nvSpPr>
          <p:cNvPr id="75" name="Google Shape;75;p3"/>
          <p:cNvSpPr/>
          <p:nvPr/>
        </p:nvSpPr>
        <p:spPr>
          <a:xfrm>
            <a:off x="6217920" y="1783080"/>
            <a:ext cx="5166360" cy="1325880"/>
          </a:xfrm>
          <a:prstGeom prst="roundRect">
            <a:avLst>
              <a:gd fmla="val 3448"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6217920" y="1783080"/>
            <a:ext cx="64008" cy="132588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6419088" y="194767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Problem 2</a:t>
            </a:r>
            <a:endParaRPr sz="1200">
              <a:solidFill>
                <a:schemeClr val="dk1"/>
              </a:solidFill>
              <a:latin typeface="Arial"/>
              <a:ea typeface="Arial"/>
              <a:cs typeface="Arial"/>
              <a:sym typeface="Arial"/>
            </a:endParaRPr>
          </a:p>
        </p:txBody>
      </p:sp>
      <p:sp>
        <p:nvSpPr>
          <p:cNvPr id="78" name="Google Shape;78;p3"/>
          <p:cNvSpPr/>
          <p:nvPr/>
        </p:nvSpPr>
        <p:spPr>
          <a:xfrm>
            <a:off x="6419088" y="2313432"/>
            <a:ext cx="4818888" cy="66751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Thiếu bản đồ và thống kê khiến việc ưu tiên nguồn lực thiếu căn cứ không gian.</a:t>
            </a:r>
            <a:endParaRPr sz="950">
              <a:solidFill>
                <a:srgbClr val="25364A"/>
              </a:solidFill>
            </a:endParaRPr>
          </a:p>
        </p:txBody>
      </p:sp>
      <p:sp>
        <p:nvSpPr>
          <p:cNvPr id="79" name="Google Shape;79;p3"/>
          <p:cNvSpPr/>
          <p:nvPr/>
        </p:nvSpPr>
        <p:spPr>
          <a:xfrm>
            <a:off x="685800" y="3520440"/>
            <a:ext cx="5166360" cy="1325880"/>
          </a:xfrm>
          <a:prstGeom prst="roundRect">
            <a:avLst>
              <a:gd fmla="val 3448"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685800" y="3520440"/>
            <a:ext cx="64008" cy="1325880"/>
          </a:xfrm>
          <a:prstGeom prst="rect">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86968" y="368503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Problem 3</a:t>
            </a:r>
            <a:endParaRPr sz="1200">
              <a:solidFill>
                <a:schemeClr val="dk1"/>
              </a:solidFill>
              <a:latin typeface="Arial"/>
              <a:ea typeface="Arial"/>
              <a:cs typeface="Arial"/>
              <a:sym typeface="Arial"/>
            </a:endParaRPr>
          </a:p>
        </p:txBody>
      </p:sp>
      <p:sp>
        <p:nvSpPr>
          <p:cNvPr id="82" name="Google Shape;82;p3"/>
          <p:cNvSpPr/>
          <p:nvPr/>
        </p:nvSpPr>
        <p:spPr>
          <a:xfrm>
            <a:off x="886968" y="4050792"/>
            <a:ext cx="4818888" cy="66751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Đội hiện trường phải kiểm tra diện rộng, tăng thời gian và nguy cơ bỏ sót.</a:t>
            </a:r>
            <a:endParaRPr sz="950">
              <a:solidFill>
                <a:srgbClr val="25364A"/>
              </a:solidFill>
            </a:endParaRPr>
          </a:p>
        </p:txBody>
      </p:sp>
      <p:sp>
        <p:nvSpPr>
          <p:cNvPr id="83" name="Google Shape;83;p3"/>
          <p:cNvSpPr/>
          <p:nvPr/>
        </p:nvSpPr>
        <p:spPr>
          <a:xfrm>
            <a:off x="6217920" y="3520440"/>
            <a:ext cx="5166360" cy="1325880"/>
          </a:xfrm>
          <a:prstGeom prst="roundRect">
            <a:avLst>
              <a:gd fmla="val 3448"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6217920" y="3520440"/>
            <a:ext cx="64008" cy="132588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6419088" y="368503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Problem 4</a:t>
            </a:r>
            <a:endParaRPr sz="1200">
              <a:solidFill>
                <a:schemeClr val="dk1"/>
              </a:solidFill>
              <a:latin typeface="Arial"/>
              <a:ea typeface="Arial"/>
              <a:cs typeface="Arial"/>
              <a:sym typeface="Arial"/>
            </a:endParaRPr>
          </a:p>
        </p:txBody>
      </p:sp>
      <p:sp>
        <p:nvSpPr>
          <p:cNvPr id="86" name="Google Shape;86;p3"/>
          <p:cNvSpPr/>
          <p:nvPr/>
        </p:nvSpPr>
        <p:spPr>
          <a:xfrm>
            <a:off x="6419088" y="4050792"/>
            <a:ext cx="4818888" cy="66751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Khác biệt bay, định vị hoặc hiệu chuẩn có thể tạo “thay đổi giả”.</a:t>
            </a:r>
            <a:endParaRPr sz="950">
              <a:solidFill>
                <a:srgbClr val="25364A"/>
              </a:solidFill>
            </a:endParaRPr>
          </a:p>
        </p:txBody>
      </p:sp>
      <p:sp>
        <p:nvSpPr>
          <p:cNvPr id="87" name="Google Shape;87;p3"/>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Chỉ chọn 3–5 problem quan trọng nhất từ Knowledge Base / Service Profile.</a:t>
            </a:r>
            <a:endParaRPr sz="850">
              <a:solidFill>
                <a:schemeClr val="dk1"/>
              </a:solidFill>
              <a:latin typeface="Arial"/>
              <a:ea typeface="Arial"/>
              <a:cs typeface="Arial"/>
              <a:sym typeface="Arial"/>
            </a:endParaRPr>
          </a:p>
        </p:txBody>
      </p:sp>
      <p:sp>
        <p:nvSpPr>
          <p:cNvPr id="88" name="Google Shape;88;p3"/>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7B8794"/>
                </a:solidFill>
                <a:latin typeface="Arial"/>
                <a:ea typeface="Arial"/>
                <a:cs typeface="Arial"/>
                <a:sym typeface="Arial"/>
              </a:rPr>
              <a:t>‹#›</a:t>
            </a:fld>
            <a:endParaRPr sz="800">
              <a:solidFill>
                <a:srgbClr val="7B8794"/>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lang="en-US" sz="2300">
                <a:solidFill>
                  <a:srgbClr val="17365D"/>
                </a:solidFill>
                <a:latin typeface="Arial"/>
                <a:ea typeface="Arial"/>
                <a:cs typeface="Arial"/>
                <a:sym typeface="Arial"/>
              </a:rPr>
              <a:t>03. VALUE PROPOSITION</a:t>
            </a:r>
            <a:endParaRPr sz="2300">
              <a:solidFill>
                <a:schemeClr val="dk1"/>
              </a:solidFill>
              <a:latin typeface="Arial"/>
              <a:ea typeface="Arial"/>
              <a:cs typeface="Arial"/>
              <a:sym typeface="Arial"/>
            </a:endParaRPr>
          </a:p>
        </p:txBody>
      </p:sp>
      <p:sp>
        <p:nvSpPr>
          <p:cNvPr id="95" name="Google Shape;95;p4"/>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lang="en-US" sz="1050">
                <a:solidFill>
                  <a:srgbClr val="637083"/>
                </a:solidFill>
                <a:latin typeface="Arial"/>
                <a:ea typeface="Arial"/>
                <a:cs typeface="Arial"/>
                <a:sym typeface="Arial"/>
              </a:rPr>
              <a:t>GASCOLAE tạo ra giá trị gì để giải quyết các vấn đề trên?</a:t>
            </a:r>
            <a:endParaRPr sz="1050">
              <a:solidFill>
                <a:schemeClr val="dk1"/>
              </a:solidFill>
              <a:latin typeface="Arial"/>
              <a:ea typeface="Arial"/>
              <a:cs typeface="Arial"/>
              <a:sym typeface="Arial"/>
            </a:endParaRPr>
          </a:p>
        </p:txBody>
      </p:sp>
      <p:sp>
        <p:nvSpPr>
          <p:cNvPr id="96" name="Google Shape;96;p4"/>
          <p:cNvSpPr/>
          <p:nvPr/>
        </p:nvSpPr>
        <p:spPr>
          <a:xfrm>
            <a:off x="594360" y="1389888"/>
            <a:ext cx="1920240" cy="292608"/>
          </a:xfrm>
          <a:prstGeom prst="rect">
            <a:avLst/>
          </a:prstGeom>
          <a:solidFill>
            <a:srgbClr val="EAF2F8"/>
          </a:solidFill>
          <a:ln cap="flat" cmpd="sng" w="9525">
            <a:solidFill>
              <a:srgbClr val="C7D9E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F4E78"/>
              </a:buClr>
              <a:buSzPts val="850"/>
              <a:buFont typeface="Arial"/>
              <a:buNone/>
            </a:pPr>
            <a:r>
              <a:rPr b="1" lang="en-US" sz="850">
                <a:solidFill>
                  <a:srgbClr val="1F4E78"/>
                </a:solidFill>
                <a:latin typeface="Arial"/>
                <a:ea typeface="Arial"/>
                <a:cs typeface="Arial"/>
                <a:sym typeface="Arial"/>
              </a:rPr>
              <a:t>PROBLEM → VALUE</a:t>
            </a:r>
            <a:endParaRPr sz="850">
              <a:solidFill>
                <a:schemeClr val="dk1"/>
              </a:solidFill>
              <a:latin typeface="Arial"/>
              <a:ea typeface="Arial"/>
              <a:cs typeface="Arial"/>
              <a:sym typeface="Arial"/>
            </a:endParaRPr>
          </a:p>
        </p:txBody>
      </p:sp>
      <p:sp>
        <p:nvSpPr>
          <p:cNvPr id="97" name="Google Shape;97;p4"/>
          <p:cNvSpPr/>
          <p:nvPr/>
        </p:nvSpPr>
        <p:spPr>
          <a:xfrm>
            <a:off x="685800" y="1783080"/>
            <a:ext cx="3337560" cy="3520440"/>
          </a:xfrm>
          <a:prstGeom prst="roundRect">
            <a:avLst>
              <a:gd fmla="val 137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685800" y="1783080"/>
            <a:ext cx="64008" cy="352044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886968" y="194767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VALUE 1</a:t>
            </a:r>
            <a:endParaRPr sz="1200">
              <a:solidFill>
                <a:schemeClr val="dk1"/>
              </a:solidFill>
              <a:latin typeface="Arial"/>
              <a:ea typeface="Arial"/>
              <a:cs typeface="Arial"/>
              <a:sym typeface="Arial"/>
            </a:endParaRPr>
          </a:p>
        </p:txBody>
      </p:sp>
      <p:sp>
        <p:nvSpPr>
          <p:cNvPr id="100" name="Google Shape;100;p4"/>
          <p:cNvSpPr/>
          <p:nvPr/>
        </p:nvSpPr>
        <p:spPr>
          <a:xfrm>
            <a:off x="886968" y="2313432"/>
            <a:ext cx="2990088" cy="286207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Từ kiểm tra diện rộng sang bản đồ điểm nóng: đội hiện trường tập trung đúng khu vực cần xác minh.</a:t>
            </a:r>
            <a:endParaRPr sz="950">
              <a:solidFill>
                <a:srgbClr val="25364A"/>
              </a:solidFill>
            </a:endParaRPr>
          </a:p>
          <a:p>
            <a:pPr indent="0" lvl="0" marL="0" marR="0" rtl="0" algn="l">
              <a:spcBef>
                <a:spcPts val="0"/>
              </a:spcBef>
              <a:spcAft>
                <a:spcPts val="0"/>
              </a:spcAft>
              <a:buClr>
                <a:srgbClr val="25364A"/>
              </a:buClr>
              <a:buSzPts val="950"/>
              <a:buFont typeface="Arial"/>
              <a:buNone/>
            </a:pPr>
            <a:r>
              <a:t/>
            </a:r>
            <a:endParaRPr sz="950">
              <a:solidFill>
                <a:srgbClr val="25364A"/>
              </a:solidFill>
            </a:endParaRPr>
          </a:p>
        </p:txBody>
      </p:sp>
      <p:sp>
        <p:nvSpPr>
          <p:cNvPr id="101" name="Google Shape;101;p4"/>
          <p:cNvSpPr/>
          <p:nvPr/>
        </p:nvSpPr>
        <p:spPr>
          <a:xfrm>
            <a:off x="4434840" y="1783080"/>
            <a:ext cx="3337560" cy="3520440"/>
          </a:xfrm>
          <a:prstGeom prst="roundRect">
            <a:avLst>
              <a:gd fmla="val 137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4434840" y="1783080"/>
            <a:ext cx="64008" cy="352044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4636008" y="194767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VALUE 2</a:t>
            </a:r>
            <a:endParaRPr sz="1200">
              <a:solidFill>
                <a:schemeClr val="dk1"/>
              </a:solidFill>
              <a:latin typeface="Arial"/>
              <a:ea typeface="Arial"/>
              <a:cs typeface="Arial"/>
              <a:sym typeface="Arial"/>
            </a:endParaRPr>
          </a:p>
        </p:txBody>
      </p:sp>
      <p:sp>
        <p:nvSpPr>
          <p:cNvPr id="104" name="Google Shape;104;p4"/>
          <p:cNvSpPr/>
          <p:nvPr/>
        </p:nvSpPr>
        <p:spPr>
          <a:xfrm>
            <a:off x="4636008" y="2313432"/>
            <a:ext cx="2990088" cy="286207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So sánh các kỳ trên cùng AOI/lô để tạo diện tích, mức độ và phân bố biến động.</a:t>
            </a:r>
            <a:endParaRPr sz="950">
              <a:solidFill>
                <a:srgbClr val="25364A"/>
              </a:solidFill>
            </a:endParaRPr>
          </a:p>
        </p:txBody>
      </p:sp>
      <p:sp>
        <p:nvSpPr>
          <p:cNvPr id="105" name="Google Shape;105;p4"/>
          <p:cNvSpPr/>
          <p:nvPr/>
        </p:nvSpPr>
        <p:spPr>
          <a:xfrm>
            <a:off x="8183880" y="1783080"/>
            <a:ext cx="3337560" cy="3520440"/>
          </a:xfrm>
          <a:prstGeom prst="roundRect">
            <a:avLst>
              <a:gd fmla="val 137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8183880" y="1783080"/>
            <a:ext cx="64008" cy="352044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8385048" y="194767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VALUE 3</a:t>
            </a:r>
            <a:endParaRPr sz="1200">
              <a:solidFill>
                <a:schemeClr val="dk1"/>
              </a:solidFill>
              <a:latin typeface="Arial"/>
              <a:ea typeface="Arial"/>
              <a:cs typeface="Arial"/>
              <a:sym typeface="Arial"/>
            </a:endParaRPr>
          </a:p>
        </p:txBody>
      </p:sp>
      <p:sp>
        <p:nvSpPr>
          <p:cNvPr id="108" name="Google Shape;108;p4"/>
          <p:cNvSpPr/>
          <p:nvPr/>
        </p:nvSpPr>
        <p:spPr>
          <a:xfrm>
            <a:off x="8385048" y="2313432"/>
            <a:ext cx="2990088" cy="286207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Quy trình định vị, hiệu chuẩn và QA/QC tạo bộ dữ liệu GIS nhiều kỳ có thể kiểm tra lại.</a:t>
            </a:r>
            <a:endParaRPr sz="950">
              <a:solidFill>
                <a:srgbClr val="25364A"/>
              </a:solidFill>
            </a:endParaRPr>
          </a:p>
        </p:txBody>
      </p:sp>
      <p:sp>
        <p:nvSpPr>
          <p:cNvPr id="109" name="Google Shape;109;p4"/>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Không tự tạo claim % tiết kiệm, tăng năng suất hoặc ROI nếu chưa được GASCOLAE xác minh.</a:t>
            </a:r>
            <a:endParaRPr sz="850">
              <a:solidFill>
                <a:schemeClr val="dk1"/>
              </a:solidFill>
              <a:latin typeface="Arial"/>
              <a:ea typeface="Arial"/>
              <a:cs typeface="Arial"/>
              <a:sym typeface="Arial"/>
            </a:endParaRPr>
          </a:p>
        </p:txBody>
      </p:sp>
      <p:sp>
        <p:nvSpPr>
          <p:cNvPr id="110" name="Google Shape;110;p4"/>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7B8794"/>
                </a:solidFill>
                <a:latin typeface="Arial"/>
                <a:ea typeface="Arial"/>
                <a:cs typeface="Arial"/>
                <a:sym typeface="Arial"/>
              </a:rPr>
              <a:t>‹#›</a:t>
            </a:fld>
            <a:endParaRPr sz="800">
              <a:solidFill>
                <a:srgbClr val="7B8794"/>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lang="en-US" sz="2300">
                <a:solidFill>
                  <a:srgbClr val="17365D"/>
                </a:solidFill>
                <a:latin typeface="Arial"/>
                <a:ea typeface="Arial"/>
                <a:cs typeface="Arial"/>
                <a:sym typeface="Arial"/>
              </a:rPr>
              <a:t>04. SOLUTION &amp; KEY CAPABILITIES</a:t>
            </a:r>
            <a:endParaRPr sz="2300">
              <a:solidFill>
                <a:schemeClr val="dk1"/>
              </a:solidFill>
              <a:latin typeface="Arial"/>
              <a:ea typeface="Arial"/>
              <a:cs typeface="Arial"/>
              <a:sym typeface="Arial"/>
            </a:endParaRPr>
          </a:p>
        </p:txBody>
      </p:sp>
      <p:sp>
        <p:nvSpPr>
          <p:cNvPr id="117" name="Google Shape;117;p5"/>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lang="en-US" sz="1050">
                <a:solidFill>
                  <a:srgbClr val="637083"/>
                </a:solidFill>
                <a:latin typeface="Arial"/>
                <a:ea typeface="Arial"/>
                <a:cs typeface="Arial"/>
                <a:sym typeface="Arial"/>
              </a:rPr>
              <a:t>Giải pháp gồm những thành phần/năng lực gì?</a:t>
            </a:r>
            <a:endParaRPr sz="1050">
              <a:solidFill>
                <a:schemeClr val="dk1"/>
              </a:solidFill>
              <a:latin typeface="Arial"/>
              <a:ea typeface="Arial"/>
              <a:cs typeface="Arial"/>
              <a:sym typeface="Arial"/>
            </a:endParaRPr>
          </a:p>
        </p:txBody>
      </p:sp>
      <p:sp>
        <p:nvSpPr>
          <p:cNvPr id="118" name="Google Shape;118;p5"/>
          <p:cNvSpPr/>
          <p:nvPr/>
        </p:nvSpPr>
        <p:spPr>
          <a:xfrm>
            <a:off x="594360" y="1389888"/>
            <a:ext cx="1920240" cy="292608"/>
          </a:xfrm>
          <a:prstGeom prst="rect">
            <a:avLst/>
          </a:prstGeom>
          <a:solidFill>
            <a:srgbClr val="EAF2F8"/>
          </a:solidFill>
          <a:ln cap="flat" cmpd="sng" w="9525">
            <a:solidFill>
              <a:srgbClr val="C7D9E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F4E78"/>
              </a:buClr>
              <a:buSzPts val="850"/>
              <a:buFont typeface="Arial"/>
              <a:buNone/>
            </a:pPr>
            <a:r>
              <a:rPr b="1" lang="en-US" sz="850">
                <a:solidFill>
                  <a:srgbClr val="1F4E78"/>
                </a:solidFill>
                <a:latin typeface="Arial"/>
                <a:ea typeface="Arial"/>
                <a:cs typeface="Arial"/>
                <a:sym typeface="Arial"/>
              </a:rPr>
              <a:t>WHAT WE OFFER</a:t>
            </a:r>
            <a:endParaRPr sz="850">
              <a:solidFill>
                <a:schemeClr val="dk1"/>
              </a:solidFill>
              <a:latin typeface="Arial"/>
              <a:ea typeface="Arial"/>
              <a:cs typeface="Arial"/>
              <a:sym typeface="Arial"/>
            </a:endParaRPr>
          </a:p>
        </p:txBody>
      </p:sp>
      <p:sp>
        <p:nvSpPr>
          <p:cNvPr id="119" name="Google Shape;119;p5"/>
          <p:cNvSpPr/>
          <p:nvPr/>
        </p:nvSpPr>
        <p:spPr>
          <a:xfrm>
            <a:off x="658368" y="1755648"/>
            <a:ext cx="342900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658368" y="1755648"/>
            <a:ext cx="64008" cy="14173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859536" y="1920240"/>
            <a:ext cx="308152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Capability 1</a:t>
            </a:r>
            <a:endParaRPr sz="1200">
              <a:solidFill>
                <a:schemeClr val="dk1"/>
              </a:solidFill>
              <a:latin typeface="Arial"/>
              <a:ea typeface="Arial"/>
              <a:cs typeface="Arial"/>
              <a:sym typeface="Arial"/>
            </a:endParaRPr>
          </a:p>
        </p:txBody>
      </p:sp>
      <p:sp>
        <p:nvSpPr>
          <p:cNvPr id="122" name="Google Shape;122;p5"/>
          <p:cNvSpPr/>
          <p:nvPr/>
        </p:nvSpPr>
        <p:spPr>
          <a:xfrm>
            <a:off x="859536" y="2286000"/>
            <a:ext cx="308152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Thiết kế tuyến bay và thời điểm thu nhận nhất quán cho từng kỳ.</a:t>
            </a:r>
            <a:endParaRPr sz="950">
              <a:solidFill>
                <a:srgbClr val="25364A"/>
              </a:solidFill>
            </a:endParaRPr>
          </a:p>
        </p:txBody>
      </p:sp>
      <p:sp>
        <p:nvSpPr>
          <p:cNvPr id="123" name="Google Shape;123;p5"/>
          <p:cNvSpPr/>
          <p:nvPr/>
        </p:nvSpPr>
        <p:spPr>
          <a:xfrm>
            <a:off x="4425696" y="1755648"/>
            <a:ext cx="342900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4425696" y="1755648"/>
            <a:ext cx="64008" cy="14173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4626864" y="1920240"/>
            <a:ext cx="308152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Capability 2</a:t>
            </a:r>
            <a:endParaRPr sz="1200">
              <a:solidFill>
                <a:schemeClr val="dk1"/>
              </a:solidFill>
              <a:latin typeface="Arial"/>
              <a:ea typeface="Arial"/>
              <a:cs typeface="Arial"/>
              <a:sym typeface="Arial"/>
            </a:endParaRPr>
          </a:p>
        </p:txBody>
      </p:sp>
      <p:sp>
        <p:nvSpPr>
          <p:cNvPr id="126" name="Google Shape;126;p5"/>
          <p:cNvSpPr/>
          <p:nvPr/>
        </p:nvSpPr>
        <p:spPr>
          <a:xfrm>
            <a:off x="4626864" y="2286000"/>
            <a:ext cx="308152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Thu ảnh độ phân giải cao; đa phổ hỗ trợ chỉ số thực vật.</a:t>
            </a:r>
            <a:endParaRPr sz="950">
              <a:solidFill>
                <a:srgbClr val="25364A"/>
              </a:solidFill>
            </a:endParaRPr>
          </a:p>
        </p:txBody>
      </p:sp>
      <p:sp>
        <p:nvSpPr>
          <p:cNvPr id="127" name="Google Shape;127;p5"/>
          <p:cNvSpPr/>
          <p:nvPr/>
        </p:nvSpPr>
        <p:spPr>
          <a:xfrm>
            <a:off x="8193024" y="1755648"/>
            <a:ext cx="342900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8193024" y="1755648"/>
            <a:ext cx="64008" cy="1417320"/>
          </a:xfrm>
          <a:prstGeom prst="rect">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8394192" y="1920240"/>
            <a:ext cx="308152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Capability 3</a:t>
            </a:r>
            <a:endParaRPr sz="1200">
              <a:solidFill>
                <a:schemeClr val="dk1"/>
              </a:solidFill>
              <a:latin typeface="Arial"/>
              <a:ea typeface="Arial"/>
              <a:cs typeface="Arial"/>
              <a:sym typeface="Arial"/>
            </a:endParaRPr>
          </a:p>
        </p:txBody>
      </p:sp>
      <p:sp>
        <p:nvSpPr>
          <p:cNvPr id="130" name="Google Shape;130;p5"/>
          <p:cNvSpPr/>
          <p:nvPr/>
        </p:nvSpPr>
        <p:spPr>
          <a:xfrm>
            <a:off x="8394192" y="2286000"/>
            <a:ext cx="308152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Tăng độ tin cậy vị trí và đồng đăng ký giữa các kỳ.</a:t>
            </a:r>
            <a:endParaRPr sz="950">
              <a:solidFill>
                <a:srgbClr val="25364A"/>
              </a:solidFill>
            </a:endParaRPr>
          </a:p>
        </p:txBody>
      </p:sp>
      <p:sp>
        <p:nvSpPr>
          <p:cNvPr id="131" name="Google Shape;131;p5"/>
          <p:cNvSpPr/>
          <p:nvPr/>
        </p:nvSpPr>
        <p:spPr>
          <a:xfrm>
            <a:off x="658368" y="3584448"/>
            <a:ext cx="342900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658368" y="3584448"/>
            <a:ext cx="64008" cy="14173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859536" y="3749040"/>
            <a:ext cx="308152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Capability 4</a:t>
            </a:r>
            <a:endParaRPr sz="1200">
              <a:solidFill>
                <a:schemeClr val="dk1"/>
              </a:solidFill>
              <a:latin typeface="Arial"/>
              <a:ea typeface="Arial"/>
              <a:cs typeface="Arial"/>
              <a:sym typeface="Arial"/>
            </a:endParaRPr>
          </a:p>
        </p:txBody>
      </p:sp>
      <p:sp>
        <p:nvSpPr>
          <p:cNvPr id="134" name="Google Shape;134;p5"/>
          <p:cNvSpPr/>
          <p:nvPr/>
        </p:nvSpPr>
        <p:spPr>
          <a:xfrm>
            <a:off x="859536" y="4114800"/>
            <a:ext cx="308152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Giảm ảnh hưởng điều kiện chiếu sáng khi so sánh đa thời gian.</a:t>
            </a:r>
            <a:endParaRPr sz="950">
              <a:solidFill>
                <a:srgbClr val="25364A"/>
              </a:solidFill>
            </a:endParaRPr>
          </a:p>
        </p:txBody>
      </p:sp>
      <p:sp>
        <p:nvSpPr>
          <p:cNvPr id="135" name="Google Shape;135;p5"/>
          <p:cNvSpPr/>
          <p:nvPr/>
        </p:nvSpPr>
        <p:spPr>
          <a:xfrm>
            <a:off x="4425696" y="3584448"/>
            <a:ext cx="342900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4425696" y="3584448"/>
            <a:ext cx="64008" cy="14173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4626864" y="3749040"/>
            <a:ext cx="308152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Capability 5</a:t>
            </a:r>
            <a:endParaRPr sz="1200">
              <a:solidFill>
                <a:schemeClr val="dk1"/>
              </a:solidFill>
              <a:latin typeface="Arial"/>
              <a:ea typeface="Arial"/>
              <a:cs typeface="Arial"/>
              <a:sym typeface="Arial"/>
            </a:endParaRPr>
          </a:p>
        </p:txBody>
      </p:sp>
      <p:sp>
        <p:nvSpPr>
          <p:cNvPr id="138" name="Google Shape;138;p5"/>
          <p:cNvSpPr/>
          <p:nvPr/>
        </p:nvSpPr>
        <p:spPr>
          <a:xfrm>
            <a:off x="4626864" y="4114800"/>
            <a:ext cx="308152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Chỉ số, độ che phủ, phân lớp thay đổi và thống kê theo AOI.</a:t>
            </a:r>
            <a:endParaRPr sz="950">
              <a:solidFill>
                <a:srgbClr val="25364A"/>
              </a:solidFill>
            </a:endParaRPr>
          </a:p>
        </p:txBody>
      </p:sp>
      <p:sp>
        <p:nvSpPr>
          <p:cNvPr id="139" name="Google Shape;139;p5"/>
          <p:cNvSpPr/>
          <p:nvPr/>
        </p:nvSpPr>
        <p:spPr>
          <a:xfrm>
            <a:off x="8193024" y="3584448"/>
            <a:ext cx="342900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8193024" y="3584448"/>
            <a:ext cx="64008" cy="14173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8394192" y="3749040"/>
            <a:ext cx="308152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Capability 6</a:t>
            </a:r>
            <a:endParaRPr sz="1200">
              <a:solidFill>
                <a:schemeClr val="dk1"/>
              </a:solidFill>
              <a:latin typeface="Arial"/>
              <a:ea typeface="Arial"/>
              <a:cs typeface="Arial"/>
              <a:sym typeface="Arial"/>
            </a:endParaRPr>
          </a:p>
        </p:txBody>
      </p:sp>
      <p:sp>
        <p:nvSpPr>
          <p:cNvPr id="142" name="Google Shape;142;p5"/>
          <p:cNvSpPr/>
          <p:nvPr/>
        </p:nvSpPr>
        <p:spPr>
          <a:xfrm>
            <a:off x="8394192" y="4114800"/>
            <a:ext cx="308152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Bản đồ, lớp dữ liệu, metadata và báo cáo kỹ thuật có truy vết.</a:t>
            </a:r>
            <a:endParaRPr sz="950">
              <a:solidFill>
                <a:srgbClr val="25364A"/>
              </a:solidFill>
            </a:endParaRPr>
          </a:p>
        </p:txBody>
      </p:sp>
      <p:sp>
        <p:nvSpPr>
          <p:cNvPr id="143" name="Google Shape;143;p5"/>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Capability phải có nguồn. AI capability chưa xác minh phải ghi rõ trạng thái.</a:t>
            </a:r>
            <a:endParaRPr sz="850">
              <a:solidFill>
                <a:schemeClr val="dk1"/>
              </a:solidFill>
              <a:latin typeface="Arial"/>
              <a:ea typeface="Arial"/>
              <a:cs typeface="Arial"/>
              <a:sym typeface="Arial"/>
            </a:endParaRPr>
          </a:p>
        </p:txBody>
      </p:sp>
      <p:sp>
        <p:nvSpPr>
          <p:cNvPr id="144" name="Google Shape;144;p5"/>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7B8794"/>
                </a:solidFill>
                <a:latin typeface="Arial"/>
                <a:ea typeface="Arial"/>
                <a:cs typeface="Arial"/>
                <a:sym typeface="Arial"/>
              </a:rPr>
              <a:t>‹#›</a:t>
            </a:fld>
            <a:endParaRPr sz="800">
              <a:solidFill>
                <a:srgbClr val="7B8794"/>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6"/>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lang="en-US" sz="2300">
                <a:solidFill>
                  <a:srgbClr val="17365D"/>
                </a:solidFill>
                <a:latin typeface="Arial"/>
                <a:ea typeface="Arial"/>
                <a:cs typeface="Arial"/>
                <a:sym typeface="Arial"/>
              </a:rPr>
              <a:t>05. USE CASES</a:t>
            </a:r>
            <a:endParaRPr sz="2300">
              <a:solidFill>
                <a:schemeClr val="dk1"/>
              </a:solidFill>
              <a:latin typeface="Arial"/>
              <a:ea typeface="Arial"/>
              <a:cs typeface="Arial"/>
              <a:sym typeface="Arial"/>
            </a:endParaRPr>
          </a:p>
        </p:txBody>
      </p:sp>
      <p:sp>
        <p:nvSpPr>
          <p:cNvPr id="151" name="Google Shape;151;p6"/>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lang="en-US" sz="1050">
                <a:solidFill>
                  <a:srgbClr val="637083"/>
                </a:solidFill>
                <a:latin typeface="Arial"/>
                <a:ea typeface="Arial"/>
                <a:cs typeface="Arial"/>
                <a:sym typeface="Arial"/>
              </a:rPr>
              <a:t>Khách hàng sử dụng dịch vụ trong những tình huống nào?</a:t>
            </a:r>
            <a:endParaRPr sz="1050">
              <a:solidFill>
                <a:schemeClr val="dk1"/>
              </a:solidFill>
              <a:latin typeface="Arial"/>
              <a:ea typeface="Arial"/>
              <a:cs typeface="Arial"/>
              <a:sym typeface="Arial"/>
            </a:endParaRPr>
          </a:p>
        </p:txBody>
      </p:sp>
      <p:sp>
        <p:nvSpPr>
          <p:cNvPr id="152" name="Google Shape;152;p6"/>
          <p:cNvSpPr/>
          <p:nvPr/>
        </p:nvSpPr>
        <p:spPr>
          <a:xfrm>
            <a:off x="594360" y="1389888"/>
            <a:ext cx="1920240" cy="292608"/>
          </a:xfrm>
          <a:prstGeom prst="rect">
            <a:avLst/>
          </a:prstGeom>
          <a:solidFill>
            <a:srgbClr val="EAF2F8"/>
          </a:solidFill>
          <a:ln cap="flat" cmpd="sng" w="9525">
            <a:solidFill>
              <a:srgbClr val="C7D9E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F4E78"/>
              </a:buClr>
              <a:buSzPts val="850"/>
              <a:buFont typeface="Arial"/>
              <a:buNone/>
            </a:pPr>
            <a:r>
              <a:rPr b="1" lang="en-US" sz="850">
                <a:solidFill>
                  <a:srgbClr val="1F4E78"/>
                </a:solidFill>
                <a:latin typeface="Arial"/>
                <a:ea typeface="Arial"/>
                <a:cs typeface="Arial"/>
                <a:sym typeface="Arial"/>
              </a:rPr>
              <a:t>WHEN TO USE</a:t>
            </a:r>
            <a:endParaRPr sz="850">
              <a:solidFill>
                <a:schemeClr val="dk1"/>
              </a:solidFill>
              <a:latin typeface="Arial"/>
              <a:ea typeface="Arial"/>
              <a:cs typeface="Arial"/>
              <a:sym typeface="Arial"/>
            </a:endParaRPr>
          </a:p>
        </p:txBody>
      </p:sp>
      <p:sp>
        <p:nvSpPr>
          <p:cNvPr id="153" name="Google Shape;153;p6"/>
          <p:cNvSpPr/>
          <p:nvPr/>
        </p:nvSpPr>
        <p:spPr>
          <a:xfrm>
            <a:off x="777240" y="1783080"/>
            <a:ext cx="502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2000"/>
              <a:buFont typeface="Arial"/>
              <a:buNone/>
            </a:pPr>
            <a:r>
              <a:rPr b="1" lang="en-US" sz="2000">
                <a:solidFill>
                  <a:srgbClr val="1F4E78"/>
                </a:solidFill>
                <a:latin typeface="Arial"/>
                <a:ea typeface="Arial"/>
                <a:cs typeface="Arial"/>
                <a:sym typeface="Arial"/>
              </a:rPr>
              <a:t>01</a:t>
            </a:r>
            <a:endParaRPr sz="2000">
              <a:solidFill>
                <a:schemeClr val="dk1"/>
              </a:solidFill>
              <a:latin typeface="Arial"/>
              <a:ea typeface="Arial"/>
              <a:cs typeface="Arial"/>
              <a:sym typeface="Arial"/>
            </a:endParaRPr>
          </a:p>
        </p:txBody>
      </p:sp>
      <p:sp>
        <p:nvSpPr>
          <p:cNvPr id="154" name="Google Shape;154;p6"/>
          <p:cNvSpPr/>
          <p:nvPr/>
        </p:nvSpPr>
        <p:spPr>
          <a:xfrm>
            <a:off x="1417320" y="1764792"/>
            <a:ext cx="2926080" cy="292608"/>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1200">
                <a:solidFill>
                  <a:srgbClr val="17365D"/>
                </a:solidFill>
              </a:rPr>
              <a:t>Rừng trồng &amp; tái sinh</a:t>
            </a:r>
            <a:endParaRPr b="1" sz="1200">
              <a:solidFill>
                <a:srgbClr val="17365D"/>
              </a:solidFill>
            </a:endParaRPr>
          </a:p>
        </p:txBody>
      </p:sp>
      <p:sp>
        <p:nvSpPr>
          <p:cNvPr id="155" name="Google Shape;155;p6"/>
          <p:cNvSpPr/>
          <p:nvPr/>
        </p:nvSpPr>
        <p:spPr>
          <a:xfrm>
            <a:off x="4389120" y="1764792"/>
            <a:ext cx="6629400" cy="45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rgbClr val="25364A"/>
                </a:solidFill>
              </a:rPr>
              <a:t>Theo dõi độ che phủ, sức khỏe tương đối và vùng sinh trưởng bất thường theo lô.</a:t>
            </a:r>
            <a:endParaRPr sz="1000">
              <a:solidFill>
                <a:srgbClr val="25364A"/>
              </a:solidFill>
            </a:endParaRPr>
          </a:p>
        </p:txBody>
      </p:sp>
      <p:cxnSp>
        <p:nvCxnSpPr>
          <p:cNvPr id="156" name="Google Shape;156;p6"/>
          <p:cNvCxnSpPr/>
          <p:nvPr/>
        </p:nvCxnSpPr>
        <p:spPr>
          <a:xfrm>
            <a:off x="1417320" y="2359152"/>
            <a:ext cx="9601200" cy="0"/>
          </a:xfrm>
          <a:prstGeom prst="straightConnector1">
            <a:avLst/>
          </a:prstGeom>
          <a:noFill/>
          <a:ln cap="flat" cmpd="sng" w="12700">
            <a:solidFill>
              <a:srgbClr val="DDE4EC"/>
            </a:solidFill>
            <a:prstDash val="solid"/>
            <a:round/>
            <a:headEnd len="sm" w="sm" type="none"/>
            <a:tailEnd len="sm" w="sm" type="none"/>
          </a:ln>
        </p:spPr>
      </p:cxnSp>
      <p:sp>
        <p:nvSpPr>
          <p:cNvPr id="157" name="Google Shape;157;p6"/>
          <p:cNvSpPr/>
          <p:nvPr/>
        </p:nvSpPr>
        <p:spPr>
          <a:xfrm>
            <a:off x="777240" y="2743200"/>
            <a:ext cx="502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2000"/>
              <a:buFont typeface="Arial"/>
              <a:buNone/>
            </a:pPr>
            <a:r>
              <a:rPr b="1" lang="en-US" sz="2000">
                <a:solidFill>
                  <a:srgbClr val="1F4E78"/>
                </a:solidFill>
                <a:latin typeface="Arial"/>
                <a:ea typeface="Arial"/>
                <a:cs typeface="Arial"/>
                <a:sym typeface="Arial"/>
              </a:rPr>
              <a:t>02</a:t>
            </a:r>
            <a:endParaRPr sz="2000">
              <a:solidFill>
                <a:schemeClr val="dk1"/>
              </a:solidFill>
              <a:latin typeface="Arial"/>
              <a:ea typeface="Arial"/>
              <a:cs typeface="Arial"/>
              <a:sym typeface="Arial"/>
            </a:endParaRPr>
          </a:p>
        </p:txBody>
      </p:sp>
      <p:sp>
        <p:nvSpPr>
          <p:cNvPr id="158" name="Google Shape;158;p6"/>
          <p:cNvSpPr/>
          <p:nvPr/>
        </p:nvSpPr>
        <p:spPr>
          <a:xfrm>
            <a:off x="1417320" y="2724912"/>
            <a:ext cx="2926080" cy="292608"/>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1200">
                <a:solidFill>
                  <a:srgbClr val="17365D"/>
                </a:solidFill>
              </a:rPr>
              <a:t>Mất hoặc suy giảm tán</a:t>
            </a:r>
            <a:endParaRPr b="1" sz="1200">
              <a:solidFill>
                <a:srgbClr val="17365D"/>
              </a:solidFill>
            </a:endParaRPr>
          </a:p>
        </p:txBody>
      </p:sp>
      <p:sp>
        <p:nvSpPr>
          <p:cNvPr id="159" name="Google Shape;159;p6"/>
          <p:cNvSpPr/>
          <p:nvPr/>
        </p:nvSpPr>
        <p:spPr>
          <a:xfrm>
            <a:off x="4389120" y="2724912"/>
            <a:ext cx="6629400" cy="45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rgbClr val="25364A"/>
                </a:solidFill>
              </a:rPr>
              <a:t>Khoanh vùng điểm nóng và định lượng diện tích cần kiểm tra thực địa.</a:t>
            </a:r>
            <a:endParaRPr sz="1000">
              <a:solidFill>
                <a:srgbClr val="25364A"/>
              </a:solidFill>
            </a:endParaRPr>
          </a:p>
        </p:txBody>
      </p:sp>
      <p:cxnSp>
        <p:nvCxnSpPr>
          <p:cNvPr id="160" name="Google Shape;160;p6"/>
          <p:cNvCxnSpPr/>
          <p:nvPr/>
        </p:nvCxnSpPr>
        <p:spPr>
          <a:xfrm>
            <a:off x="1417320" y="3319272"/>
            <a:ext cx="9601200" cy="0"/>
          </a:xfrm>
          <a:prstGeom prst="straightConnector1">
            <a:avLst/>
          </a:prstGeom>
          <a:noFill/>
          <a:ln cap="flat" cmpd="sng" w="12700">
            <a:solidFill>
              <a:srgbClr val="DDE4EC"/>
            </a:solidFill>
            <a:prstDash val="solid"/>
            <a:round/>
            <a:headEnd len="sm" w="sm" type="none"/>
            <a:tailEnd len="sm" w="sm" type="none"/>
          </a:ln>
        </p:spPr>
      </p:cxnSp>
      <p:sp>
        <p:nvSpPr>
          <p:cNvPr id="161" name="Google Shape;161;p6"/>
          <p:cNvSpPr/>
          <p:nvPr/>
        </p:nvSpPr>
        <p:spPr>
          <a:xfrm>
            <a:off x="777240" y="3703320"/>
            <a:ext cx="502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2000"/>
              <a:buFont typeface="Arial"/>
              <a:buNone/>
            </a:pPr>
            <a:r>
              <a:rPr b="1" lang="en-US" sz="2000">
                <a:solidFill>
                  <a:srgbClr val="1F4E78"/>
                </a:solidFill>
                <a:latin typeface="Arial"/>
                <a:ea typeface="Arial"/>
                <a:cs typeface="Arial"/>
                <a:sym typeface="Arial"/>
              </a:rPr>
              <a:t>03</a:t>
            </a:r>
            <a:endParaRPr sz="2000">
              <a:solidFill>
                <a:schemeClr val="dk1"/>
              </a:solidFill>
              <a:latin typeface="Arial"/>
              <a:ea typeface="Arial"/>
              <a:cs typeface="Arial"/>
              <a:sym typeface="Arial"/>
            </a:endParaRPr>
          </a:p>
        </p:txBody>
      </p:sp>
      <p:sp>
        <p:nvSpPr>
          <p:cNvPr id="162" name="Google Shape;162;p6"/>
          <p:cNvSpPr/>
          <p:nvPr/>
        </p:nvSpPr>
        <p:spPr>
          <a:xfrm>
            <a:off x="1417320" y="3685032"/>
            <a:ext cx="2926080" cy="292608"/>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1200">
                <a:solidFill>
                  <a:srgbClr val="17365D"/>
                </a:solidFill>
              </a:rPr>
              <a:t>Phục hồi sau tác động</a:t>
            </a:r>
            <a:endParaRPr b="1" sz="1200">
              <a:solidFill>
                <a:srgbClr val="17365D"/>
              </a:solidFill>
            </a:endParaRPr>
          </a:p>
        </p:txBody>
      </p:sp>
      <p:sp>
        <p:nvSpPr>
          <p:cNvPr id="163" name="Google Shape;163;p6"/>
          <p:cNvSpPr/>
          <p:nvPr/>
        </p:nvSpPr>
        <p:spPr>
          <a:xfrm>
            <a:off x="4389120" y="3685032"/>
            <a:ext cx="6629400" cy="45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rgbClr val="25364A"/>
                </a:solidFill>
              </a:rPr>
              <a:t>So sánh phục hồi sau cháy, hạn, ngập hoặc khai thác giữa các kỳ.</a:t>
            </a:r>
            <a:endParaRPr sz="1000">
              <a:solidFill>
                <a:srgbClr val="25364A"/>
              </a:solidFill>
            </a:endParaRPr>
          </a:p>
        </p:txBody>
      </p:sp>
      <p:cxnSp>
        <p:nvCxnSpPr>
          <p:cNvPr id="164" name="Google Shape;164;p6"/>
          <p:cNvCxnSpPr/>
          <p:nvPr/>
        </p:nvCxnSpPr>
        <p:spPr>
          <a:xfrm>
            <a:off x="1417320" y="4279392"/>
            <a:ext cx="9601200" cy="0"/>
          </a:xfrm>
          <a:prstGeom prst="straightConnector1">
            <a:avLst/>
          </a:prstGeom>
          <a:noFill/>
          <a:ln cap="flat" cmpd="sng" w="12700">
            <a:solidFill>
              <a:srgbClr val="DDE4EC"/>
            </a:solidFill>
            <a:prstDash val="solid"/>
            <a:round/>
            <a:headEnd len="sm" w="sm" type="none"/>
            <a:tailEnd len="sm" w="sm" type="none"/>
          </a:ln>
        </p:spPr>
      </p:cxnSp>
      <p:sp>
        <p:nvSpPr>
          <p:cNvPr id="165" name="Google Shape;165;p6"/>
          <p:cNvSpPr/>
          <p:nvPr/>
        </p:nvSpPr>
        <p:spPr>
          <a:xfrm>
            <a:off x="777240" y="4663440"/>
            <a:ext cx="502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2000"/>
              <a:buFont typeface="Arial"/>
              <a:buNone/>
            </a:pPr>
            <a:r>
              <a:rPr b="1" lang="en-US" sz="2000">
                <a:solidFill>
                  <a:srgbClr val="1F4E78"/>
                </a:solidFill>
                <a:latin typeface="Arial"/>
                <a:ea typeface="Arial"/>
                <a:cs typeface="Arial"/>
                <a:sym typeface="Arial"/>
              </a:rPr>
              <a:t>04</a:t>
            </a:r>
            <a:endParaRPr sz="2000">
              <a:solidFill>
                <a:schemeClr val="dk1"/>
              </a:solidFill>
              <a:latin typeface="Arial"/>
              <a:ea typeface="Arial"/>
              <a:cs typeface="Arial"/>
              <a:sym typeface="Arial"/>
            </a:endParaRPr>
          </a:p>
        </p:txBody>
      </p:sp>
      <p:sp>
        <p:nvSpPr>
          <p:cNvPr id="166" name="Google Shape;166;p6"/>
          <p:cNvSpPr/>
          <p:nvPr/>
        </p:nvSpPr>
        <p:spPr>
          <a:xfrm>
            <a:off x="1417320" y="4645152"/>
            <a:ext cx="2926080" cy="292608"/>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1200">
                <a:solidFill>
                  <a:srgbClr val="17365D"/>
                </a:solidFill>
              </a:rPr>
              <a:t>Hoàn nguyên &amp; cây xanh</a:t>
            </a:r>
            <a:endParaRPr b="1" sz="1200">
              <a:solidFill>
                <a:srgbClr val="17365D"/>
              </a:solidFill>
            </a:endParaRPr>
          </a:p>
        </p:txBody>
      </p:sp>
      <p:sp>
        <p:nvSpPr>
          <p:cNvPr id="167" name="Google Shape;167;p6"/>
          <p:cNvSpPr/>
          <p:nvPr/>
        </p:nvSpPr>
        <p:spPr>
          <a:xfrm>
            <a:off x="4389120" y="4645152"/>
            <a:ext cx="6629400" cy="45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rgbClr val="25364A"/>
                </a:solidFill>
              </a:rPr>
              <a:t>Theo dõi tiến độ phục hồi mặt phủ tại mỏ, công trình hoặc khu vực đô thị.</a:t>
            </a:r>
            <a:endParaRPr sz="1000">
              <a:solidFill>
                <a:srgbClr val="25364A"/>
              </a:solidFill>
            </a:endParaRPr>
          </a:p>
        </p:txBody>
      </p:sp>
      <p:cxnSp>
        <p:nvCxnSpPr>
          <p:cNvPr id="168" name="Google Shape;168;p6"/>
          <p:cNvCxnSpPr/>
          <p:nvPr/>
        </p:nvCxnSpPr>
        <p:spPr>
          <a:xfrm>
            <a:off x="1417320" y="5239512"/>
            <a:ext cx="9601200" cy="0"/>
          </a:xfrm>
          <a:prstGeom prst="straightConnector1">
            <a:avLst/>
          </a:prstGeom>
          <a:noFill/>
          <a:ln cap="flat" cmpd="sng" w="12700">
            <a:solidFill>
              <a:srgbClr val="DDE4EC"/>
            </a:solidFill>
            <a:prstDash val="solid"/>
            <a:round/>
            <a:headEnd len="sm" w="sm" type="none"/>
            <a:tailEnd len="sm" w="sm" type="none"/>
          </a:ln>
        </p:spPr>
      </p:cxnSp>
      <p:sp>
        <p:nvSpPr>
          <p:cNvPr id="169" name="Google Shape;169;p6"/>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Use Case lấy từ Group 1, không tạo tình huống bán hàng không có căn cứ.</a:t>
            </a:r>
            <a:endParaRPr sz="850">
              <a:solidFill>
                <a:schemeClr val="dk1"/>
              </a:solidFill>
              <a:latin typeface="Arial"/>
              <a:ea typeface="Arial"/>
              <a:cs typeface="Arial"/>
              <a:sym typeface="Arial"/>
            </a:endParaRPr>
          </a:p>
        </p:txBody>
      </p:sp>
      <p:sp>
        <p:nvSpPr>
          <p:cNvPr id="170" name="Google Shape;170;p6"/>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7B8794"/>
                </a:solidFill>
                <a:latin typeface="Arial"/>
                <a:ea typeface="Arial"/>
                <a:cs typeface="Arial"/>
                <a:sym typeface="Arial"/>
              </a:rPr>
              <a:t>‹#›</a:t>
            </a:fld>
            <a:endParaRPr sz="800">
              <a:solidFill>
                <a:srgbClr val="7B8794"/>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7"/>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lang="en-US" sz="2300">
                <a:solidFill>
                  <a:srgbClr val="17365D"/>
                </a:solidFill>
                <a:latin typeface="Arial"/>
                <a:ea typeface="Arial"/>
                <a:cs typeface="Arial"/>
                <a:sym typeface="Arial"/>
              </a:rPr>
              <a:t>06. SERVICE LEVELS / OPTIONS</a:t>
            </a:r>
            <a:endParaRPr sz="2300">
              <a:solidFill>
                <a:schemeClr val="dk1"/>
              </a:solidFill>
              <a:latin typeface="Arial"/>
              <a:ea typeface="Arial"/>
              <a:cs typeface="Arial"/>
              <a:sym typeface="Arial"/>
            </a:endParaRPr>
          </a:p>
        </p:txBody>
      </p:sp>
      <p:sp>
        <p:nvSpPr>
          <p:cNvPr id="177" name="Google Shape;177;p7"/>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lang="en-US" sz="1050">
                <a:solidFill>
                  <a:srgbClr val="637083"/>
                </a:solidFill>
                <a:latin typeface="Arial"/>
                <a:ea typeface="Arial"/>
                <a:cs typeface="Arial"/>
                <a:sym typeface="Arial"/>
              </a:rPr>
              <a:t>Khách hàng có thể lựa chọn cấu hình dịch vụ nào?</a:t>
            </a:r>
            <a:endParaRPr sz="1050">
              <a:solidFill>
                <a:schemeClr val="dk1"/>
              </a:solidFill>
              <a:latin typeface="Arial"/>
              <a:ea typeface="Arial"/>
              <a:cs typeface="Arial"/>
              <a:sym typeface="Arial"/>
            </a:endParaRPr>
          </a:p>
        </p:txBody>
      </p:sp>
      <p:sp>
        <p:nvSpPr>
          <p:cNvPr id="178" name="Google Shape;178;p7"/>
          <p:cNvSpPr/>
          <p:nvPr/>
        </p:nvSpPr>
        <p:spPr>
          <a:xfrm>
            <a:off x="594360" y="1389888"/>
            <a:ext cx="1920240" cy="292608"/>
          </a:xfrm>
          <a:prstGeom prst="rect">
            <a:avLst/>
          </a:prstGeom>
          <a:solidFill>
            <a:srgbClr val="EAF2F8"/>
          </a:solidFill>
          <a:ln cap="flat" cmpd="sng" w="9525">
            <a:solidFill>
              <a:srgbClr val="C7D9E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F4E78"/>
              </a:buClr>
              <a:buSzPts val="850"/>
              <a:buFont typeface="Arial"/>
              <a:buNone/>
            </a:pPr>
            <a:r>
              <a:rPr b="1" lang="en-US" sz="850">
                <a:solidFill>
                  <a:srgbClr val="1F4E78"/>
                </a:solidFill>
                <a:latin typeface="Arial"/>
                <a:ea typeface="Arial"/>
                <a:cs typeface="Arial"/>
                <a:sym typeface="Arial"/>
              </a:rPr>
              <a:t>OPTIONS</a:t>
            </a:r>
            <a:endParaRPr sz="850">
              <a:solidFill>
                <a:schemeClr val="dk1"/>
              </a:solidFill>
              <a:latin typeface="Arial"/>
              <a:ea typeface="Arial"/>
              <a:cs typeface="Arial"/>
              <a:sym typeface="Arial"/>
            </a:endParaRPr>
          </a:p>
        </p:txBody>
      </p:sp>
      <p:sp>
        <p:nvSpPr>
          <p:cNvPr id="179" name="Google Shape;179;p7"/>
          <p:cNvSpPr/>
          <p:nvPr/>
        </p:nvSpPr>
        <p:spPr>
          <a:xfrm>
            <a:off x="685800" y="1874520"/>
            <a:ext cx="3337560" cy="3337560"/>
          </a:xfrm>
          <a:prstGeom prst="roundRect">
            <a:avLst>
              <a:gd fmla="val 137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685800" y="1874520"/>
            <a:ext cx="64008" cy="333756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886968" y="203911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LEVEL 1 — [Tên option]</a:t>
            </a:r>
            <a:endParaRPr sz="1200">
              <a:solidFill>
                <a:schemeClr val="dk1"/>
              </a:solidFill>
              <a:latin typeface="Arial"/>
              <a:ea typeface="Arial"/>
              <a:cs typeface="Arial"/>
              <a:sym typeface="Arial"/>
            </a:endParaRPr>
          </a:p>
        </p:txBody>
      </p:sp>
      <p:sp>
        <p:nvSpPr>
          <p:cNvPr id="182" name="Google Shape;182;p7"/>
          <p:cNvSpPr/>
          <p:nvPr/>
        </p:nvSpPr>
        <p:spPr>
          <a:xfrm>
            <a:off x="886968" y="2404872"/>
            <a:ext cx="2990088" cy="267919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 50 ha • 2 kỳ</a:t>
            </a:r>
            <a:br>
              <a:rPr lang="en-US" sz="950">
                <a:solidFill>
                  <a:srgbClr val="25364A"/>
                </a:solidFill>
              </a:rPr>
            </a:br>
            <a:br>
              <a:rPr lang="en-US" sz="950">
                <a:solidFill>
                  <a:srgbClr val="25364A"/>
                </a:solidFill>
              </a:rPr>
            </a:br>
            <a:r>
              <a:rPr lang="en-US" sz="950">
                <a:solidFill>
                  <a:srgbClr val="25364A"/>
                </a:solidFill>
              </a:rPr>
              <a:t> RGB/đa phổ theo cấu hình</a:t>
            </a:r>
            <a:br>
              <a:rPr lang="en-US" sz="950">
                <a:solidFill>
                  <a:srgbClr val="25364A"/>
                </a:solidFill>
              </a:rPr>
            </a:br>
            <a:r>
              <a:rPr lang="en-US" sz="950">
                <a:solidFill>
                  <a:srgbClr val="25364A"/>
                </a:solidFill>
              </a:rPr>
              <a:t> Bản đồ chỉ số &amp; biến động</a:t>
            </a:r>
            <a:br>
              <a:rPr lang="en-US" sz="950">
                <a:solidFill>
                  <a:srgbClr val="25364A"/>
                </a:solidFill>
              </a:rPr>
            </a:br>
            <a:r>
              <a:rPr lang="en-US" sz="950">
                <a:solidFill>
                  <a:srgbClr val="25364A"/>
                </a:solidFill>
              </a:rPr>
              <a:t> Thống kê AOI + báo cáo QA/QC</a:t>
            </a:r>
            <a:br>
              <a:rPr lang="en-US" sz="950">
                <a:solidFill>
                  <a:srgbClr val="25364A"/>
                </a:solidFill>
              </a:rPr>
            </a:br>
            <a:br>
              <a:rPr lang="en-US" sz="950">
                <a:solidFill>
                  <a:srgbClr val="25364A"/>
                </a:solidFill>
              </a:rPr>
            </a:br>
            <a:r>
              <a:rPr lang="en-US" sz="950">
                <a:solidFill>
                  <a:srgbClr val="25364A"/>
                </a:solidFill>
              </a:rPr>
              <a:t> Phù hợp: kiểm chứng nhu cầu</a:t>
            </a:r>
            <a:endParaRPr sz="950">
              <a:solidFill>
                <a:srgbClr val="25364A"/>
              </a:solidFill>
            </a:endParaRPr>
          </a:p>
          <a:p>
            <a:pPr indent="0" lvl="0" marL="0" marR="0" rtl="0" algn="l">
              <a:spcBef>
                <a:spcPts val="0"/>
              </a:spcBef>
              <a:spcAft>
                <a:spcPts val="0"/>
              </a:spcAft>
              <a:buClr>
                <a:srgbClr val="25364A"/>
              </a:buClr>
              <a:buSzPts val="950"/>
              <a:buFont typeface="Arial"/>
              <a:buNone/>
            </a:pPr>
            <a:r>
              <a:t/>
            </a:r>
            <a:endParaRPr sz="950">
              <a:solidFill>
                <a:srgbClr val="25364A"/>
              </a:solidFill>
            </a:endParaRPr>
          </a:p>
        </p:txBody>
      </p:sp>
      <p:sp>
        <p:nvSpPr>
          <p:cNvPr id="183" name="Google Shape;183;p7"/>
          <p:cNvSpPr/>
          <p:nvPr/>
        </p:nvSpPr>
        <p:spPr>
          <a:xfrm>
            <a:off x="4434840" y="1874520"/>
            <a:ext cx="3337560" cy="3337560"/>
          </a:xfrm>
          <a:prstGeom prst="roundRect">
            <a:avLst>
              <a:gd fmla="val 137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4434840" y="1874520"/>
            <a:ext cx="64008" cy="3337560"/>
          </a:xfrm>
          <a:prstGeom prst="rect">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a:off x="4636008" y="203911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LEVEL 2 — [Tên option]</a:t>
            </a:r>
            <a:endParaRPr sz="1200">
              <a:solidFill>
                <a:schemeClr val="dk1"/>
              </a:solidFill>
              <a:latin typeface="Arial"/>
              <a:ea typeface="Arial"/>
              <a:cs typeface="Arial"/>
              <a:sym typeface="Arial"/>
            </a:endParaRPr>
          </a:p>
        </p:txBody>
      </p:sp>
      <p:sp>
        <p:nvSpPr>
          <p:cNvPr id="186" name="Google Shape;186;p7"/>
          <p:cNvSpPr/>
          <p:nvPr/>
        </p:nvSpPr>
        <p:spPr>
          <a:xfrm>
            <a:off x="4636008" y="2404872"/>
            <a:ext cx="2990088" cy="267919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 200 ha • 4 kỳ/12 tháng</a:t>
            </a:r>
            <a:br>
              <a:rPr lang="en-US" sz="950">
                <a:solidFill>
                  <a:srgbClr val="25364A"/>
                </a:solidFill>
              </a:rPr>
            </a:br>
            <a:br>
              <a:rPr lang="en-US" sz="950">
                <a:solidFill>
                  <a:srgbClr val="25364A"/>
                </a:solidFill>
              </a:rPr>
            </a:br>
            <a:r>
              <a:rPr lang="en-US" sz="950">
                <a:solidFill>
                  <a:srgbClr val="25364A"/>
                </a:solidFill>
              </a:rPr>
              <a:t> Chuỗi bay chuẩn hóa</a:t>
            </a:r>
            <a:br>
              <a:rPr lang="en-US" sz="950">
                <a:solidFill>
                  <a:srgbClr val="25364A"/>
                </a:solidFill>
              </a:rPr>
            </a:br>
            <a:r>
              <a:rPr lang="en-US" sz="950">
                <a:solidFill>
                  <a:srgbClr val="25364A"/>
                </a:solidFill>
              </a:rPr>
              <a:t> Chỉ số, độ che phủ, phân lớp</a:t>
            </a:r>
            <a:br>
              <a:rPr lang="en-US" sz="950">
                <a:solidFill>
                  <a:srgbClr val="25364A"/>
                </a:solidFill>
              </a:rPr>
            </a:br>
            <a:r>
              <a:rPr lang="en-US" sz="950">
                <a:solidFill>
                  <a:srgbClr val="25364A"/>
                </a:solidFill>
              </a:rPr>
              <a:t> Điểm nóng + lớp GIS + báo cáo</a:t>
            </a:r>
            <a:br>
              <a:rPr lang="en-US" sz="950">
                <a:solidFill>
                  <a:srgbClr val="25364A"/>
                </a:solidFill>
              </a:rPr>
            </a:br>
            <a:br>
              <a:rPr lang="en-US" sz="950">
                <a:solidFill>
                  <a:srgbClr val="25364A"/>
                </a:solidFill>
              </a:rPr>
            </a:br>
            <a:r>
              <a:rPr lang="en-US" sz="950">
                <a:solidFill>
                  <a:srgbClr val="25364A"/>
                </a:solidFill>
              </a:rPr>
              <a:t> Phù hợp: vận hành định kỳ</a:t>
            </a:r>
            <a:endParaRPr sz="950">
              <a:solidFill>
                <a:srgbClr val="25364A"/>
              </a:solidFill>
            </a:endParaRPr>
          </a:p>
          <a:p>
            <a:pPr indent="0" lvl="0" marL="0" rtl="0" algn="l">
              <a:spcBef>
                <a:spcPts val="0"/>
              </a:spcBef>
              <a:spcAft>
                <a:spcPts val="0"/>
              </a:spcAft>
              <a:buClr>
                <a:srgbClr val="25364A"/>
              </a:buClr>
              <a:buSzPts val="950"/>
              <a:buFont typeface="Arial"/>
              <a:buNone/>
            </a:pPr>
            <a:r>
              <a:t/>
            </a:r>
            <a:endParaRPr sz="950">
              <a:solidFill>
                <a:srgbClr val="25364A"/>
              </a:solidFill>
            </a:endParaRPr>
          </a:p>
          <a:p>
            <a:pPr indent="0" lvl="0" marL="0" marR="0" rtl="0" algn="l">
              <a:spcBef>
                <a:spcPts val="0"/>
              </a:spcBef>
              <a:spcAft>
                <a:spcPts val="0"/>
              </a:spcAft>
              <a:buClr>
                <a:srgbClr val="25364A"/>
              </a:buClr>
              <a:buSzPts val="950"/>
              <a:buFont typeface="Arial"/>
              <a:buNone/>
            </a:pPr>
            <a:r>
              <a:t/>
            </a:r>
            <a:endParaRPr sz="950">
              <a:solidFill>
                <a:srgbClr val="25364A"/>
              </a:solidFill>
            </a:endParaRPr>
          </a:p>
        </p:txBody>
      </p:sp>
      <p:sp>
        <p:nvSpPr>
          <p:cNvPr id="187" name="Google Shape;187;p7"/>
          <p:cNvSpPr/>
          <p:nvPr/>
        </p:nvSpPr>
        <p:spPr>
          <a:xfrm>
            <a:off x="8183880" y="1874520"/>
            <a:ext cx="3337560" cy="3337560"/>
          </a:xfrm>
          <a:prstGeom prst="roundRect">
            <a:avLst>
              <a:gd fmla="val 137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8183880" y="1874520"/>
            <a:ext cx="64008" cy="333756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8385048" y="203911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LEVEL 3 — [Tên option]</a:t>
            </a:r>
            <a:endParaRPr sz="1200">
              <a:solidFill>
                <a:schemeClr val="dk1"/>
              </a:solidFill>
              <a:latin typeface="Arial"/>
              <a:ea typeface="Arial"/>
              <a:cs typeface="Arial"/>
              <a:sym typeface="Arial"/>
            </a:endParaRPr>
          </a:p>
        </p:txBody>
      </p:sp>
      <p:sp>
        <p:nvSpPr>
          <p:cNvPr id="190" name="Google Shape;190;p7"/>
          <p:cNvSpPr/>
          <p:nvPr/>
        </p:nvSpPr>
        <p:spPr>
          <a:xfrm>
            <a:off x="8385048" y="2404872"/>
            <a:ext cx="2990088" cy="267919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 500 ha • 6 kỳ/12 tháng</a:t>
            </a:r>
            <a:br>
              <a:rPr lang="en-US" sz="950">
                <a:solidFill>
                  <a:srgbClr val="25364A"/>
                </a:solidFill>
              </a:rPr>
            </a:br>
            <a:br>
              <a:rPr lang="en-US" sz="950">
                <a:solidFill>
                  <a:srgbClr val="25364A"/>
                </a:solidFill>
              </a:rPr>
            </a:br>
            <a:r>
              <a:rPr lang="en-US" sz="950">
                <a:solidFill>
                  <a:srgbClr val="25364A"/>
                </a:solidFill>
              </a:rPr>
              <a:t> Phân tích nâng cao theo AOI</a:t>
            </a:r>
            <a:br>
              <a:rPr lang="en-US" sz="950">
                <a:solidFill>
                  <a:srgbClr val="25364A"/>
                </a:solidFill>
              </a:rPr>
            </a:br>
            <a:r>
              <a:rPr lang="en-US" sz="950">
                <a:solidFill>
                  <a:srgbClr val="25364A"/>
                </a:solidFill>
              </a:rPr>
              <a:t> Dashboard/API/AI: tùy chọn</a:t>
            </a:r>
            <a:br>
              <a:rPr lang="en-US" sz="950">
                <a:solidFill>
                  <a:srgbClr val="25364A"/>
                </a:solidFill>
              </a:rPr>
            </a:br>
            <a:r>
              <a:rPr lang="en-US" sz="950">
                <a:solidFill>
                  <a:srgbClr val="25364A"/>
                </a:solidFill>
              </a:rPr>
              <a:t> Bàn giao &amp; hỗ trợ tích hợp</a:t>
            </a:r>
            <a:br>
              <a:rPr lang="en-US" sz="950">
                <a:solidFill>
                  <a:srgbClr val="25364A"/>
                </a:solidFill>
              </a:rPr>
            </a:br>
            <a:br>
              <a:rPr lang="en-US" sz="950">
                <a:solidFill>
                  <a:srgbClr val="25364A"/>
                </a:solidFill>
              </a:rPr>
            </a:br>
            <a:r>
              <a:rPr lang="en-US" sz="950">
                <a:solidFill>
                  <a:srgbClr val="25364A"/>
                </a:solidFill>
              </a:rPr>
              <a:t> Phù hợp: chương trình quy mô lớn</a:t>
            </a:r>
            <a:endParaRPr sz="950">
              <a:solidFill>
                <a:srgbClr val="25364A"/>
              </a:solidFill>
            </a:endParaRPr>
          </a:p>
          <a:p>
            <a:pPr indent="0" lvl="0" marL="0" marR="0" rtl="0" algn="l">
              <a:spcBef>
                <a:spcPts val="0"/>
              </a:spcBef>
              <a:spcAft>
                <a:spcPts val="0"/>
              </a:spcAft>
              <a:buClr>
                <a:srgbClr val="25364A"/>
              </a:buClr>
              <a:buSzPts val="950"/>
              <a:buFont typeface="Arial"/>
              <a:buNone/>
            </a:pPr>
            <a:r>
              <a:t/>
            </a:r>
            <a:endParaRPr sz="950">
              <a:solidFill>
                <a:srgbClr val="25364A"/>
              </a:solidFill>
            </a:endParaRPr>
          </a:p>
        </p:txBody>
      </p:sp>
      <p:sp>
        <p:nvSpPr>
          <p:cNvPr id="191" name="Google Shape;191;p7"/>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Không đưa giá chi tiết vào Sales Kit; tham chiếu File 07 Pricing.</a:t>
            </a:r>
            <a:endParaRPr sz="850">
              <a:solidFill>
                <a:schemeClr val="dk1"/>
              </a:solidFill>
              <a:latin typeface="Arial"/>
              <a:ea typeface="Arial"/>
              <a:cs typeface="Arial"/>
              <a:sym typeface="Arial"/>
            </a:endParaRPr>
          </a:p>
        </p:txBody>
      </p:sp>
      <p:sp>
        <p:nvSpPr>
          <p:cNvPr id="192" name="Google Shape;192;p7"/>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7B8794"/>
                </a:solidFill>
                <a:latin typeface="Arial"/>
                <a:ea typeface="Arial"/>
                <a:cs typeface="Arial"/>
                <a:sym typeface="Arial"/>
              </a:rPr>
              <a:t>‹#›</a:t>
            </a:fld>
            <a:endParaRPr sz="800">
              <a:solidFill>
                <a:srgbClr val="7B8794"/>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8"/>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lang="en-US" sz="2300">
                <a:solidFill>
                  <a:srgbClr val="17365D"/>
                </a:solidFill>
                <a:latin typeface="Arial"/>
                <a:ea typeface="Arial"/>
                <a:cs typeface="Arial"/>
                <a:sym typeface="Arial"/>
              </a:rPr>
              <a:t>07. HOW IT WORKS &amp; DELIVERABLES</a:t>
            </a:r>
            <a:endParaRPr sz="2300">
              <a:solidFill>
                <a:schemeClr val="dk1"/>
              </a:solidFill>
              <a:latin typeface="Arial"/>
              <a:ea typeface="Arial"/>
              <a:cs typeface="Arial"/>
              <a:sym typeface="Arial"/>
            </a:endParaRPr>
          </a:p>
        </p:txBody>
      </p:sp>
      <p:sp>
        <p:nvSpPr>
          <p:cNvPr id="199" name="Google Shape;199;p8"/>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lang="en-US" sz="1050">
                <a:solidFill>
                  <a:srgbClr val="637083"/>
                </a:solidFill>
                <a:latin typeface="Arial"/>
                <a:ea typeface="Arial"/>
                <a:cs typeface="Arial"/>
                <a:sym typeface="Arial"/>
              </a:rPr>
              <a:t>Dịch vụ vận hành ở mức khách hàng cần hiểu như thế nào?</a:t>
            </a:r>
            <a:endParaRPr sz="1050">
              <a:solidFill>
                <a:schemeClr val="dk1"/>
              </a:solidFill>
              <a:latin typeface="Arial"/>
              <a:ea typeface="Arial"/>
              <a:cs typeface="Arial"/>
              <a:sym typeface="Arial"/>
            </a:endParaRPr>
          </a:p>
        </p:txBody>
      </p:sp>
      <p:sp>
        <p:nvSpPr>
          <p:cNvPr id="200" name="Google Shape;200;p8"/>
          <p:cNvSpPr/>
          <p:nvPr/>
        </p:nvSpPr>
        <p:spPr>
          <a:xfrm>
            <a:off x="594360" y="1389888"/>
            <a:ext cx="1920240" cy="292608"/>
          </a:xfrm>
          <a:prstGeom prst="rect">
            <a:avLst/>
          </a:prstGeom>
          <a:solidFill>
            <a:srgbClr val="EAF2F8"/>
          </a:solidFill>
          <a:ln cap="flat" cmpd="sng" w="9525">
            <a:solidFill>
              <a:srgbClr val="C7D9E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F4E78"/>
              </a:buClr>
              <a:buSzPts val="850"/>
              <a:buFont typeface="Arial"/>
              <a:buNone/>
            </a:pPr>
            <a:r>
              <a:rPr b="1" lang="en-US" sz="850">
                <a:solidFill>
                  <a:srgbClr val="1F4E78"/>
                </a:solidFill>
                <a:latin typeface="Arial"/>
                <a:ea typeface="Arial"/>
                <a:cs typeface="Arial"/>
                <a:sym typeface="Arial"/>
              </a:rPr>
              <a:t>HOW IT WORKS</a:t>
            </a:r>
            <a:endParaRPr sz="850">
              <a:solidFill>
                <a:schemeClr val="dk1"/>
              </a:solidFill>
              <a:latin typeface="Arial"/>
              <a:ea typeface="Arial"/>
              <a:cs typeface="Arial"/>
              <a:sym typeface="Arial"/>
            </a:endParaRPr>
          </a:p>
        </p:txBody>
      </p:sp>
      <p:sp>
        <p:nvSpPr>
          <p:cNvPr id="201" name="Google Shape;201;p8"/>
          <p:cNvSpPr/>
          <p:nvPr/>
        </p:nvSpPr>
        <p:spPr>
          <a:xfrm>
            <a:off x="640080" y="1783080"/>
            <a:ext cx="1508760" cy="731520"/>
          </a:xfrm>
          <a:prstGeom prst="roundRect">
            <a:avLst>
              <a:gd fmla="val 16667" name="adj"/>
            </a:avLst>
          </a:prstGeom>
          <a:solidFill>
            <a:srgbClr val="FFFFFF"/>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713232" y="1947672"/>
            <a:ext cx="1353312" cy="32004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Clr>
                <a:schemeClr val="dk1"/>
              </a:buClr>
              <a:buSzPts val="1100"/>
              <a:buFont typeface="Arial"/>
              <a:buNone/>
            </a:pPr>
            <a:r>
              <a:rPr b="1" lang="en-US" sz="900">
                <a:solidFill>
                  <a:srgbClr val="17365D"/>
                </a:solidFill>
              </a:rPr>
              <a:t>AOI &amp; mục tiêu</a:t>
            </a:r>
            <a:endParaRPr b="1" sz="900">
              <a:solidFill>
                <a:srgbClr val="17365D"/>
              </a:solidFill>
            </a:endParaRPr>
          </a:p>
        </p:txBody>
      </p:sp>
      <p:sp>
        <p:nvSpPr>
          <p:cNvPr id="203" name="Google Shape;203;p8"/>
          <p:cNvSpPr/>
          <p:nvPr/>
        </p:nvSpPr>
        <p:spPr>
          <a:xfrm>
            <a:off x="2176272" y="1938528"/>
            <a:ext cx="228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800"/>
              <a:buFont typeface="Arial"/>
              <a:buNone/>
            </a:pPr>
            <a:r>
              <a:rPr lang="en-US" sz="1800">
                <a:solidFill>
                  <a:srgbClr val="1F4E78"/>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204" name="Google Shape;204;p8"/>
          <p:cNvSpPr/>
          <p:nvPr/>
        </p:nvSpPr>
        <p:spPr>
          <a:xfrm>
            <a:off x="2514600" y="1783080"/>
            <a:ext cx="1508760" cy="731520"/>
          </a:xfrm>
          <a:prstGeom prst="roundRect">
            <a:avLst>
              <a:gd fmla="val 16667" name="adj"/>
            </a:avLst>
          </a:prstGeom>
          <a:solidFill>
            <a:srgbClr val="FFFFFF"/>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2587752" y="1947672"/>
            <a:ext cx="1353312" cy="32004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Clr>
                <a:schemeClr val="dk1"/>
              </a:buClr>
              <a:buSzPts val="1100"/>
              <a:buFont typeface="Arial"/>
              <a:buNone/>
            </a:pPr>
            <a:r>
              <a:rPr b="1" lang="en-US" sz="900">
                <a:solidFill>
                  <a:srgbClr val="17365D"/>
                </a:solidFill>
              </a:rPr>
              <a:t>Kế hoạch bay</a:t>
            </a:r>
            <a:endParaRPr b="1" sz="900">
              <a:solidFill>
                <a:srgbClr val="17365D"/>
              </a:solidFill>
            </a:endParaRPr>
          </a:p>
        </p:txBody>
      </p:sp>
      <p:sp>
        <p:nvSpPr>
          <p:cNvPr id="206" name="Google Shape;206;p8"/>
          <p:cNvSpPr/>
          <p:nvPr/>
        </p:nvSpPr>
        <p:spPr>
          <a:xfrm>
            <a:off x="4050792" y="1938528"/>
            <a:ext cx="228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800"/>
              <a:buFont typeface="Arial"/>
              <a:buNone/>
            </a:pPr>
            <a:r>
              <a:rPr lang="en-US" sz="1800">
                <a:solidFill>
                  <a:srgbClr val="1F4E78"/>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207" name="Google Shape;207;p8"/>
          <p:cNvSpPr/>
          <p:nvPr/>
        </p:nvSpPr>
        <p:spPr>
          <a:xfrm>
            <a:off x="4389120" y="1783080"/>
            <a:ext cx="1508760" cy="731520"/>
          </a:xfrm>
          <a:prstGeom prst="roundRect">
            <a:avLst>
              <a:gd fmla="val 16667" name="adj"/>
            </a:avLst>
          </a:prstGeom>
          <a:solidFill>
            <a:srgbClr val="FFFFFF"/>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4462272" y="1947672"/>
            <a:ext cx="135331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65D"/>
              </a:buClr>
              <a:buSzPts val="900"/>
              <a:buFont typeface="Arial"/>
              <a:buNone/>
            </a:pPr>
            <a:r>
              <a:rPr b="1" lang="en-US" sz="900">
                <a:solidFill>
                  <a:srgbClr val="17365D"/>
                </a:solidFill>
              </a:rPr>
              <a:t>Thu nhận UAV</a:t>
            </a:r>
            <a:endParaRPr sz="900">
              <a:solidFill>
                <a:schemeClr val="dk1"/>
              </a:solidFill>
              <a:latin typeface="Arial"/>
              <a:ea typeface="Arial"/>
              <a:cs typeface="Arial"/>
              <a:sym typeface="Arial"/>
            </a:endParaRPr>
          </a:p>
        </p:txBody>
      </p:sp>
      <p:sp>
        <p:nvSpPr>
          <p:cNvPr id="209" name="Google Shape;209;p8"/>
          <p:cNvSpPr/>
          <p:nvPr/>
        </p:nvSpPr>
        <p:spPr>
          <a:xfrm>
            <a:off x="5925312" y="1938528"/>
            <a:ext cx="228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800"/>
              <a:buFont typeface="Arial"/>
              <a:buNone/>
            </a:pPr>
            <a:r>
              <a:rPr lang="en-US" sz="1800">
                <a:solidFill>
                  <a:srgbClr val="1F4E78"/>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210" name="Google Shape;210;p8"/>
          <p:cNvSpPr/>
          <p:nvPr/>
        </p:nvSpPr>
        <p:spPr>
          <a:xfrm>
            <a:off x="6263640" y="1783080"/>
            <a:ext cx="1508760" cy="731520"/>
          </a:xfrm>
          <a:prstGeom prst="roundRect">
            <a:avLst>
              <a:gd fmla="val 16667" name="adj"/>
            </a:avLst>
          </a:prstGeom>
          <a:solidFill>
            <a:srgbClr val="FFFFFF"/>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6336792" y="1947672"/>
            <a:ext cx="1353312" cy="32004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Clr>
                <a:schemeClr val="dk1"/>
              </a:buClr>
              <a:buSzPts val="1100"/>
              <a:buFont typeface="Arial"/>
              <a:buNone/>
            </a:pPr>
            <a:r>
              <a:rPr b="1" lang="en-US" sz="900">
                <a:solidFill>
                  <a:srgbClr val="17365D"/>
                </a:solidFill>
              </a:rPr>
              <a:t>Xử lý &amp; phân tích</a:t>
            </a:r>
            <a:endParaRPr b="1" sz="900">
              <a:solidFill>
                <a:srgbClr val="17365D"/>
              </a:solidFill>
            </a:endParaRPr>
          </a:p>
        </p:txBody>
      </p:sp>
      <p:sp>
        <p:nvSpPr>
          <p:cNvPr id="212" name="Google Shape;212;p8"/>
          <p:cNvSpPr/>
          <p:nvPr/>
        </p:nvSpPr>
        <p:spPr>
          <a:xfrm>
            <a:off x="7799832" y="1938528"/>
            <a:ext cx="228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800"/>
              <a:buFont typeface="Arial"/>
              <a:buNone/>
            </a:pPr>
            <a:r>
              <a:rPr lang="en-US" sz="1800">
                <a:solidFill>
                  <a:srgbClr val="1F4E78"/>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213" name="Google Shape;213;p8"/>
          <p:cNvSpPr/>
          <p:nvPr/>
        </p:nvSpPr>
        <p:spPr>
          <a:xfrm>
            <a:off x="8138160" y="1783080"/>
            <a:ext cx="1508760" cy="731520"/>
          </a:xfrm>
          <a:prstGeom prst="roundRect">
            <a:avLst>
              <a:gd fmla="val 16667" name="adj"/>
            </a:avLst>
          </a:prstGeom>
          <a:solidFill>
            <a:srgbClr val="FFFFFF"/>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8211312" y="1947672"/>
            <a:ext cx="1353312" cy="32004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Clr>
                <a:schemeClr val="dk1"/>
              </a:buClr>
              <a:buSzPts val="1100"/>
              <a:buFont typeface="Arial"/>
              <a:buNone/>
            </a:pPr>
            <a:r>
              <a:rPr b="1" lang="en-US" sz="900">
                <a:solidFill>
                  <a:srgbClr val="17365D"/>
                </a:solidFill>
              </a:rPr>
              <a:t>QA/QC</a:t>
            </a:r>
            <a:endParaRPr b="1" sz="900">
              <a:solidFill>
                <a:srgbClr val="17365D"/>
              </a:solidFill>
            </a:endParaRPr>
          </a:p>
        </p:txBody>
      </p:sp>
      <p:sp>
        <p:nvSpPr>
          <p:cNvPr id="215" name="Google Shape;215;p8"/>
          <p:cNvSpPr/>
          <p:nvPr/>
        </p:nvSpPr>
        <p:spPr>
          <a:xfrm>
            <a:off x="9674352" y="1938528"/>
            <a:ext cx="228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800"/>
              <a:buFont typeface="Arial"/>
              <a:buNone/>
            </a:pPr>
            <a:r>
              <a:rPr lang="en-US" sz="1800">
                <a:solidFill>
                  <a:srgbClr val="1F4E78"/>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216" name="Google Shape;216;p8"/>
          <p:cNvSpPr/>
          <p:nvPr/>
        </p:nvSpPr>
        <p:spPr>
          <a:xfrm>
            <a:off x="10012680" y="1783080"/>
            <a:ext cx="1508760" cy="731520"/>
          </a:xfrm>
          <a:prstGeom prst="roundRect">
            <a:avLst>
              <a:gd fmla="val 16667" name="adj"/>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10085832" y="1947672"/>
            <a:ext cx="1353312" cy="32004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Clr>
                <a:schemeClr val="dk1"/>
              </a:buClr>
              <a:buSzPts val="1100"/>
              <a:buFont typeface="Arial"/>
              <a:buNone/>
            </a:pPr>
            <a:r>
              <a:rPr b="1" lang="en-US" sz="900">
                <a:solidFill>
                  <a:srgbClr val="FFFFFF"/>
                </a:solidFill>
              </a:rPr>
              <a:t>Bàn giao</a:t>
            </a:r>
            <a:endParaRPr b="1" sz="900">
              <a:solidFill>
                <a:srgbClr val="FFFFFF"/>
              </a:solidFill>
            </a:endParaRPr>
          </a:p>
        </p:txBody>
      </p:sp>
      <p:sp>
        <p:nvSpPr>
          <p:cNvPr id="218" name="Google Shape;218;p8"/>
          <p:cNvSpPr/>
          <p:nvPr/>
        </p:nvSpPr>
        <p:spPr>
          <a:xfrm>
            <a:off x="685800" y="2971800"/>
            <a:ext cx="5166360" cy="960120"/>
          </a:xfrm>
          <a:prstGeom prst="roundRect">
            <a:avLst>
              <a:gd fmla="val 4762"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685800" y="2971800"/>
            <a:ext cx="64008" cy="9601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886968" y="313639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Deliverable 1</a:t>
            </a:r>
            <a:endParaRPr sz="1200">
              <a:solidFill>
                <a:schemeClr val="dk1"/>
              </a:solidFill>
              <a:latin typeface="Arial"/>
              <a:ea typeface="Arial"/>
              <a:cs typeface="Arial"/>
              <a:sym typeface="Arial"/>
            </a:endParaRPr>
          </a:p>
        </p:txBody>
      </p:sp>
      <p:sp>
        <p:nvSpPr>
          <p:cNvPr id="221" name="Google Shape;221;p8"/>
          <p:cNvSpPr/>
          <p:nvPr/>
        </p:nvSpPr>
        <p:spPr>
          <a:xfrm>
            <a:off x="886968" y="3502152"/>
            <a:ext cx="4818888" cy="3017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RGB và/hoặc đa phổ theo phạm vi đã xác nhận</a:t>
            </a:r>
            <a:endParaRPr sz="950">
              <a:solidFill>
                <a:srgbClr val="25364A"/>
              </a:solidFill>
            </a:endParaRPr>
          </a:p>
        </p:txBody>
      </p:sp>
      <p:sp>
        <p:nvSpPr>
          <p:cNvPr id="222" name="Google Shape;222;p8"/>
          <p:cNvSpPr/>
          <p:nvPr/>
        </p:nvSpPr>
        <p:spPr>
          <a:xfrm>
            <a:off x="6217920" y="2971800"/>
            <a:ext cx="5166360" cy="960120"/>
          </a:xfrm>
          <a:prstGeom prst="roundRect">
            <a:avLst>
              <a:gd fmla="val 4762"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6217920" y="2971800"/>
            <a:ext cx="64008" cy="960120"/>
          </a:xfrm>
          <a:prstGeom prst="rect">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6419088" y="313639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Deliverable 2</a:t>
            </a:r>
            <a:endParaRPr sz="1200">
              <a:solidFill>
                <a:schemeClr val="dk1"/>
              </a:solidFill>
              <a:latin typeface="Arial"/>
              <a:ea typeface="Arial"/>
              <a:cs typeface="Arial"/>
              <a:sym typeface="Arial"/>
            </a:endParaRPr>
          </a:p>
        </p:txBody>
      </p:sp>
      <p:sp>
        <p:nvSpPr>
          <p:cNvPr id="225" name="Google Shape;225;p8"/>
          <p:cNvSpPr/>
          <p:nvPr/>
        </p:nvSpPr>
        <p:spPr>
          <a:xfrm>
            <a:off x="6419088" y="3502152"/>
            <a:ext cx="4818888" cy="3017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Chỉ số thực vật và/hoặc độ che phủ</a:t>
            </a:r>
            <a:endParaRPr sz="950">
              <a:solidFill>
                <a:srgbClr val="25364A"/>
              </a:solidFill>
            </a:endParaRPr>
          </a:p>
        </p:txBody>
      </p:sp>
      <p:sp>
        <p:nvSpPr>
          <p:cNvPr id="226" name="Google Shape;226;p8"/>
          <p:cNvSpPr/>
          <p:nvPr/>
        </p:nvSpPr>
        <p:spPr>
          <a:xfrm>
            <a:off x="685800" y="4206240"/>
            <a:ext cx="5166360" cy="960120"/>
          </a:xfrm>
          <a:prstGeom prst="roundRect">
            <a:avLst>
              <a:gd fmla="val 4762"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685800" y="4206240"/>
            <a:ext cx="64008" cy="9601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886968" y="437083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Deliverable 3</a:t>
            </a:r>
            <a:endParaRPr sz="1200">
              <a:solidFill>
                <a:schemeClr val="dk1"/>
              </a:solidFill>
              <a:latin typeface="Arial"/>
              <a:ea typeface="Arial"/>
              <a:cs typeface="Arial"/>
              <a:sym typeface="Arial"/>
            </a:endParaRPr>
          </a:p>
        </p:txBody>
      </p:sp>
      <p:sp>
        <p:nvSpPr>
          <p:cNvPr id="229" name="Google Shape;229;p8"/>
          <p:cNvSpPr/>
          <p:nvPr/>
        </p:nvSpPr>
        <p:spPr>
          <a:xfrm>
            <a:off x="886968" y="4736592"/>
            <a:ext cx="4818888" cy="3017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Phân lớp thay đổi và thống kê theo AOI/lô</a:t>
            </a:r>
            <a:endParaRPr sz="950">
              <a:solidFill>
                <a:srgbClr val="25364A"/>
              </a:solidFill>
            </a:endParaRPr>
          </a:p>
        </p:txBody>
      </p:sp>
      <p:sp>
        <p:nvSpPr>
          <p:cNvPr id="230" name="Google Shape;230;p8"/>
          <p:cNvSpPr/>
          <p:nvPr/>
        </p:nvSpPr>
        <p:spPr>
          <a:xfrm>
            <a:off x="6217920" y="4206240"/>
            <a:ext cx="5166360" cy="960120"/>
          </a:xfrm>
          <a:prstGeom prst="roundRect">
            <a:avLst>
              <a:gd fmla="val 4762"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6217920" y="4206240"/>
            <a:ext cx="64008" cy="9601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6419088" y="437083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Deliverable 4</a:t>
            </a:r>
            <a:endParaRPr sz="1200">
              <a:solidFill>
                <a:schemeClr val="dk1"/>
              </a:solidFill>
              <a:latin typeface="Arial"/>
              <a:ea typeface="Arial"/>
              <a:cs typeface="Arial"/>
              <a:sym typeface="Arial"/>
            </a:endParaRPr>
          </a:p>
        </p:txBody>
      </p:sp>
      <p:sp>
        <p:nvSpPr>
          <p:cNvPr id="233" name="Google Shape;233;p8"/>
          <p:cNvSpPr/>
          <p:nvPr/>
        </p:nvSpPr>
        <p:spPr>
          <a:xfrm>
            <a:off x="6419088" y="4736592"/>
            <a:ext cx="4818888" cy="3017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Lớp GIS, metadata và báo cáo kỹ thuật QA/QC</a:t>
            </a:r>
            <a:endParaRPr sz="950">
              <a:solidFill>
                <a:srgbClr val="25364A"/>
              </a:solidFill>
            </a:endParaRPr>
          </a:p>
        </p:txBody>
      </p:sp>
      <p:sp>
        <p:nvSpPr>
          <p:cNvPr id="234" name="Google Shape;234;p8"/>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Không copy SOP chi tiết vào Sales Kit; chỉ trình bày customer-facing flow.</a:t>
            </a:r>
            <a:endParaRPr sz="850">
              <a:solidFill>
                <a:schemeClr val="dk1"/>
              </a:solidFill>
              <a:latin typeface="Arial"/>
              <a:ea typeface="Arial"/>
              <a:cs typeface="Arial"/>
              <a:sym typeface="Arial"/>
            </a:endParaRPr>
          </a:p>
        </p:txBody>
      </p:sp>
      <p:sp>
        <p:nvSpPr>
          <p:cNvPr id="235" name="Google Shape;235;p8"/>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7B8794"/>
                </a:solidFill>
                <a:latin typeface="Arial"/>
                <a:ea typeface="Arial"/>
                <a:cs typeface="Arial"/>
                <a:sym typeface="Arial"/>
              </a:rPr>
              <a:t>‹#›</a:t>
            </a:fld>
            <a:endParaRPr sz="800">
              <a:solidFill>
                <a:srgbClr val="7B8794"/>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9"/>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lang="en-US" sz="2300">
                <a:solidFill>
                  <a:srgbClr val="17365D"/>
                </a:solidFill>
                <a:latin typeface="Arial"/>
                <a:ea typeface="Arial"/>
                <a:cs typeface="Arial"/>
                <a:sym typeface="Arial"/>
              </a:rPr>
              <a:t>08. POSITIONING &amp; WHY GASCOLAE</a:t>
            </a:r>
            <a:endParaRPr sz="2300">
              <a:solidFill>
                <a:schemeClr val="dk1"/>
              </a:solidFill>
              <a:latin typeface="Arial"/>
              <a:ea typeface="Arial"/>
              <a:cs typeface="Arial"/>
              <a:sym typeface="Arial"/>
            </a:endParaRPr>
          </a:p>
        </p:txBody>
      </p:sp>
      <p:sp>
        <p:nvSpPr>
          <p:cNvPr id="242" name="Google Shape;242;p9"/>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lang="en-US" sz="1050">
                <a:solidFill>
                  <a:srgbClr val="637083"/>
                </a:solidFill>
                <a:latin typeface="Arial"/>
                <a:ea typeface="Arial"/>
                <a:cs typeface="Arial"/>
                <a:sym typeface="Arial"/>
              </a:rPr>
              <a:t>Vì sao khách hàng nên cân nhắc GASCOLAE?</a:t>
            </a:r>
            <a:endParaRPr sz="1050">
              <a:solidFill>
                <a:schemeClr val="dk1"/>
              </a:solidFill>
              <a:latin typeface="Arial"/>
              <a:ea typeface="Arial"/>
              <a:cs typeface="Arial"/>
              <a:sym typeface="Arial"/>
            </a:endParaRPr>
          </a:p>
        </p:txBody>
      </p:sp>
      <p:sp>
        <p:nvSpPr>
          <p:cNvPr id="243" name="Google Shape;243;p9"/>
          <p:cNvSpPr/>
          <p:nvPr/>
        </p:nvSpPr>
        <p:spPr>
          <a:xfrm>
            <a:off x="594360" y="1389888"/>
            <a:ext cx="1920240" cy="292608"/>
          </a:xfrm>
          <a:prstGeom prst="rect">
            <a:avLst/>
          </a:prstGeom>
          <a:solidFill>
            <a:srgbClr val="EAF2F8"/>
          </a:solidFill>
          <a:ln cap="flat" cmpd="sng" w="9525">
            <a:solidFill>
              <a:srgbClr val="C7D9E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F4E78"/>
              </a:buClr>
              <a:buSzPts val="850"/>
              <a:buFont typeface="Arial"/>
              <a:buNone/>
            </a:pPr>
            <a:r>
              <a:rPr b="1" lang="en-US" sz="850">
                <a:solidFill>
                  <a:srgbClr val="1F4E78"/>
                </a:solidFill>
                <a:latin typeface="Arial"/>
                <a:ea typeface="Arial"/>
                <a:cs typeface="Arial"/>
                <a:sym typeface="Arial"/>
              </a:rPr>
              <a:t>WHY US</a:t>
            </a:r>
            <a:endParaRPr sz="850">
              <a:solidFill>
                <a:schemeClr val="dk1"/>
              </a:solidFill>
              <a:latin typeface="Arial"/>
              <a:ea typeface="Arial"/>
              <a:cs typeface="Arial"/>
              <a:sym typeface="Arial"/>
            </a:endParaRPr>
          </a:p>
        </p:txBody>
      </p:sp>
      <p:sp>
        <p:nvSpPr>
          <p:cNvPr id="244" name="Google Shape;244;p9"/>
          <p:cNvSpPr/>
          <p:nvPr/>
        </p:nvSpPr>
        <p:spPr>
          <a:xfrm>
            <a:off x="685800" y="1783080"/>
            <a:ext cx="3337560" cy="3383280"/>
          </a:xfrm>
          <a:prstGeom prst="roundRect">
            <a:avLst>
              <a:gd fmla="val 137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685800" y="1783080"/>
            <a:ext cx="64008" cy="338328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886968" y="194767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Định vị</a:t>
            </a:r>
            <a:endParaRPr sz="1200">
              <a:solidFill>
                <a:schemeClr val="dk1"/>
              </a:solidFill>
              <a:latin typeface="Arial"/>
              <a:ea typeface="Arial"/>
              <a:cs typeface="Arial"/>
              <a:sym typeface="Arial"/>
            </a:endParaRPr>
          </a:p>
        </p:txBody>
      </p:sp>
      <p:sp>
        <p:nvSpPr>
          <p:cNvPr id="247" name="Google Shape;247;p9"/>
          <p:cNvSpPr/>
          <p:nvPr/>
        </p:nvSpPr>
        <p:spPr>
          <a:xfrm>
            <a:off x="886968" y="2313432"/>
            <a:ext cx="2990088" cy="272491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Giám sát độ phân giải cao cho khu vực nhỏ–trung bình, bổ sung khoảng trống giữa kiểm tra thực địa và quan sát vệ tinh diện rộng.</a:t>
            </a:r>
            <a:endParaRPr sz="950">
              <a:solidFill>
                <a:srgbClr val="25364A"/>
              </a:solidFill>
            </a:endParaRPr>
          </a:p>
        </p:txBody>
      </p:sp>
      <p:sp>
        <p:nvSpPr>
          <p:cNvPr id="248" name="Google Shape;248;p9"/>
          <p:cNvSpPr/>
          <p:nvPr/>
        </p:nvSpPr>
        <p:spPr>
          <a:xfrm>
            <a:off x="4434840" y="1783080"/>
            <a:ext cx="3337560" cy="3383280"/>
          </a:xfrm>
          <a:prstGeom prst="roundRect">
            <a:avLst>
              <a:gd fmla="val 137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a:off x="4434840" y="1783080"/>
            <a:ext cx="64008" cy="338328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4636008" y="194767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Core Competency</a:t>
            </a:r>
            <a:endParaRPr sz="1200">
              <a:solidFill>
                <a:schemeClr val="dk1"/>
              </a:solidFill>
              <a:latin typeface="Arial"/>
              <a:ea typeface="Arial"/>
              <a:cs typeface="Arial"/>
              <a:sym typeface="Arial"/>
            </a:endParaRPr>
          </a:p>
        </p:txBody>
      </p:sp>
      <p:sp>
        <p:nvSpPr>
          <p:cNvPr id="251" name="Google Shape;251;p9"/>
          <p:cNvSpPr/>
          <p:nvPr/>
        </p:nvSpPr>
        <p:spPr>
          <a:xfrm>
            <a:off x="4636008" y="2313432"/>
            <a:ext cx="2990088" cy="272491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Thu nhận đa phổ lặp lại; định vị và đồng đăng ký; hiệu chuẩn; phân tích biến động; sản phẩm GIS và QA/QC truy vết.</a:t>
            </a:r>
            <a:endParaRPr sz="950">
              <a:solidFill>
                <a:srgbClr val="25364A"/>
              </a:solidFill>
            </a:endParaRPr>
          </a:p>
        </p:txBody>
      </p:sp>
      <p:sp>
        <p:nvSpPr>
          <p:cNvPr id="252" name="Google Shape;252;p9"/>
          <p:cNvSpPr/>
          <p:nvPr/>
        </p:nvSpPr>
        <p:spPr>
          <a:xfrm>
            <a:off x="8183880" y="1783080"/>
            <a:ext cx="3337560" cy="3383280"/>
          </a:xfrm>
          <a:prstGeom prst="roundRect">
            <a:avLst>
              <a:gd fmla="val 137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p:nvPr/>
        </p:nvSpPr>
        <p:spPr>
          <a:xfrm>
            <a:off x="8183880" y="1783080"/>
            <a:ext cx="64008" cy="3383280"/>
          </a:xfrm>
          <a:prstGeom prst="rect">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8385048" y="194767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Điểm cần xác minh</a:t>
            </a:r>
            <a:endParaRPr sz="1200">
              <a:solidFill>
                <a:schemeClr val="dk1"/>
              </a:solidFill>
              <a:latin typeface="Arial"/>
              <a:ea typeface="Arial"/>
              <a:cs typeface="Arial"/>
              <a:sym typeface="Arial"/>
            </a:endParaRPr>
          </a:p>
        </p:txBody>
      </p:sp>
      <p:sp>
        <p:nvSpPr>
          <p:cNvPr id="255" name="Google Shape;255;p9"/>
          <p:cNvSpPr/>
          <p:nvPr/>
        </p:nvSpPr>
        <p:spPr>
          <a:xfrm>
            <a:off x="8385048" y="2313432"/>
            <a:ext cx="2990088" cy="272491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Phân khúc ưu tiên; KPI độ chính xác; năng lực triển khai đồng thời; điều kiện pháp lý; mọi tuyên bố so sánh cạnh tranh.</a:t>
            </a:r>
            <a:endParaRPr sz="950">
              <a:solidFill>
                <a:srgbClr val="25364A"/>
              </a:solidFill>
            </a:endParaRPr>
          </a:p>
        </p:txBody>
      </p:sp>
      <p:sp>
        <p:nvSpPr>
          <p:cNvPr id="256" name="Google Shape;256;p9"/>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Không tự viết “số 1”, “tốt nhất”, “duy nhất”, hoặc claim cạnh tranh nếu nguồn không chứng minh.</a:t>
            </a:r>
            <a:endParaRPr sz="850">
              <a:solidFill>
                <a:schemeClr val="dk1"/>
              </a:solidFill>
              <a:latin typeface="Arial"/>
              <a:ea typeface="Arial"/>
              <a:cs typeface="Arial"/>
              <a:sym typeface="Arial"/>
            </a:endParaRPr>
          </a:p>
        </p:txBody>
      </p:sp>
      <p:sp>
        <p:nvSpPr>
          <p:cNvPr id="257" name="Google Shape;257;p9"/>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7B8794"/>
                </a:solidFill>
                <a:latin typeface="Arial"/>
                <a:ea typeface="Arial"/>
                <a:cs typeface="Arial"/>
                <a:sym typeface="Arial"/>
              </a:rPr>
              <a:t>‹#›</a:t>
            </a:fld>
            <a:endParaRPr sz="800">
              <a:solidFill>
                <a:srgbClr val="7B8794"/>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0"/>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lang="en-US" sz="2300">
                <a:solidFill>
                  <a:srgbClr val="17365D"/>
                </a:solidFill>
                <a:latin typeface="Arial"/>
                <a:ea typeface="Arial"/>
                <a:cs typeface="Arial"/>
                <a:sym typeface="Arial"/>
              </a:rPr>
              <a:t>09. DECISION MAKING UNIT &amp; BUYING JOURNEY</a:t>
            </a:r>
            <a:endParaRPr sz="2300">
              <a:solidFill>
                <a:schemeClr val="dk1"/>
              </a:solidFill>
              <a:latin typeface="Arial"/>
              <a:ea typeface="Arial"/>
              <a:cs typeface="Arial"/>
              <a:sym typeface="Arial"/>
            </a:endParaRPr>
          </a:p>
        </p:txBody>
      </p:sp>
      <p:sp>
        <p:nvSpPr>
          <p:cNvPr id="264" name="Google Shape;264;p10"/>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lang="en-US" sz="1050">
                <a:solidFill>
                  <a:srgbClr val="637083"/>
                </a:solidFill>
                <a:latin typeface="Arial"/>
                <a:ea typeface="Arial"/>
                <a:cs typeface="Arial"/>
                <a:sym typeface="Arial"/>
              </a:rPr>
              <a:t>Ai dùng, ai ảnh hưởng, ai phê duyệt và khách hàng đi qua các bước nào?</a:t>
            </a:r>
            <a:endParaRPr sz="1050">
              <a:solidFill>
                <a:schemeClr val="dk1"/>
              </a:solidFill>
              <a:latin typeface="Arial"/>
              <a:ea typeface="Arial"/>
              <a:cs typeface="Arial"/>
              <a:sym typeface="Arial"/>
            </a:endParaRPr>
          </a:p>
        </p:txBody>
      </p:sp>
      <p:sp>
        <p:nvSpPr>
          <p:cNvPr id="265" name="Google Shape;265;p10"/>
          <p:cNvSpPr/>
          <p:nvPr/>
        </p:nvSpPr>
        <p:spPr>
          <a:xfrm>
            <a:off x="594360" y="1389888"/>
            <a:ext cx="1920240" cy="292608"/>
          </a:xfrm>
          <a:prstGeom prst="rect">
            <a:avLst/>
          </a:prstGeom>
          <a:solidFill>
            <a:srgbClr val="EAF2F8"/>
          </a:solidFill>
          <a:ln cap="flat" cmpd="sng" w="9525">
            <a:solidFill>
              <a:srgbClr val="C7D9E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F4E78"/>
              </a:buClr>
              <a:buSzPts val="850"/>
              <a:buFont typeface="Arial"/>
              <a:buNone/>
            </a:pPr>
            <a:r>
              <a:rPr b="1" lang="en-US" sz="850">
                <a:solidFill>
                  <a:srgbClr val="1F4E78"/>
                </a:solidFill>
                <a:latin typeface="Arial"/>
                <a:ea typeface="Arial"/>
                <a:cs typeface="Arial"/>
                <a:sym typeface="Arial"/>
              </a:rPr>
              <a:t>HOW THEY BUY</a:t>
            </a:r>
            <a:endParaRPr sz="850">
              <a:solidFill>
                <a:schemeClr val="dk1"/>
              </a:solidFill>
              <a:latin typeface="Arial"/>
              <a:ea typeface="Arial"/>
              <a:cs typeface="Arial"/>
              <a:sym typeface="Arial"/>
            </a:endParaRPr>
          </a:p>
        </p:txBody>
      </p:sp>
      <p:sp>
        <p:nvSpPr>
          <p:cNvPr id="266" name="Google Shape;266;p10"/>
          <p:cNvSpPr/>
          <p:nvPr/>
        </p:nvSpPr>
        <p:spPr>
          <a:xfrm>
            <a:off x="685800" y="1783080"/>
            <a:ext cx="3337560" cy="1508760"/>
          </a:xfrm>
          <a:prstGeom prst="roundRect">
            <a:avLst>
              <a:gd fmla="val 303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685800" y="1783080"/>
            <a:ext cx="64008" cy="150876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p:nvPr/>
        </p:nvSpPr>
        <p:spPr>
          <a:xfrm>
            <a:off x="886968" y="194767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User / Technical</a:t>
            </a:r>
            <a:endParaRPr sz="1200">
              <a:solidFill>
                <a:schemeClr val="dk1"/>
              </a:solidFill>
              <a:latin typeface="Arial"/>
              <a:ea typeface="Arial"/>
              <a:cs typeface="Arial"/>
              <a:sym typeface="Arial"/>
            </a:endParaRPr>
          </a:p>
        </p:txBody>
      </p:sp>
      <p:sp>
        <p:nvSpPr>
          <p:cNvPr id="269" name="Google Shape;269;p10"/>
          <p:cNvSpPr/>
          <p:nvPr/>
        </p:nvSpPr>
        <p:spPr>
          <a:xfrm>
            <a:off x="886968" y="2313432"/>
            <a:ext cx="2990088" cy="85039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GIS/viễn thám; lâm nghiệp/nông học; môi trường–ESG; quản lý hiện trường</a:t>
            </a:r>
            <a:endParaRPr sz="950">
              <a:solidFill>
                <a:srgbClr val="25364A"/>
              </a:solidFill>
            </a:endParaRPr>
          </a:p>
        </p:txBody>
      </p:sp>
      <p:sp>
        <p:nvSpPr>
          <p:cNvPr id="270" name="Google Shape;270;p10"/>
          <p:cNvSpPr/>
          <p:nvPr/>
        </p:nvSpPr>
        <p:spPr>
          <a:xfrm>
            <a:off x="4434840" y="1783080"/>
            <a:ext cx="3337560" cy="1508760"/>
          </a:xfrm>
          <a:prstGeom prst="roundRect">
            <a:avLst>
              <a:gd fmla="val 303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4434840" y="1783080"/>
            <a:ext cx="64008" cy="150876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p:nvPr/>
        </p:nvSpPr>
        <p:spPr>
          <a:xfrm>
            <a:off x="4636008" y="194767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Influencer</a:t>
            </a:r>
            <a:endParaRPr sz="1200">
              <a:solidFill>
                <a:schemeClr val="dk1"/>
              </a:solidFill>
              <a:latin typeface="Arial"/>
              <a:ea typeface="Arial"/>
              <a:cs typeface="Arial"/>
              <a:sym typeface="Arial"/>
            </a:endParaRPr>
          </a:p>
        </p:txBody>
      </p:sp>
      <p:sp>
        <p:nvSpPr>
          <p:cNvPr id="273" name="Google Shape;273;p10"/>
          <p:cNvSpPr/>
          <p:nvPr/>
        </p:nvSpPr>
        <p:spPr>
          <a:xfrm>
            <a:off x="4636008" y="2313432"/>
            <a:ext cx="2990088" cy="85039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Chuyên gia ngành; kiểm định/audit; chủ đất/cộng đồng; đơn vị UAV</a:t>
            </a:r>
            <a:endParaRPr sz="950">
              <a:solidFill>
                <a:srgbClr val="25364A"/>
              </a:solidFill>
            </a:endParaRPr>
          </a:p>
        </p:txBody>
      </p:sp>
      <p:sp>
        <p:nvSpPr>
          <p:cNvPr id="274" name="Google Shape;274;p10"/>
          <p:cNvSpPr/>
          <p:nvPr/>
        </p:nvSpPr>
        <p:spPr>
          <a:xfrm>
            <a:off x="8183880" y="1783080"/>
            <a:ext cx="3337560" cy="1508760"/>
          </a:xfrm>
          <a:prstGeom prst="roundRect">
            <a:avLst>
              <a:gd fmla="val 3030"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8183880" y="1783080"/>
            <a:ext cx="64008" cy="1508760"/>
          </a:xfrm>
          <a:prstGeom prst="rect">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p:nvPr/>
        </p:nvSpPr>
        <p:spPr>
          <a:xfrm>
            <a:off x="8385048" y="1947672"/>
            <a:ext cx="29900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Economic Buyer / Approver</a:t>
            </a:r>
            <a:endParaRPr sz="1200">
              <a:solidFill>
                <a:schemeClr val="dk1"/>
              </a:solidFill>
              <a:latin typeface="Arial"/>
              <a:ea typeface="Arial"/>
              <a:cs typeface="Arial"/>
              <a:sym typeface="Arial"/>
            </a:endParaRPr>
          </a:p>
        </p:txBody>
      </p:sp>
      <p:sp>
        <p:nvSpPr>
          <p:cNvPr id="277" name="Google Shape;277;p10"/>
          <p:cNvSpPr/>
          <p:nvPr/>
        </p:nvSpPr>
        <p:spPr>
          <a:xfrm>
            <a:off x="8385048" y="2313432"/>
            <a:ext cx="2990088" cy="85039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Chủ dự án; giám đốc vận hành; chủ rừng/ban quản lý</a:t>
            </a:r>
            <a:br>
              <a:rPr lang="en-US" sz="950">
                <a:solidFill>
                  <a:srgbClr val="25364A"/>
                </a:solidFill>
              </a:rPr>
            </a:br>
            <a:r>
              <a:rPr lang="en-US" sz="950">
                <a:solidFill>
                  <a:srgbClr val="25364A"/>
                </a:solidFill>
              </a:rPr>
              <a:t> CẦN BD/SALES XÁC NHẬN</a:t>
            </a:r>
            <a:endParaRPr sz="950">
              <a:solidFill>
                <a:srgbClr val="25364A"/>
              </a:solidFill>
            </a:endParaRPr>
          </a:p>
        </p:txBody>
      </p:sp>
      <p:sp>
        <p:nvSpPr>
          <p:cNvPr id="278" name="Google Shape;278;p10"/>
          <p:cNvSpPr/>
          <p:nvPr/>
        </p:nvSpPr>
        <p:spPr>
          <a:xfrm>
            <a:off x="731520" y="3886200"/>
            <a:ext cx="365760" cy="365760"/>
          </a:xfrm>
          <a:prstGeom prst="rect">
            <a:avLst/>
          </a:prstGeom>
          <a:solidFill>
            <a:srgbClr val="1F4E78"/>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1</a:t>
            </a:r>
            <a:endParaRPr sz="1600">
              <a:solidFill>
                <a:schemeClr val="dk1"/>
              </a:solidFill>
              <a:latin typeface="Arial"/>
              <a:ea typeface="Arial"/>
              <a:cs typeface="Arial"/>
              <a:sym typeface="Arial"/>
            </a:endParaRPr>
          </a:p>
        </p:txBody>
      </p:sp>
      <p:sp>
        <p:nvSpPr>
          <p:cNvPr id="279" name="Google Shape;279;p10"/>
          <p:cNvSpPr/>
          <p:nvPr/>
        </p:nvSpPr>
        <p:spPr>
          <a:xfrm>
            <a:off x="1143000" y="3886200"/>
            <a:ext cx="1645920" cy="50292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950">
                <a:solidFill>
                  <a:srgbClr val="17365D"/>
                </a:solidFill>
              </a:rPr>
              <a:t>Nhu cầu</a:t>
            </a:r>
            <a:br>
              <a:rPr b="1" lang="en-US" sz="950">
                <a:solidFill>
                  <a:srgbClr val="17365D"/>
                </a:solidFill>
              </a:rPr>
            </a:br>
            <a:r>
              <a:rPr b="1" lang="en-US" sz="950">
                <a:solidFill>
                  <a:srgbClr val="17365D"/>
                </a:solidFill>
              </a:rPr>
              <a:t> &amp; AOI</a:t>
            </a:r>
            <a:endParaRPr b="1" sz="950">
              <a:solidFill>
                <a:srgbClr val="17365D"/>
              </a:solidFill>
            </a:endParaRPr>
          </a:p>
        </p:txBody>
      </p:sp>
      <p:sp>
        <p:nvSpPr>
          <p:cNvPr id="280" name="Google Shape;280;p10"/>
          <p:cNvSpPr/>
          <p:nvPr/>
        </p:nvSpPr>
        <p:spPr>
          <a:xfrm>
            <a:off x="2926080" y="3886200"/>
            <a:ext cx="365760" cy="365760"/>
          </a:xfrm>
          <a:prstGeom prst="rect">
            <a:avLst/>
          </a:prstGeom>
          <a:solidFill>
            <a:srgbClr val="1F4E78"/>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2</a:t>
            </a:r>
            <a:endParaRPr sz="1600">
              <a:solidFill>
                <a:schemeClr val="dk1"/>
              </a:solidFill>
              <a:latin typeface="Arial"/>
              <a:ea typeface="Arial"/>
              <a:cs typeface="Arial"/>
              <a:sym typeface="Arial"/>
            </a:endParaRPr>
          </a:p>
        </p:txBody>
      </p:sp>
      <p:sp>
        <p:nvSpPr>
          <p:cNvPr id="281" name="Google Shape;281;p10"/>
          <p:cNvSpPr/>
          <p:nvPr/>
        </p:nvSpPr>
        <p:spPr>
          <a:xfrm>
            <a:off x="3337560" y="3886200"/>
            <a:ext cx="1645920" cy="50292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950">
                <a:solidFill>
                  <a:srgbClr val="17365D"/>
                </a:solidFill>
              </a:rPr>
              <a:t>Khả thi</a:t>
            </a:r>
            <a:br>
              <a:rPr b="1" lang="en-US" sz="950">
                <a:solidFill>
                  <a:srgbClr val="17365D"/>
                </a:solidFill>
              </a:rPr>
            </a:br>
            <a:r>
              <a:rPr b="1" lang="en-US" sz="950">
                <a:solidFill>
                  <a:srgbClr val="17365D"/>
                </a:solidFill>
              </a:rPr>
              <a:t> kỹ thuật</a:t>
            </a:r>
            <a:endParaRPr b="1" sz="950">
              <a:solidFill>
                <a:srgbClr val="17365D"/>
              </a:solidFill>
            </a:endParaRPr>
          </a:p>
        </p:txBody>
      </p:sp>
      <p:sp>
        <p:nvSpPr>
          <p:cNvPr id="282" name="Google Shape;282;p10"/>
          <p:cNvSpPr/>
          <p:nvPr/>
        </p:nvSpPr>
        <p:spPr>
          <a:xfrm>
            <a:off x="5120640" y="3886200"/>
            <a:ext cx="365760" cy="365760"/>
          </a:xfrm>
          <a:prstGeom prst="rect">
            <a:avLst/>
          </a:prstGeom>
          <a:solidFill>
            <a:srgbClr val="1F4E78"/>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3</a:t>
            </a:r>
            <a:endParaRPr sz="1600">
              <a:solidFill>
                <a:schemeClr val="dk1"/>
              </a:solidFill>
              <a:latin typeface="Arial"/>
              <a:ea typeface="Arial"/>
              <a:cs typeface="Arial"/>
              <a:sym typeface="Arial"/>
            </a:endParaRPr>
          </a:p>
        </p:txBody>
      </p:sp>
      <p:sp>
        <p:nvSpPr>
          <p:cNvPr id="283" name="Google Shape;283;p10"/>
          <p:cNvSpPr/>
          <p:nvPr/>
        </p:nvSpPr>
        <p:spPr>
          <a:xfrm>
            <a:off x="5532120" y="3886200"/>
            <a:ext cx="1645920" cy="50292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950">
                <a:solidFill>
                  <a:srgbClr val="17365D"/>
                </a:solidFill>
              </a:rPr>
              <a:t>Chọn scope</a:t>
            </a:r>
            <a:br>
              <a:rPr b="1" lang="en-US" sz="950">
                <a:solidFill>
                  <a:srgbClr val="17365D"/>
                </a:solidFill>
              </a:rPr>
            </a:br>
            <a:r>
              <a:rPr b="1" lang="en-US" sz="950">
                <a:solidFill>
                  <a:srgbClr val="17365D"/>
                </a:solidFill>
              </a:rPr>
              <a:t> &amp; level</a:t>
            </a:r>
            <a:endParaRPr b="1" sz="950">
              <a:solidFill>
                <a:srgbClr val="17365D"/>
              </a:solidFill>
            </a:endParaRPr>
          </a:p>
        </p:txBody>
      </p:sp>
      <p:sp>
        <p:nvSpPr>
          <p:cNvPr id="284" name="Google Shape;284;p10"/>
          <p:cNvSpPr/>
          <p:nvPr/>
        </p:nvSpPr>
        <p:spPr>
          <a:xfrm>
            <a:off x="7315200" y="3886200"/>
            <a:ext cx="365760" cy="365760"/>
          </a:xfrm>
          <a:prstGeom prst="rect">
            <a:avLst/>
          </a:prstGeom>
          <a:solidFill>
            <a:srgbClr val="1F4E78"/>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4</a:t>
            </a:r>
            <a:endParaRPr sz="1600">
              <a:solidFill>
                <a:schemeClr val="dk1"/>
              </a:solidFill>
              <a:latin typeface="Arial"/>
              <a:ea typeface="Arial"/>
              <a:cs typeface="Arial"/>
              <a:sym typeface="Arial"/>
            </a:endParaRPr>
          </a:p>
        </p:txBody>
      </p:sp>
      <p:sp>
        <p:nvSpPr>
          <p:cNvPr id="285" name="Google Shape;285;p10"/>
          <p:cNvSpPr/>
          <p:nvPr/>
        </p:nvSpPr>
        <p:spPr>
          <a:xfrm>
            <a:off x="7726680" y="3886200"/>
            <a:ext cx="1645920" cy="50292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950">
                <a:solidFill>
                  <a:srgbClr val="17365D"/>
                </a:solidFill>
              </a:rPr>
              <a:t>Đề xuất</a:t>
            </a:r>
            <a:br>
              <a:rPr b="1" lang="en-US" sz="950">
                <a:solidFill>
                  <a:srgbClr val="17365D"/>
                </a:solidFill>
              </a:rPr>
            </a:br>
            <a:r>
              <a:rPr b="1" lang="en-US" sz="950">
                <a:solidFill>
                  <a:srgbClr val="17365D"/>
                </a:solidFill>
              </a:rPr>
              <a:t> &amp; giá</a:t>
            </a:r>
            <a:endParaRPr b="1" sz="950">
              <a:solidFill>
                <a:srgbClr val="17365D"/>
              </a:solidFill>
            </a:endParaRPr>
          </a:p>
        </p:txBody>
      </p:sp>
      <p:sp>
        <p:nvSpPr>
          <p:cNvPr id="286" name="Google Shape;286;p10"/>
          <p:cNvSpPr/>
          <p:nvPr/>
        </p:nvSpPr>
        <p:spPr>
          <a:xfrm>
            <a:off x="9509760" y="3886200"/>
            <a:ext cx="365760" cy="365760"/>
          </a:xfrm>
          <a:prstGeom prst="rect">
            <a:avLst/>
          </a:prstGeom>
          <a:solidFill>
            <a:srgbClr val="1F4E78"/>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5</a:t>
            </a:r>
            <a:endParaRPr sz="1600">
              <a:solidFill>
                <a:schemeClr val="dk1"/>
              </a:solidFill>
              <a:latin typeface="Arial"/>
              <a:ea typeface="Arial"/>
              <a:cs typeface="Arial"/>
              <a:sym typeface="Arial"/>
            </a:endParaRPr>
          </a:p>
        </p:txBody>
      </p:sp>
      <p:sp>
        <p:nvSpPr>
          <p:cNvPr id="287" name="Google Shape;287;p10"/>
          <p:cNvSpPr/>
          <p:nvPr/>
        </p:nvSpPr>
        <p:spPr>
          <a:xfrm>
            <a:off x="9921240" y="3886200"/>
            <a:ext cx="1645920" cy="50292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950">
                <a:solidFill>
                  <a:srgbClr val="17365D"/>
                </a:solidFill>
              </a:rPr>
              <a:t>Phê duyệt</a:t>
            </a:r>
            <a:br>
              <a:rPr b="1" lang="en-US" sz="950">
                <a:solidFill>
                  <a:srgbClr val="17365D"/>
                </a:solidFill>
              </a:rPr>
            </a:br>
            <a:r>
              <a:rPr b="1" lang="en-US" sz="950">
                <a:solidFill>
                  <a:srgbClr val="17365D"/>
                </a:solidFill>
              </a:rPr>
              <a:t> &amp; hợp đồng</a:t>
            </a:r>
            <a:endParaRPr b="1" sz="950">
              <a:solidFill>
                <a:srgbClr val="17365D"/>
              </a:solidFill>
            </a:endParaRPr>
          </a:p>
        </p:txBody>
      </p:sp>
      <p:sp>
        <p:nvSpPr>
          <p:cNvPr id="288" name="Google Shape;288;p10"/>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DMU và Buying Journey là nội dung bổ sung từ Quy trình 24 bước; nếu chưa có dữ liệu thực tế thì đánh dấu cần BD/Sales xác minh.</a:t>
            </a:r>
            <a:endParaRPr sz="850">
              <a:solidFill>
                <a:schemeClr val="dk1"/>
              </a:solidFill>
              <a:latin typeface="Arial"/>
              <a:ea typeface="Arial"/>
              <a:cs typeface="Arial"/>
              <a:sym typeface="Arial"/>
            </a:endParaRPr>
          </a:p>
        </p:txBody>
      </p:sp>
      <p:sp>
        <p:nvSpPr>
          <p:cNvPr id="289" name="Google Shape;289;p10"/>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7B8794"/>
                </a:solidFill>
                <a:latin typeface="Arial"/>
                <a:ea typeface="Arial"/>
                <a:cs typeface="Arial"/>
                <a:sym typeface="Arial"/>
              </a:rPr>
              <a:t>‹#›</a:t>
            </a:fld>
            <a:endParaRPr sz="800">
              <a:solidFill>
                <a:srgbClr val="7B8794"/>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1"/>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lang="en-US" sz="2300">
                <a:solidFill>
                  <a:srgbClr val="17365D"/>
                </a:solidFill>
                <a:latin typeface="Arial"/>
                <a:ea typeface="Arial"/>
                <a:cs typeface="Arial"/>
                <a:sym typeface="Arial"/>
              </a:rPr>
              <a:t>10. SALES FAQ / OBJECTION HANDLING</a:t>
            </a:r>
            <a:endParaRPr sz="2300">
              <a:solidFill>
                <a:schemeClr val="dk1"/>
              </a:solidFill>
              <a:latin typeface="Arial"/>
              <a:ea typeface="Arial"/>
              <a:cs typeface="Arial"/>
              <a:sym typeface="Arial"/>
            </a:endParaRPr>
          </a:p>
        </p:txBody>
      </p:sp>
      <p:sp>
        <p:nvSpPr>
          <p:cNvPr id="296" name="Google Shape;296;p11"/>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lang="en-US" sz="1050">
                <a:solidFill>
                  <a:srgbClr val="637083"/>
                </a:solidFill>
                <a:latin typeface="Arial"/>
                <a:ea typeface="Arial"/>
                <a:cs typeface="Arial"/>
                <a:sym typeface="Arial"/>
              </a:rPr>
              <a:t>Những câu hỏi khách hàng thường cần được làm rõ trước khi đi tiếp?</a:t>
            </a:r>
            <a:endParaRPr sz="1050">
              <a:solidFill>
                <a:schemeClr val="dk1"/>
              </a:solidFill>
              <a:latin typeface="Arial"/>
              <a:ea typeface="Arial"/>
              <a:cs typeface="Arial"/>
              <a:sym typeface="Arial"/>
            </a:endParaRPr>
          </a:p>
        </p:txBody>
      </p:sp>
      <p:sp>
        <p:nvSpPr>
          <p:cNvPr id="297" name="Google Shape;297;p11"/>
          <p:cNvSpPr/>
          <p:nvPr/>
        </p:nvSpPr>
        <p:spPr>
          <a:xfrm>
            <a:off x="594360" y="1389888"/>
            <a:ext cx="1920240" cy="292608"/>
          </a:xfrm>
          <a:prstGeom prst="rect">
            <a:avLst/>
          </a:prstGeom>
          <a:solidFill>
            <a:srgbClr val="EAF2F8"/>
          </a:solidFill>
          <a:ln cap="flat" cmpd="sng" w="9525">
            <a:solidFill>
              <a:srgbClr val="C7D9E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F4E78"/>
              </a:buClr>
              <a:buSzPts val="850"/>
              <a:buFont typeface="Arial"/>
              <a:buNone/>
            </a:pPr>
            <a:r>
              <a:rPr b="1" lang="en-US" sz="850">
                <a:solidFill>
                  <a:srgbClr val="1F4E78"/>
                </a:solidFill>
                <a:latin typeface="Arial"/>
                <a:ea typeface="Arial"/>
                <a:cs typeface="Arial"/>
                <a:sym typeface="Arial"/>
              </a:rPr>
              <a:t>HANDLE QUESTIONS</a:t>
            </a:r>
            <a:endParaRPr sz="850">
              <a:solidFill>
                <a:schemeClr val="dk1"/>
              </a:solidFill>
              <a:latin typeface="Arial"/>
              <a:ea typeface="Arial"/>
              <a:cs typeface="Arial"/>
              <a:sym typeface="Arial"/>
            </a:endParaRPr>
          </a:p>
        </p:txBody>
      </p:sp>
      <p:sp>
        <p:nvSpPr>
          <p:cNvPr id="298" name="Google Shape;298;p11"/>
          <p:cNvSpPr/>
          <p:nvPr/>
        </p:nvSpPr>
        <p:spPr>
          <a:xfrm>
            <a:off x="685800" y="1737360"/>
            <a:ext cx="516636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685800" y="1737360"/>
            <a:ext cx="64008" cy="14173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886968" y="190195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Câu hỏi 1</a:t>
            </a:r>
            <a:endParaRPr sz="1200">
              <a:solidFill>
                <a:schemeClr val="dk1"/>
              </a:solidFill>
              <a:latin typeface="Arial"/>
              <a:ea typeface="Arial"/>
              <a:cs typeface="Arial"/>
              <a:sym typeface="Arial"/>
            </a:endParaRPr>
          </a:p>
        </p:txBody>
      </p:sp>
      <p:sp>
        <p:nvSpPr>
          <p:cNvPr id="301" name="Google Shape;301;p11"/>
          <p:cNvSpPr/>
          <p:nvPr/>
        </p:nvSpPr>
        <p:spPr>
          <a:xfrm>
            <a:off x="886968" y="2267712"/>
            <a:ext cx="481888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Các dải phổ hỗ trợ chỉ số thực vật; RGB phù hợp sàng lọc hình thái nhưng hạn chế về tín hiệu quang phổ.</a:t>
            </a:r>
            <a:endParaRPr sz="950">
              <a:solidFill>
                <a:srgbClr val="25364A"/>
              </a:solidFill>
            </a:endParaRPr>
          </a:p>
        </p:txBody>
      </p:sp>
      <p:sp>
        <p:nvSpPr>
          <p:cNvPr id="302" name="Google Shape;302;p11"/>
          <p:cNvSpPr/>
          <p:nvPr/>
        </p:nvSpPr>
        <p:spPr>
          <a:xfrm>
            <a:off x="6217920" y="1737360"/>
            <a:ext cx="516636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6217920" y="1737360"/>
            <a:ext cx="64008" cy="14173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6419088" y="190195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Câu hỏi 2</a:t>
            </a:r>
            <a:endParaRPr sz="1200">
              <a:solidFill>
                <a:schemeClr val="dk1"/>
              </a:solidFill>
              <a:latin typeface="Arial"/>
              <a:ea typeface="Arial"/>
              <a:cs typeface="Arial"/>
              <a:sym typeface="Arial"/>
            </a:endParaRPr>
          </a:p>
        </p:txBody>
      </p:sp>
      <p:sp>
        <p:nvSpPr>
          <p:cNvPr id="305" name="Google Shape;305;p11"/>
          <p:cNvSpPr/>
          <p:nvPr/>
        </p:nvSpPr>
        <p:spPr>
          <a:xfrm>
            <a:off x="6419088" y="2267712"/>
            <a:ext cx="481888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Không tự động. Dữ liệu UAV khoanh vùng bất thường; nguyên nhân cần kiểm tra thực địa và chuyên gia.</a:t>
            </a:r>
            <a:endParaRPr sz="950">
              <a:solidFill>
                <a:srgbClr val="25364A"/>
              </a:solidFill>
            </a:endParaRPr>
          </a:p>
        </p:txBody>
      </p:sp>
      <p:sp>
        <p:nvSpPr>
          <p:cNvPr id="306" name="Google Shape;306;p11"/>
          <p:cNvSpPr/>
          <p:nvPr/>
        </p:nvSpPr>
        <p:spPr>
          <a:xfrm>
            <a:off x="685800" y="3566160"/>
            <a:ext cx="516636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685800" y="3566160"/>
            <a:ext cx="64008" cy="1417320"/>
          </a:xfrm>
          <a:prstGeom prst="rect">
            <a:avLst/>
          </a:prstGeom>
          <a:solidFill>
            <a:srgbClr val="1F4E78"/>
          </a:solidFill>
          <a:ln cap="flat" cmpd="sng" w="12700">
            <a:solidFill>
              <a:srgbClr val="1F4E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886968" y="373075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Câu hỏi 3</a:t>
            </a:r>
            <a:endParaRPr sz="1200">
              <a:solidFill>
                <a:schemeClr val="dk1"/>
              </a:solidFill>
              <a:latin typeface="Arial"/>
              <a:ea typeface="Arial"/>
              <a:cs typeface="Arial"/>
              <a:sym typeface="Arial"/>
            </a:endParaRPr>
          </a:p>
        </p:txBody>
      </p:sp>
      <p:sp>
        <p:nvSpPr>
          <p:cNvPr id="309" name="Google Shape;309;p11"/>
          <p:cNvSpPr/>
          <p:nvPr/>
        </p:nvSpPr>
        <p:spPr>
          <a:xfrm>
            <a:off x="886968" y="4096512"/>
            <a:ext cx="481888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Không phải mọi trường hợp. NDVI có thể bão hòa; cân nhắc NDRE, GNDVI hoặc SAVI theo mục tiêu và cảm biến.</a:t>
            </a:r>
            <a:endParaRPr sz="950">
              <a:solidFill>
                <a:srgbClr val="25364A"/>
              </a:solidFill>
            </a:endParaRPr>
          </a:p>
        </p:txBody>
      </p:sp>
      <p:sp>
        <p:nvSpPr>
          <p:cNvPr id="310" name="Google Shape;310;p11"/>
          <p:cNvSpPr/>
          <p:nvPr/>
        </p:nvSpPr>
        <p:spPr>
          <a:xfrm>
            <a:off x="6217920" y="3566160"/>
            <a:ext cx="5166360" cy="1417320"/>
          </a:xfrm>
          <a:prstGeom prst="roundRect">
            <a:avLst>
              <a:gd fmla="val 3226"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6217920" y="3566160"/>
            <a:ext cx="64008" cy="1417320"/>
          </a:xfrm>
          <a:prstGeom prst="rect">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6419088" y="3730752"/>
            <a:ext cx="48188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Câu hỏi 4</a:t>
            </a:r>
            <a:endParaRPr sz="1200">
              <a:solidFill>
                <a:schemeClr val="dk1"/>
              </a:solidFill>
              <a:latin typeface="Arial"/>
              <a:ea typeface="Arial"/>
              <a:cs typeface="Arial"/>
              <a:sym typeface="Arial"/>
            </a:endParaRPr>
          </a:p>
        </p:txBody>
      </p:sp>
      <p:sp>
        <p:nvSpPr>
          <p:cNvPr id="313" name="Google Shape;313;p11"/>
          <p:cNvSpPr/>
          <p:nvPr/>
        </p:nvSpPr>
        <p:spPr>
          <a:xfrm>
            <a:off x="6419088" y="4096512"/>
            <a:ext cx="4818888" cy="75895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Không trực tiếp. Cần mô hình sinh khối/carbon được hiệu chuẩn và quy trình MRV phù hợp.</a:t>
            </a:r>
            <a:endParaRPr sz="950">
              <a:solidFill>
                <a:srgbClr val="25364A"/>
              </a:solidFill>
            </a:endParaRPr>
          </a:p>
        </p:txBody>
      </p:sp>
      <p:sp>
        <p:nvSpPr>
          <p:cNvPr id="314" name="Google Shape;314;p11"/>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Nếu không có câu trả lời chắc chắn: ghi [CẦN GASCOLAE XÁC NHẬN], không tự trả lời.</a:t>
            </a:r>
            <a:endParaRPr sz="850">
              <a:solidFill>
                <a:schemeClr val="dk1"/>
              </a:solidFill>
              <a:latin typeface="Arial"/>
              <a:ea typeface="Arial"/>
              <a:cs typeface="Arial"/>
              <a:sym typeface="Arial"/>
            </a:endParaRPr>
          </a:p>
        </p:txBody>
      </p:sp>
      <p:sp>
        <p:nvSpPr>
          <p:cNvPr id="315" name="Google Shape;315;p11"/>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7B8794"/>
                </a:solidFill>
                <a:latin typeface="Arial"/>
                <a:ea typeface="Arial"/>
                <a:cs typeface="Arial"/>
                <a:sym typeface="Arial"/>
              </a:rPr>
              <a:t>‹#›</a:t>
            </a:fld>
            <a:endParaRPr sz="800">
              <a:solidFill>
                <a:srgbClr val="7B8794"/>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2"/>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lang="en-US" sz="2300">
                <a:solidFill>
                  <a:srgbClr val="17365D"/>
                </a:solidFill>
                <a:latin typeface="Arial"/>
                <a:ea typeface="Arial"/>
                <a:cs typeface="Arial"/>
                <a:sym typeface="Arial"/>
              </a:rPr>
              <a:t>11. NEXT STEP / CALL TO ACTION</a:t>
            </a:r>
            <a:endParaRPr sz="2300">
              <a:solidFill>
                <a:schemeClr val="dk1"/>
              </a:solidFill>
              <a:latin typeface="Arial"/>
              <a:ea typeface="Arial"/>
              <a:cs typeface="Arial"/>
              <a:sym typeface="Arial"/>
            </a:endParaRPr>
          </a:p>
        </p:txBody>
      </p:sp>
      <p:sp>
        <p:nvSpPr>
          <p:cNvPr id="322" name="Google Shape;322;p12"/>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lang="en-US" sz="1050">
                <a:solidFill>
                  <a:srgbClr val="637083"/>
                </a:solidFill>
                <a:latin typeface="Arial"/>
                <a:ea typeface="Arial"/>
                <a:cs typeface="Arial"/>
                <a:sym typeface="Arial"/>
              </a:rPr>
              <a:t>Khách hàng và GASCOLAE cần làm gì tiếp theo?</a:t>
            </a:r>
            <a:endParaRPr sz="1050">
              <a:solidFill>
                <a:schemeClr val="dk1"/>
              </a:solidFill>
              <a:latin typeface="Arial"/>
              <a:ea typeface="Arial"/>
              <a:cs typeface="Arial"/>
              <a:sym typeface="Arial"/>
            </a:endParaRPr>
          </a:p>
        </p:txBody>
      </p:sp>
      <p:sp>
        <p:nvSpPr>
          <p:cNvPr id="323" name="Google Shape;323;p12"/>
          <p:cNvSpPr/>
          <p:nvPr/>
        </p:nvSpPr>
        <p:spPr>
          <a:xfrm>
            <a:off x="594360" y="1389888"/>
            <a:ext cx="1920240" cy="292608"/>
          </a:xfrm>
          <a:prstGeom prst="rect">
            <a:avLst/>
          </a:prstGeom>
          <a:solidFill>
            <a:srgbClr val="EAF2F8"/>
          </a:solidFill>
          <a:ln cap="flat" cmpd="sng" w="9525">
            <a:solidFill>
              <a:srgbClr val="C7D9EA"/>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1F4E78"/>
              </a:buClr>
              <a:buSzPts val="850"/>
              <a:buFont typeface="Arial"/>
              <a:buNone/>
            </a:pPr>
            <a:r>
              <a:rPr b="1" lang="en-US" sz="850">
                <a:solidFill>
                  <a:srgbClr val="1F4E78"/>
                </a:solidFill>
                <a:latin typeface="Arial"/>
                <a:ea typeface="Arial"/>
                <a:cs typeface="Arial"/>
                <a:sym typeface="Arial"/>
              </a:rPr>
              <a:t>MOVE FORWARD</a:t>
            </a:r>
            <a:endParaRPr sz="850">
              <a:solidFill>
                <a:schemeClr val="dk1"/>
              </a:solidFill>
              <a:latin typeface="Arial"/>
              <a:ea typeface="Arial"/>
              <a:cs typeface="Arial"/>
              <a:sym typeface="Arial"/>
            </a:endParaRPr>
          </a:p>
        </p:txBody>
      </p:sp>
      <p:sp>
        <p:nvSpPr>
          <p:cNvPr id="324" name="Google Shape;324;p12"/>
          <p:cNvSpPr/>
          <p:nvPr/>
        </p:nvSpPr>
        <p:spPr>
          <a:xfrm>
            <a:off x="777240" y="1691640"/>
            <a:ext cx="411480" cy="411480"/>
          </a:xfrm>
          <a:prstGeom prst="rect">
            <a:avLst/>
          </a:prstGeom>
          <a:solidFill>
            <a:srgbClr val="1F4E78"/>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1</a:t>
            </a:r>
            <a:endParaRPr sz="1500">
              <a:solidFill>
                <a:schemeClr val="dk1"/>
              </a:solidFill>
              <a:latin typeface="Arial"/>
              <a:ea typeface="Arial"/>
              <a:cs typeface="Arial"/>
              <a:sym typeface="Arial"/>
            </a:endParaRPr>
          </a:p>
        </p:txBody>
      </p:sp>
      <p:sp>
        <p:nvSpPr>
          <p:cNvPr id="325" name="Google Shape;325;p12"/>
          <p:cNvSpPr/>
          <p:nvPr/>
        </p:nvSpPr>
        <p:spPr>
          <a:xfrm>
            <a:off x="1371600" y="1719072"/>
            <a:ext cx="6675120" cy="32004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rgbClr val="17365D"/>
                </a:solidFill>
              </a:rPr>
              <a:t>Xác nhận mục tiêu giám sát và AOI</a:t>
            </a:r>
            <a:endParaRPr sz="1100">
              <a:solidFill>
                <a:srgbClr val="17365D"/>
              </a:solidFill>
            </a:endParaRPr>
          </a:p>
        </p:txBody>
      </p:sp>
      <p:sp>
        <p:nvSpPr>
          <p:cNvPr id="326" name="Google Shape;326;p12"/>
          <p:cNvSpPr/>
          <p:nvPr/>
        </p:nvSpPr>
        <p:spPr>
          <a:xfrm>
            <a:off x="777240" y="2441448"/>
            <a:ext cx="411480" cy="411480"/>
          </a:xfrm>
          <a:prstGeom prst="rect">
            <a:avLst/>
          </a:prstGeom>
          <a:solidFill>
            <a:srgbClr val="1F4E78"/>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2</a:t>
            </a:r>
            <a:endParaRPr sz="1500">
              <a:solidFill>
                <a:schemeClr val="dk1"/>
              </a:solidFill>
              <a:latin typeface="Arial"/>
              <a:ea typeface="Arial"/>
              <a:cs typeface="Arial"/>
              <a:sym typeface="Arial"/>
            </a:endParaRPr>
          </a:p>
        </p:txBody>
      </p:sp>
      <p:sp>
        <p:nvSpPr>
          <p:cNvPr id="327" name="Google Shape;327;p12"/>
          <p:cNvSpPr/>
          <p:nvPr/>
        </p:nvSpPr>
        <p:spPr>
          <a:xfrm>
            <a:off x="1371600" y="2468880"/>
            <a:ext cx="6675120" cy="32004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rgbClr val="17365D"/>
                </a:solidFill>
              </a:rPr>
              <a:t>Cung cấp dữ liệu nền, chu kỳ và ràng buộc hiện trường</a:t>
            </a:r>
            <a:endParaRPr sz="1100">
              <a:solidFill>
                <a:srgbClr val="17365D"/>
              </a:solidFill>
            </a:endParaRPr>
          </a:p>
        </p:txBody>
      </p:sp>
      <p:sp>
        <p:nvSpPr>
          <p:cNvPr id="328" name="Google Shape;328;p12"/>
          <p:cNvSpPr/>
          <p:nvPr/>
        </p:nvSpPr>
        <p:spPr>
          <a:xfrm>
            <a:off x="777240" y="3191256"/>
            <a:ext cx="411480" cy="411480"/>
          </a:xfrm>
          <a:prstGeom prst="rect">
            <a:avLst/>
          </a:prstGeom>
          <a:solidFill>
            <a:srgbClr val="1F4E78"/>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3</a:t>
            </a:r>
            <a:endParaRPr sz="1500">
              <a:solidFill>
                <a:schemeClr val="dk1"/>
              </a:solidFill>
              <a:latin typeface="Arial"/>
              <a:ea typeface="Arial"/>
              <a:cs typeface="Arial"/>
              <a:sym typeface="Arial"/>
            </a:endParaRPr>
          </a:p>
        </p:txBody>
      </p:sp>
      <p:sp>
        <p:nvSpPr>
          <p:cNvPr id="329" name="Google Shape;329;p12"/>
          <p:cNvSpPr/>
          <p:nvPr/>
        </p:nvSpPr>
        <p:spPr>
          <a:xfrm>
            <a:off x="1371600" y="3218688"/>
            <a:ext cx="6675120" cy="32004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rgbClr val="17365D"/>
                </a:solidFill>
              </a:rPr>
              <a:t>Khởi động LEVEL 1 — Pilot / Basic</a:t>
            </a:r>
            <a:endParaRPr sz="1100">
              <a:solidFill>
                <a:srgbClr val="17365D"/>
              </a:solidFill>
            </a:endParaRPr>
          </a:p>
        </p:txBody>
      </p:sp>
      <p:sp>
        <p:nvSpPr>
          <p:cNvPr id="330" name="Google Shape;330;p12"/>
          <p:cNvSpPr/>
          <p:nvPr/>
        </p:nvSpPr>
        <p:spPr>
          <a:xfrm>
            <a:off x="777240" y="3941064"/>
            <a:ext cx="411480" cy="411480"/>
          </a:xfrm>
          <a:prstGeom prst="rect">
            <a:avLst/>
          </a:prstGeom>
          <a:solidFill>
            <a:srgbClr val="1F4E78"/>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4</a:t>
            </a:r>
            <a:endParaRPr sz="1500">
              <a:solidFill>
                <a:schemeClr val="dk1"/>
              </a:solidFill>
              <a:latin typeface="Arial"/>
              <a:ea typeface="Arial"/>
              <a:cs typeface="Arial"/>
              <a:sym typeface="Arial"/>
            </a:endParaRPr>
          </a:p>
        </p:txBody>
      </p:sp>
      <p:sp>
        <p:nvSpPr>
          <p:cNvPr id="331" name="Google Shape;331;p12"/>
          <p:cNvSpPr/>
          <p:nvPr/>
        </p:nvSpPr>
        <p:spPr>
          <a:xfrm>
            <a:off x="1371600" y="3968496"/>
            <a:ext cx="6675120" cy="32004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rgbClr val="17365D"/>
                </a:solidFill>
              </a:rPr>
              <a:t>Chốt phạm vi kỹ thuật; báo giá theo File 07 đã duyệt</a:t>
            </a:r>
            <a:endParaRPr sz="1100">
              <a:solidFill>
                <a:srgbClr val="17365D"/>
              </a:solidFill>
            </a:endParaRPr>
          </a:p>
        </p:txBody>
      </p:sp>
      <p:sp>
        <p:nvSpPr>
          <p:cNvPr id="332" name="Google Shape;332;p12"/>
          <p:cNvSpPr/>
          <p:nvPr/>
        </p:nvSpPr>
        <p:spPr>
          <a:xfrm>
            <a:off x="777240" y="4690872"/>
            <a:ext cx="411480" cy="411480"/>
          </a:xfrm>
          <a:prstGeom prst="rect">
            <a:avLst/>
          </a:prstGeom>
          <a:solidFill>
            <a:srgbClr val="C89B3C"/>
          </a:solid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5</a:t>
            </a:r>
            <a:endParaRPr sz="1500">
              <a:solidFill>
                <a:schemeClr val="dk1"/>
              </a:solidFill>
              <a:latin typeface="Arial"/>
              <a:ea typeface="Arial"/>
              <a:cs typeface="Arial"/>
              <a:sym typeface="Arial"/>
            </a:endParaRPr>
          </a:p>
        </p:txBody>
      </p:sp>
      <p:sp>
        <p:nvSpPr>
          <p:cNvPr id="333" name="Google Shape;333;p12"/>
          <p:cNvSpPr/>
          <p:nvPr/>
        </p:nvSpPr>
        <p:spPr>
          <a:xfrm>
            <a:off x="1371600" y="4718304"/>
            <a:ext cx="6675120" cy="32004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1100">
                <a:solidFill>
                  <a:srgbClr val="17365D"/>
                </a:solidFill>
              </a:rPr>
              <a:t>Phát hành đề xuất, hợp đồng và lịch triển khai</a:t>
            </a:r>
            <a:endParaRPr b="1" sz="1100">
              <a:solidFill>
                <a:srgbClr val="17365D"/>
              </a:solidFill>
            </a:endParaRPr>
          </a:p>
        </p:txBody>
      </p:sp>
      <p:sp>
        <p:nvSpPr>
          <p:cNvPr id="334" name="Google Shape;334;p12"/>
          <p:cNvSpPr/>
          <p:nvPr/>
        </p:nvSpPr>
        <p:spPr>
          <a:xfrm>
            <a:off x="8458200" y="1691640"/>
            <a:ext cx="2971800" cy="3566160"/>
          </a:xfrm>
          <a:prstGeom prst="roundRect">
            <a:avLst>
              <a:gd fmla="val 1538" name="adj"/>
            </a:avLst>
          </a:prstGeom>
          <a:solidFill>
            <a:srgbClr val="FFFFFF"/>
          </a:solidFill>
          <a:ln cap="flat" cmpd="sng" w="12700">
            <a:solidFill>
              <a:srgbClr val="D9E2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
          <p:cNvSpPr/>
          <p:nvPr/>
        </p:nvSpPr>
        <p:spPr>
          <a:xfrm>
            <a:off x="8458200" y="1691640"/>
            <a:ext cx="64008" cy="3566160"/>
          </a:xfrm>
          <a:prstGeom prst="rect">
            <a:avLst/>
          </a:prstGeom>
          <a:solidFill>
            <a:srgbClr val="548235"/>
          </a:solidFill>
          <a:ln cap="flat" cmpd="sng" w="12700">
            <a:solidFill>
              <a:srgbClr val="5482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2"/>
          <p:cNvSpPr/>
          <p:nvPr/>
        </p:nvSpPr>
        <p:spPr>
          <a:xfrm>
            <a:off x="8659368" y="1856232"/>
            <a:ext cx="262432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SOURCE TRACEABILITY</a:t>
            </a:r>
            <a:endParaRPr sz="1200">
              <a:solidFill>
                <a:schemeClr val="dk1"/>
              </a:solidFill>
              <a:latin typeface="Arial"/>
              <a:ea typeface="Arial"/>
              <a:cs typeface="Arial"/>
              <a:sym typeface="Arial"/>
            </a:endParaRPr>
          </a:p>
        </p:txBody>
      </p:sp>
      <p:sp>
        <p:nvSpPr>
          <p:cNvPr id="337" name="Google Shape;337;p12"/>
          <p:cNvSpPr/>
          <p:nvPr/>
        </p:nvSpPr>
        <p:spPr>
          <a:xfrm>
            <a:off x="8659368" y="2221992"/>
            <a:ext cx="2624328" cy="2907792"/>
          </a:xfrm>
          <a:prstGeom prst="rect">
            <a:avLst/>
          </a:prstGeom>
          <a:noFill/>
          <a:ln>
            <a:noFill/>
          </a:ln>
        </p:spPr>
        <p:txBody>
          <a:bodyPr anchorCtr="0" anchor="ctr" bIns="250" lIns="250" spcFirstLastPara="1" rIns="250" wrap="square" tIns="250">
            <a:noAutofit/>
          </a:bodyPr>
          <a:lstStyle/>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 File 00 — Research Workbook</a:t>
            </a:r>
            <a:endParaRPr sz="950">
              <a:solidFill>
                <a:srgbClr val="25364A"/>
              </a:solidFill>
            </a:endParaRPr>
          </a:p>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 File 01 — Knowledge Base</a:t>
            </a:r>
            <a:endParaRPr sz="950">
              <a:solidFill>
                <a:srgbClr val="25364A"/>
              </a:solidFill>
            </a:endParaRPr>
          </a:p>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 File 02 — Service Profile</a:t>
            </a:r>
            <a:endParaRPr sz="950">
              <a:solidFill>
                <a:srgbClr val="25364A"/>
              </a:solidFill>
            </a:endParaRPr>
          </a:p>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 File 04 — SOP Checklist</a:t>
            </a:r>
            <a:endParaRPr sz="950">
              <a:solidFill>
                <a:srgbClr val="25364A"/>
              </a:solidFill>
            </a:endParaRPr>
          </a:p>
          <a:p>
            <a:pPr indent="0" lvl="0" marL="0" rtl="0" algn="l">
              <a:lnSpc>
                <a:spcPct val="115000"/>
              </a:lnSpc>
              <a:spcBef>
                <a:spcPts val="0"/>
              </a:spcBef>
              <a:spcAft>
                <a:spcPts val="0"/>
              </a:spcAft>
              <a:buClr>
                <a:schemeClr val="dk1"/>
              </a:buClr>
              <a:buSzPts val="1100"/>
              <a:buFont typeface="Arial"/>
              <a:buNone/>
            </a:pPr>
            <a:r>
              <a:rPr lang="en-US" sz="950">
                <a:solidFill>
                  <a:srgbClr val="25364A"/>
                </a:solidFill>
              </a:rPr>
              <a:t>• File 03 — Metadata Catalog</a:t>
            </a:r>
            <a:br>
              <a:rPr lang="en-US" sz="950">
                <a:solidFill>
                  <a:srgbClr val="25364A"/>
                </a:solidFill>
              </a:rPr>
            </a:br>
            <a:r>
              <a:rPr lang="en-US" sz="950">
                <a:solidFill>
                  <a:srgbClr val="25364A"/>
                </a:solidFill>
              </a:rPr>
              <a:t> • File 05 — Service Proposal</a:t>
            </a:r>
            <a:endParaRPr sz="950">
              <a:solidFill>
                <a:srgbClr val="25364A"/>
              </a:solidFill>
            </a:endParaRPr>
          </a:p>
          <a:p>
            <a:pPr indent="0" lvl="0" marL="0" marR="0" rtl="0" algn="l">
              <a:spcBef>
                <a:spcPts val="0"/>
              </a:spcBef>
              <a:spcAft>
                <a:spcPts val="0"/>
              </a:spcAft>
              <a:buNone/>
            </a:pPr>
            <a:r>
              <a:t/>
            </a:r>
            <a:endParaRPr sz="950">
              <a:solidFill>
                <a:srgbClr val="25364A"/>
              </a:solidFill>
            </a:endParaRPr>
          </a:p>
        </p:txBody>
      </p:sp>
      <p:sp>
        <p:nvSpPr>
          <p:cNvPr id="338" name="Google Shape;338;p12"/>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Sales Kit phải truy ngược được về Group 1/Research Workbook.</a:t>
            </a:r>
            <a:endParaRPr sz="850">
              <a:solidFill>
                <a:schemeClr val="dk1"/>
              </a:solidFill>
              <a:latin typeface="Arial"/>
              <a:ea typeface="Arial"/>
              <a:cs typeface="Arial"/>
              <a:sym typeface="Arial"/>
            </a:endParaRPr>
          </a:p>
        </p:txBody>
      </p:sp>
      <p:sp>
        <p:nvSpPr>
          <p:cNvPr id="339" name="Google Shape;339;p12"/>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7B8794"/>
                </a:solidFill>
                <a:latin typeface="Arial"/>
                <a:ea typeface="Arial"/>
                <a:cs typeface="Arial"/>
                <a:sym typeface="Arial"/>
              </a:rPr>
              <a:t>‹#›</a:t>
            </a:fld>
            <a:endParaRPr sz="800">
              <a:solidFill>
                <a:srgbClr val="7B8794"/>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3"/>
          <p:cNvSpPr/>
          <p:nvPr/>
        </p:nvSpPr>
        <p:spPr>
          <a:xfrm>
            <a:off x="566928" y="530352"/>
            <a:ext cx="11018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65D"/>
              </a:buClr>
              <a:buSzPts val="2300"/>
              <a:buFont typeface="Arial"/>
              <a:buNone/>
            </a:pPr>
            <a:r>
              <a:rPr b="1" lang="en-US" sz="2300">
                <a:solidFill>
                  <a:srgbClr val="17365D"/>
                </a:solidFill>
                <a:latin typeface="Arial"/>
                <a:ea typeface="Arial"/>
                <a:cs typeface="Arial"/>
                <a:sym typeface="Arial"/>
              </a:rPr>
              <a:t>12. CHECKLIST TRƯỚC KHI NỘP</a:t>
            </a:r>
            <a:endParaRPr sz="2300">
              <a:solidFill>
                <a:schemeClr val="dk1"/>
              </a:solidFill>
              <a:latin typeface="Arial"/>
              <a:ea typeface="Arial"/>
              <a:cs typeface="Arial"/>
              <a:sym typeface="Arial"/>
            </a:endParaRPr>
          </a:p>
        </p:txBody>
      </p:sp>
      <p:sp>
        <p:nvSpPr>
          <p:cNvPr id="346" name="Google Shape;346;p13"/>
          <p:cNvSpPr/>
          <p:nvPr/>
        </p:nvSpPr>
        <p:spPr>
          <a:xfrm>
            <a:off x="585216" y="987552"/>
            <a:ext cx="10881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083"/>
              </a:buClr>
              <a:buSzPts val="1050"/>
              <a:buFont typeface="Arial"/>
              <a:buNone/>
            </a:pPr>
            <a:r>
              <a:rPr lang="en-US" sz="1050">
                <a:solidFill>
                  <a:srgbClr val="637083"/>
                </a:solidFill>
                <a:latin typeface="Arial"/>
                <a:ea typeface="Arial"/>
                <a:cs typeface="Arial"/>
                <a:sym typeface="Arial"/>
              </a:rPr>
              <a:t>Sinh viên tự kiểm tra Sales Kit trước khi submit.</a:t>
            </a:r>
            <a:endParaRPr sz="1050">
              <a:solidFill>
                <a:schemeClr val="dk1"/>
              </a:solidFill>
              <a:latin typeface="Arial"/>
              <a:ea typeface="Arial"/>
              <a:cs typeface="Arial"/>
              <a:sym typeface="Arial"/>
            </a:endParaRPr>
          </a:p>
        </p:txBody>
      </p:sp>
      <p:sp>
        <p:nvSpPr>
          <p:cNvPr id="347" name="Google Shape;347;p13"/>
          <p:cNvSpPr/>
          <p:nvPr/>
        </p:nvSpPr>
        <p:spPr>
          <a:xfrm>
            <a:off x="731520" y="1508760"/>
            <a:ext cx="320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400"/>
              <a:buFont typeface="Arial"/>
              <a:buNone/>
            </a:pPr>
            <a:r>
              <a:rPr lang="en-US">
                <a:solidFill>
                  <a:srgbClr val="1F4E78"/>
                </a:solidFill>
              </a:rPr>
              <a:t>☑</a:t>
            </a:r>
            <a:r>
              <a:rPr lang="en-US" sz="1100">
                <a:solidFill>
                  <a:schemeClr val="dk1"/>
                </a:solidFill>
              </a:rPr>
              <a:t> </a:t>
            </a:r>
            <a:endParaRPr sz="1400">
              <a:solidFill>
                <a:schemeClr val="dk1"/>
              </a:solidFill>
              <a:latin typeface="Arial"/>
              <a:ea typeface="Arial"/>
              <a:cs typeface="Arial"/>
              <a:sym typeface="Arial"/>
            </a:endParaRPr>
          </a:p>
        </p:txBody>
      </p:sp>
      <p:sp>
        <p:nvSpPr>
          <p:cNvPr id="348" name="Google Shape;348;p13"/>
          <p:cNvSpPr/>
          <p:nvPr/>
        </p:nvSpPr>
        <p:spPr>
          <a:xfrm>
            <a:off x="1097280" y="1508760"/>
            <a:ext cx="4800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364A"/>
              </a:buClr>
              <a:buSzPts val="970"/>
              <a:buFont typeface="Arial"/>
              <a:buNone/>
            </a:pPr>
            <a:r>
              <a:rPr lang="en-US" sz="970">
                <a:solidFill>
                  <a:srgbClr val="25364A"/>
                </a:solidFill>
                <a:latin typeface="Arial"/>
                <a:ea typeface="Arial"/>
                <a:cs typeface="Arial"/>
                <a:sym typeface="Arial"/>
              </a:rPr>
              <a:t>Đúng Service ID / tên service</a:t>
            </a:r>
            <a:endParaRPr sz="970">
              <a:solidFill>
                <a:schemeClr val="dk1"/>
              </a:solidFill>
              <a:latin typeface="Arial"/>
              <a:ea typeface="Arial"/>
              <a:cs typeface="Arial"/>
              <a:sym typeface="Arial"/>
            </a:endParaRPr>
          </a:p>
        </p:txBody>
      </p:sp>
      <p:sp>
        <p:nvSpPr>
          <p:cNvPr id="349" name="Google Shape;349;p13"/>
          <p:cNvSpPr/>
          <p:nvPr/>
        </p:nvSpPr>
        <p:spPr>
          <a:xfrm>
            <a:off x="731520" y="2167128"/>
            <a:ext cx="320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400"/>
              <a:buFont typeface="Arial"/>
              <a:buNone/>
            </a:pPr>
            <a:r>
              <a:rPr lang="en-US">
                <a:solidFill>
                  <a:srgbClr val="1F4E78"/>
                </a:solidFill>
              </a:rPr>
              <a:t>☑</a:t>
            </a:r>
            <a:r>
              <a:rPr lang="en-US" sz="1100">
                <a:solidFill>
                  <a:schemeClr val="dk1"/>
                </a:solidFill>
              </a:rPr>
              <a:t> </a:t>
            </a:r>
            <a:endParaRPr sz="1400">
              <a:solidFill>
                <a:schemeClr val="dk1"/>
              </a:solidFill>
              <a:latin typeface="Arial"/>
              <a:ea typeface="Arial"/>
              <a:cs typeface="Arial"/>
              <a:sym typeface="Arial"/>
            </a:endParaRPr>
          </a:p>
        </p:txBody>
      </p:sp>
      <p:sp>
        <p:nvSpPr>
          <p:cNvPr id="350" name="Google Shape;350;p13"/>
          <p:cNvSpPr/>
          <p:nvPr/>
        </p:nvSpPr>
        <p:spPr>
          <a:xfrm>
            <a:off x="1097280" y="2167128"/>
            <a:ext cx="4800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364A"/>
              </a:buClr>
              <a:buSzPts val="970"/>
              <a:buFont typeface="Arial"/>
              <a:buNone/>
            </a:pPr>
            <a:r>
              <a:rPr lang="en-US" sz="970">
                <a:solidFill>
                  <a:srgbClr val="25364A"/>
                </a:solidFill>
                <a:latin typeface="Arial"/>
                <a:ea typeface="Arial"/>
                <a:cs typeface="Arial"/>
                <a:sym typeface="Arial"/>
              </a:rPr>
              <a:t>Target Customer có căn cứ</a:t>
            </a:r>
            <a:endParaRPr sz="970">
              <a:solidFill>
                <a:schemeClr val="dk1"/>
              </a:solidFill>
              <a:latin typeface="Arial"/>
              <a:ea typeface="Arial"/>
              <a:cs typeface="Arial"/>
              <a:sym typeface="Arial"/>
            </a:endParaRPr>
          </a:p>
        </p:txBody>
      </p:sp>
      <p:sp>
        <p:nvSpPr>
          <p:cNvPr id="351" name="Google Shape;351;p13"/>
          <p:cNvSpPr/>
          <p:nvPr/>
        </p:nvSpPr>
        <p:spPr>
          <a:xfrm>
            <a:off x="731520" y="2825496"/>
            <a:ext cx="320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400"/>
              <a:buFont typeface="Arial"/>
              <a:buNone/>
            </a:pPr>
            <a:r>
              <a:rPr lang="en-US">
                <a:solidFill>
                  <a:srgbClr val="1F4E78"/>
                </a:solidFill>
              </a:rPr>
              <a:t>☑</a:t>
            </a:r>
            <a:r>
              <a:rPr lang="en-US" sz="1100">
                <a:solidFill>
                  <a:schemeClr val="dk1"/>
                </a:solidFill>
              </a:rPr>
              <a:t> </a:t>
            </a:r>
            <a:endParaRPr sz="1400">
              <a:solidFill>
                <a:schemeClr val="dk1"/>
              </a:solidFill>
              <a:latin typeface="Arial"/>
              <a:ea typeface="Arial"/>
              <a:cs typeface="Arial"/>
              <a:sym typeface="Arial"/>
            </a:endParaRPr>
          </a:p>
        </p:txBody>
      </p:sp>
      <p:sp>
        <p:nvSpPr>
          <p:cNvPr id="352" name="Google Shape;352;p13"/>
          <p:cNvSpPr/>
          <p:nvPr/>
        </p:nvSpPr>
        <p:spPr>
          <a:xfrm>
            <a:off x="1097280" y="2825496"/>
            <a:ext cx="4800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364A"/>
              </a:buClr>
              <a:buSzPts val="970"/>
              <a:buFont typeface="Arial"/>
              <a:buNone/>
            </a:pPr>
            <a:r>
              <a:rPr lang="en-US" sz="970">
                <a:solidFill>
                  <a:srgbClr val="25364A"/>
                </a:solidFill>
                <a:latin typeface="Arial"/>
                <a:ea typeface="Arial"/>
                <a:cs typeface="Arial"/>
                <a:sym typeface="Arial"/>
              </a:rPr>
              <a:t>Problem và Value Proposition thống nhất Group 1</a:t>
            </a:r>
            <a:endParaRPr sz="970">
              <a:solidFill>
                <a:schemeClr val="dk1"/>
              </a:solidFill>
              <a:latin typeface="Arial"/>
              <a:ea typeface="Arial"/>
              <a:cs typeface="Arial"/>
              <a:sym typeface="Arial"/>
            </a:endParaRPr>
          </a:p>
        </p:txBody>
      </p:sp>
      <p:sp>
        <p:nvSpPr>
          <p:cNvPr id="353" name="Google Shape;353;p13"/>
          <p:cNvSpPr/>
          <p:nvPr/>
        </p:nvSpPr>
        <p:spPr>
          <a:xfrm>
            <a:off x="731520" y="3483864"/>
            <a:ext cx="320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400"/>
              <a:buFont typeface="Arial"/>
              <a:buNone/>
            </a:pPr>
            <a:r>
              <a:rPr lang="en-US">
                <a:solidFill>
                  <a:srgbClr val="1F4E78"/>
                </a:solidFill>
              </a:rPr>
              <a:t>☑</a:t>
            </a:r>
            <a:r>
              <a:rPr lang="en-US" sz="1100">
                <a:solidFill>
                  <a:schemeClr val="dk1"/>
                </a:solidFill>
              </a:rPr>
              <a:t> </a:t>
            </a:r>
            <a:endParaRPr sz="1400">
              <a:solidFill>
                <a:schemeClr val="dk1"/>
              </a:solidFill>
              <a:latin typeface="Arial"/>
              <a:ea typeface="Arial"/>
              <a:cs typeface="Arial"/>
              <a:sym typeface="Arial"/>
            </a:endParaRPr>
          </a:p>
        </p:txBody>
      </p:sp>
      <p:sp>
        <p:nvSpPr>
          <p:cNvPr id="354" name="Google Shape;354;p13"/>
          <p:cNvSpPr/>
          <p:nvPr/>
        </p:nvSpPr>
        <p:spPr>
          <a:xfrm>
            <a:off x="1097280" y="3483864"/>
            <a:ext cx="4800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364A"/>
              </a:buClr>
              <a:buSzPts val="970"/>
              <a:buFont typeface="Arial"/>
              <a:buNone/>
            </a:pPr>
            <a:r>
              <a:rPr lang="en-US" sz="970">
                <a:solidFill>
                  <a:srgbClr val="25364A"/>
                </a:solidFill>
                <a:latin typeface="Arial"/>
                <a:ea typeface="Arial"/>
                <a:cs typeface="Arial"/>
                <a:sym typeface="Arial"/>
              </a:rPr>
              <a:t>Use Case / Level / Deliverables không tự tạo</a:t>
            </a:r>
            <a:endParaRPr sz="970">
              <a:solidFill>
                <a:schemeClr val="dk1"/>
              </a:solidFill>
              <a:latin typeface="Arial"/>
              <a:ea typeface="Arial"/>
              <a:cs typeface="Arial"/>
              <a:sym typeface="Arial"/>
            </a:endParaRPr>
          </a:p>
        </p:txBody>
      </p:sp>
      <p:sp>
        <p:nvSpPr>
          <p:cNvPr id="355" name="Google Shape;355;p13"/>
          <p:cNvSpPr/>
          <p:nvPr/>
        </p:nvSpPr>
        <p:spPr>
          <a:xfrm>
            <a:off x="731520" y="4142232"/>
            <a:ext cx="320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400"/>
              <a:buFont typeface="Arial"/>
              <a:buNone/>
            </a:pPr>
            <a:r>
              <a:rPr lang="en-US">
                <a:solidFill>
                  <a:srgbClr val="1F4E78"/>
                </a:solidFill>
              </a:rPr>
              <a:t>☑</a:t>
            </a:r>
            <a:r>
              <a:rPr lang="en-US" sz="1100">
                <a:solidFill>
                  <a:schemeClr val="dk1"/>
                </a:solidFill>
              </a:rPr>
              <a:t> </a:t>
            </a:r>
            <a:endParaRPr sz="1400">
              <a:solidFill>
                <a:schemeClr val="dk1"/>
              </a:solidFill>
              <a:latin typeface="Arial"/>
              <a:ea typeface="Arial"/>
              <a:cs typeface="Arial"/>
              <a:sym typeface="Arial"/>
            </a:endParaRPr>
          </a:p>
        </p:txBody>
      </p:sp>
      <p:sp>
        <p:nvSpPr>
          <p:cNvPr id="356" name="Google Shape;356;p13"/>
          <p:cNvSpPr/>
          <p:nvPr/>
        </p:nvSpPr>
        <p:spPr>
          <a:xfrm>
            <a:off x="1097280" y="4142232"/>
            <a:ext cx="4800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364A"/>
              </a:buClr>
              <a:buSzPts val="970"/>
              <a:buFont typeface="Arial"/>
              <a:buNone/>
            </a:pPr>
            <a:r>
              <a:rPr lang="en-US" sz="970">
                <a:solidFill>
                  <a:srgbClr val="25364A"/>
                </a:solidFill>
                <a:latin typeface="Arial"/>
                <a:ea typeface="Arial"/>
                <a:cs typeface="Arial"/>
                <a:sym typeface="Arial"/>
              </a:rPr>
              <a:t>Không đưa giá chi tiết vào Sales Kit</a:t>
            </a:r>
            <a:endParaRPr sz="970">
              <a:solidFill>
                <a:schemeClr val="dk1"/>
              </a:solidFill>
              <a:latin typeface="Arial"/>
              <a:ea typeface="Arial"/>
              <a:cs typeface="Arial"/>
              <a:sym typeface="Arial"/>
            </a:endParaRPr>
          </a:p>
        </p:txBody>
      </p:sp>
      <p:sp>
        <p:nvSpPr>
          <p:cNvPr id="357" name="Google Shape;357;p13"/>
          <p:cNvSpPr/>
          <p:nvPr/>
        </p:nvSpPr>
        <p:spPr>
          <a:xfrm>
            <a:off x="731520" y="4800600"/>
            <a:ext cx="320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400"/>
              <a:buFont typeface="Arial"/>
              <a:buNone/>
            </a:pPr>
            <a:r>
              <a:rPr lang="en-US">
                <a:solidFill>
                  <a:srgbClr val="1F4E78"/>
                </a:solidFill>
              </a:rPr>
              <a:t>☑</a:t>
            </a:r>
            <a:r>
              <a:rPr lang="en-US" sz="1100">
                <a:solidFill>
                  <a:schemeClr val="dk1"/>
                </a:solidFill>
              </a:rPr>
              <a:t> </a:t>
            </a:r>
            <a:endParaRPr sz="1400">
              <a:solidFill>
                <a:schemeClr val="dk1"/>
              </a:solidFill>
              <a:latin typeface="Arial"/>
              <a:ea typeface="Arial"/>
              <a:cs typeface="Arial"/>
              <a:sym typeface="Arial"/>
            </a:endParaRPr>
          </a:p>
        </p:txBody>
      </p:sp>
      <p:sp>
        <p:nvSpPr>
          <p:cNvPr id="358" name="Google Shape;358;p13"/>
          <p:cNvSpPr/>
          <p:nvPr/>
        </p:nvSpPr>
        <p:spPr>
          <a:xfrm>
            <a:off x="1097280" y="4800600"/>
            <a:ext cx="4800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364A"/>
              </a:buClr>
              <a:buSzPts val="970"/>
              <a:buFont typeface="Arial"/>
              <a:buNone/>
            </a:pPr>
            <a:r>
              <a:rPr lang="en-US" sz="970">
                <a:solidFill>
                  <a:srgbClr val="25364A"/>
                </a:solidFill>
                <a:latin typeface="Arial"/>
                <a:ea typeface="Arial"/>
                <a:cs typeface="Arial"/>
                <a:sym typeface="Arial"/>
              </a:rPr>
              <a:t>Positioning / Core Competency có nguồn</a:t>
            </a:r>
            <a:endParaRPr sz="970">
              <a:solidFill>
                <a:schemeClr val="dk1"/>
              </a:solidFill>
              <a:latin typeface="Arial"/>
              <a:ea typeface="Arial"/>
              <a:cs typeface="Arial"/>
              <a:sym typeface="Arial"/>
            </a:endParaRPr>
          </a:p>
        </p:txBody>
      </p:sp>
      <p:sp>
        <p:nvSpPr>
          <p:cNvPr id="359" name="Google Shape;359;p13"/>
          <p:cNvSpPr/>
          <p:nvPr/>
        </p:nvSpPr>
        <p:spPr>
          <a:xfrm>
            <a:off x="6263640" y="1508760"/>
            <a:ext cx="320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400"/>
              <a:buFont typeface="Arial"/>
              <a:buNone/>
            </a:pPr>
            <a:r>
              <a:rPr lang="en-US">
                <a:solidFill>
                  <a:srgbClr val="1F4E78"/>
                </a:solidFill>
              </a:rPr>
              <a:t>☑</a:t>
            </a:r>
            <a:r>
              <a:rPr lang="en-US" sz="1100">
                <a:solidFill>
                  <a:schemeClr val="dk1"/>
                </a:solidFill>
              </a:rPr>
              <a:t> </a:t>
            </a:r>
            <a:endParaRPr sz="1400">
              <a:solidFill>
                <a:schemeClr val="dk1"/>
              </a:solidFill>
              <a:latin typeface="Arial"/>
              <a:ea typeface="Arial"/>
              <a:cs typeface="Arial"/>
              <a:sym typeface="Arial"/>
            </a:endParaRPr>
          </a:p>
        </p:txBody>
      </p:sp>
      <p:sp>
        <p:nvSpPr>
          <p:cNvPr id="360" name="Google Shape;360;p13"/>
          <p:cNvSpPr/>
          <p:nvPr/>
        </p:nvSpPr>
        <p:spPr>
          <a:xfrm>
            <a:off x="6629400" y="1508760"/>
            <a:ext cx="4800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364A"/>
              </a:buClr>
              <a:buSzPts val="970"/>
              <a:buFont typeface="Arial"/>
              <a:buNone/>
            </a:pPr>
            <a:r>
              <a:rPr lang="en-US" sz="970">
                <a:solidFill>
                  <a:srgbClr val="25364A"/>
                </a:solidFill>
                <a:latin typeface="Arial"/>
                <a:ea typeface="Arial"/>
                <a:cs typeface="Arial"/>
                <a:sym typeface="Arial"/>
              </a:rPr>
              <a:t>DMU / Buying Journey chưa rõ được đánh dấu xác minh</a:t>
            </a:r>
            <a:endParaRPr sz="970">
              <a:solidFill>
                <a:schemeClr val="dk1"/>
              </a:solidFill>
              <a:latin typeface="Arial"/>
              <a:ea typeface="Arial"/>
              <a:cs typeface="Arial"/>
              <a:sym typeface="Arial"/>
            </a:endParaRPr>
          </a:p>
        </p:txBody>
      </p:sp>
      <p:sp>
        <p:nvSpPr>
          <p:cNvPr id="361" name="Google Shape;361;p13"/>
          <p:cNvSpPr/>
          <p:nvPr/>
        </p:nvSpPr>
        <p:spPr>
          <a:xfrm>
            <a:off x="6263640" y="2167128"/>
            <a:ext cx="32004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solidFill>
                  <a:srgbClr val="1F4E78"/>
                </a:solidFill>
              </a:rPr>
              <a:t>☑</a:t>
            </a:r>
            <a:r>
              <a:rPr lang="en-US" sz="1100">
                <a:solidFill>
                  <a:schemeClr val="dk1"/>
                </a:solidFill>
              </a:rPr>
              <a:t> </a:t>
            </a:r>
            <a:endParaRPr/>
          </a:p>
        </p:txBody>
      </p:sp>
      <p:sp>
        <p:nvSpPr>
          <p:cNvPr id="362" name="Google Shape;362;p13"/>
          <p:cNvSpPr/>
          <p:nvPr/>
        </p:nvSpPr>
        <p:spPr>
          <a:xfrm>
            <a:off x="6629400" y="2167128"/>
            <a:ext cx="4800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364A"/>
              </a:buClr>
              <a:buSzPts val="970"/>
              <a:buFont typeface="Arial"/>
              <a:buNone/>
            </a:pPr>
            <a:r>
              <a:rPr lang="en-US" sz="970">
                <a:solidFill>
                  <a:srgbClr val="25364A"/>
                </a:solidFill>
                <a:latin typeface="Arial"/>
                <a:ea typeface="Arial"/>
                <a:cs typeface="Arial"/>
                <a:sym typeface="Arial"/>
              </a:rPr>
              <a:t>FAQ không tự bịa</a:t>
            </a:r>
            <a:endParaRPr sz="970">
              <a:solidFill>
                <a:schemeClr val="dk1"/>
              </a:solidFill>
              <a:latin typeface="Arial"/>
              <a:ea typeface="Arial"/>
              <a:cs typeface="Arial"/>
              <a:sym typeface="Arial"/>
            </a:endParaRPr>
          </a:p>
        </p:txBody>
      </p:sp>
      <p:sp>
        <p:nvSpPr>
          <p:cNvPr id="363" name="Google Shape;363;p13"/>
          <p:cNvSpPr/>
          <p:nvPr/>
        </p:nvSpPr>
        <p:spPr>
          <a:xfrm>
            <a:off x="6263640" y="2825496"/>
            <a:ext cx="320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400"/>
              <a:buFont typeface="Arial"/>
              <a:buNone/>
            </a:pPr>
            <a:r>
              <a:rPr lang="en-US">
                <a:solidFill>
                  <a:srgbClr val="1F4E78"/>
                </a:solidFill>
              </a:rPr>
              <a:t>☑</a:t>
            </a:r>
            <a:r>
              <a:rPr lang="en-US" sz="1100">
                <a:solidFill>
                  <a:schemeClr val="dk1"/>
                </a:solidFill>
              </a:rPr>
              <a:t> </a:t>
            </a:r>
            <a:endParaRPr sz="1400">
              <a:solidFill>
                <a:schemeClr val="dk1"/>
              </a:solidFill>
              <a:latin typeface="Arial"/>
              <a:ea typeface="Arial"/>
              <a:cs typeface="Arial"/>
              <a:sym typeface="Arial"/>
            </a:endParaRPr>
          </a:p>
        </p:txBody>
      </p:sp>
      <p:sp>
        <p:nvSpPr>
          <p:cNvPr id="364" name="Google Shape;364;p13"/>
          <p:cNvSpPr/>
          <p:nvPr/>
        </p:nvSpPr>
        <p:spPr>
          <a:xfrm>
            <a:off x="6629400" y="2825496"/>
            <a:ext cx="4800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364A"/>
              </a:buClr>
              <a:buSzPts val="970"/>
              <a:buFont typeface="Arial"/>
              <a:buNone/>
            </a:pPr>
            <a:r>
              <a:rPr lang="en-US" sz="970">
                <a:solidFill>
                  <a:srgbClr val="25364A"/>
                </a:solidFill>
                <a:latin typeface="Arial"/>
                <a:ea typeface="Arial"/>
                <a:cs typeface="Arial"/>
                <a:sym typeface="Arial"/>
              </a:rPr>
              <a:t>Không có claim định lượng chưa duyệt</a:t>
            </a:r>
            <a:endParaRPr sz="970">
              <a:solidFill>
                <a:schemeClr val="dk1"/>
              </a:solidFill>
              <a:latin typeface="Arial"/>
              <a:ea typeface="Arial"/>
              <a:cs typeface="Arial"/>
              <a:sym typeface="Arial"/>
            </a:endParaRPr>
          </a:p>
        </p:txBody>
      </p:sp>
      <p:sp>
        <p:nvSpPr>
          <p:cNvPr id="365" name="Google Shape;365;p13"/>
          <p:cNvSpPr/>
          <p:nvPr/>
        </p:nvSpPr>
        <p:spPr>
          <a:xfrm>
            <a:off x="6263640" y="3483864"/>
            <a:ext cx="320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400"/>
              <a:buFont typeface="Arial"/>
              <a:buNone/>
            </a:pPr>
            <a:r>
              <a:rPr lang="en-US">
                <a:solidFill>
                  <a:srgbClr val="1F4E78"/>
                </a:solidFill>
              </a:rPr>
              <a:t>☑</a:t>
            </a:r>
            <a:r>
              <a:rPr lang="en-US" sz="1100">
                <a:solidFill>
                  <a:schemeClr val="dk1"/>
                </a:solidFill>
              </a:rPr>
              <a:t> </a:t>
            </a:r>
            <a:endParaRPr sz="1400">
              <a:solidFill>
                <a:schemeClr val="dk1"/>
              </a:solidFill>
              <a:latin typeface="Arial"/>
              <a:ea typeface="Arial"/>
              <a:cs typeface="Arial"/>
              <a:sym typeface="Arial"/>
            </a:endParaRPr>
          </a:p>
        </p:txBody>
      </p:sp>
      <p:sp>
        <p:nvSpPr>
          <p:cNvPr id="366" name="Google Shape;366;p13"/>
          <p:cNvSpPr/>
          <p:nvPr/>
        </p:nvSpPr>
        <p:spPr>
          <a:xfrm>
            <a:off x="6629400" y="3483864"/>
            <a:ext cx="4800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364A"/>
              </a:buClr>
              <a:buSzPts val="970"/>
              <a:buFont typeface="Arial"/>
              <a:buNone/>
            </a:pPr>
            <a:r>
              <a:rPr lang="en-US" sz="970">
                <a:solidFill>
                  <a:srgbClr val="25364A"/>
                </a:solidFill>
                <a:latin typeface="Arial"/>
                <a:ea typeface="Arial"/>
                <a:cs typeface="Arial"/>
                <a:sym typeface="Arial"/>
              </a:rPr>
              <a:t>Có Source Traceability</a:t>
            </a:r>
            <a:endParaRPr sz="970">
              <a:solidFill>
                <a:schemeClr val="dk1"/>
              </a:solidFill>
              <a:latin typeface="Arial"/>
              <a:ea typeface="Arial"/>
              <a:cs typeface="Arial"/>
              <a:sym typeface="Arial"/>
            </a:endParaRPr>
          </a:p>
        </p:txBody>
      </p:sp>
      <p:sp>
        <p:nvSpPr>
          <p:cNvPr id="367" name="Google Shape;367;p13"/>
          <p:cNvSpPr/>
          <p:nvPr/>
        </p:nvSpPr>
        <p:spPr>
          <a:xfrm>
            <a:off x="6263640" y="4142232"/>
            <a:ext cx="320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8"/>
              </a:buClr>
              <a:buSzPts val="1400"/>
              <a:buFont typeface="Arial"/>
              <a:buNone/>
            </a:pPr>
            <a:r>
              <a:rPr lang="en-US">
                <a:solidFill>
                  <a:srgbClr val="1F4E78"/>
                </a:solidFill>
              </a:rPr>
              <a:t>☑</a:t>
            </a:r>
            <a:r>
              <a:rPr lang="en-US" sz="1100">
                <a:solidFill>
                  <a:schemeClr val="dk1"/>
                </a:solidFill>
              </a:rPr>
              <a:t> </a:t>
            </a:r>
            <a:endParaRPr sz="1400">
              <a:solidFill>
                <a:schemeClr val="dk1"/>
              </a:solidFill>
              <a:latin typeface="Arial"/>
              <a:ea typeface="Arial"/>
              <a:cs typeface="Arial"/>
              <a:sym typeface="Arial"/>
            </a:endParaRPr>
          </a:p>
        </p:txBody>
      </p:sp>
      <p:sp>
        <p:nvSpPr>
          <p:cNvPr id="368" name="Google Shape;368;p13"/>
          <p:cNvSpPr/>
          <p:nvPr/>
        </p:nvSpPr>
        <p:spPr>
          <a:xfrm>
            <a:off x="6629400" y="4142232"/>
            <a:ext cx="4800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364A"/>
              </a:buClr>
              <a:buSzPts val="970"/>
              <a:buFont typeface="Arial"/>
              <a:buNone/>
            </a:pPr>
            <a:r>
              <a:rPr lang="en-US" sz="970">
                <a:solidFill>
                  <a:srgbClr val="25364A"/>
                </a:solidFill>
                <a:latin typeface="Arial"/>
                <a:ea typeface="Arial"/>
                <a:cs typeface="Arial"/>
                <a:sym typeface="Arial"/>
              </a:rPr>
              <a:t>Slide ngắn gọn, dễ đọc, không copy toàn bộ KB/SOP</a:t>
            </a:r>
            <a:endParaRPr sz="970">
              <a:solidFill>
                <a:schemeClr val="dk1"/>
              </a:solidFill>
              <a:latin typeface="Arial"/>
              <a:ea typeface="Arial"/>
              <a:cs typeface="Arial"/>
              <a:sym typeface="Arial"/>
            </a:endParaRPr>
          </a:p>
        </p:txBody>
      </p:sp>
      <p:sp>
        <p:nvSpPr>
          <p:cNvPr id="369" name="Google Shape;369;p13"/>
          <p:cNvSpPr/>
          <p:nvPr/>
        </p:nvSpPr>
        <p:spPr>
          <a:xfrm>
            <a:off x="594360" y="5989320"/>
            <a:ext cx="10972800" cy="347472"/>
          </a:xfrm>
          <a:prstGeom prst="rect">
            <a:avLst/>
          </a:prstGeom>
          <a:solidFill>
            <a:srgbClr val="FFF4D6"/>
          </a:solidFill>
          <a:ln cap="flat" cmpd="sng" w="9525">
            <a:solidFill>
              <a:srgbClr val="E8D18A"/>
            </a:solidFill>
            <a:prstDash val="solid"/>
            <a:round/>
            <a:headEnd len="sm" w="sm" type="none"/>
            <a:tailEnd len="sm" w="sm" type="none"/>
          </a:ln>
        </p:spPr>
        <p:txBody>
          <a:bodyPr anchorCtr="0" anchor="ctr" bIns="1000" lIns="1000" spcFirstLastPara="1" rIns="1000" wrap="square" tIns="1000">
            <a:noAutofit/>
          </a:bodyPr>
          <a:lstStyle/>
          <a:p>
            <a:pPr indent="0" lvl="0" marL="0" marR="0" rtl="0" algn="l">
              <a:spcBef>
                <a:spcPts val="0"/>
              </a:spcBef>
              <a:spcAft>
                <a:spcPts val="0"/>
              </a:spcAft>
              <a:buClr>
                <a:srgbClr val="7F6000"/>
              </a:buClr>
              <a:buSzPts val="850"/>
              <a:buFont typeface="Arial"/>
              <a:buNone/>
            </a:pPr>
            <a:r>
              <a:rPr i="1" lang="en-US" sz="850">
                <a:solidFill>
                  <a:srgbClr val="7F6000"/>
                </a:solidFill>
                <a:latin typeface="Arial"/>
                <a:ea typeface="Arial"/>
                <a:cs typeface="Arial"/>
                <a:sym typeface="Arial"/>
              </a:rPr>
              <a:t>QUY TẮC CHO SINH VIÊN: Nếu chưa đạt checklist, không nộp.</a:t>
            </a:r>
            <a:endParaRPr sz="850">
              <a:solidFill>
                <a:schemeClr val="dk1"/>
              </a:solidFill>
              <a:latin typeface="Arial"/>
              <a:ea typeface="Arial"/>
              <a:cs typeface="Arial"/>
              <a:sym typeface="Arial"/>
            </a:endParaRPr>
          </a:p>
        </p:txBody>
      </p:sp>
      <p:sp>
        <p:nvSpPr>
          <p:cNvPr id="370" name="Google Shape;370;p13"/>
          <p:cNvSpPr txBox="1"/>
          <p:nvPr>
            <p:ph idx="4294967295" type="sldNum"/>
          </p:nvPr>
        </p:nvSpPr>
        <p:spPr>
          <a:xfrm>
            <a:off x="11384280" y="6583680"/>
            <a:ext cx="274320" cy="182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800">
                <a:solidFill>
                  <a:srgbClr val="7B8794"/>
                </a:solidFill>
                <a:latin typeface="Arial"/>
                <a:ea typeface="Arial"/>
                <a:cs typeface="Arial"/>
                <a:sym typeface="Arial"/>
              </a:rPr>
              <a:t>‹#›</a:t>
            </a:fld>
            <a:endParaRPr sz="800">
              <a:solidFill>
                <a:srgbClr val="7B8794"/>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2026-08-19T11:14:15Z</dcterms:created>
  <dc:creator>GASCOLAE Platform</dc:creator>
</cp:coreProperties>
</file>